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558e8b3cda4170" /><Relationship Type="http://schemas.openxmlformats.org/officeDocument/2006/relationships/extended-properties" Target="/docProps/app.xml" Id="Ra22ebd50579d4338" /><Relationship Type="http://schemas.openxmlformats.org/officeDocument/2006/relationships/officeDocument" Target="/ppt/presentation.xml" Id="Rb41d8f4077794b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93d8f8b44445a8"/>
  </p:sldMasterIdLst>
  <p:notesMasterIdLst>
    <p:notesMasterId xmlns:r="http://schemas.openxmlformats.org/officeDocument/2006/relationships" r:id="R76707f1781954609"/>
  </p:notesMasterIdLst>
  <p:sldIdLst>
    <p:sldId xmlns:r="http://schemas.openxmlformats.org/officeDocument/2006/relationships" id="256" r:id="R6a3eb4e6f8e942a9"/>
    <p:sldId xmlns:r="http://schemas.openxmlformats.org/officeDocument/2006/relationships" id="257" r:id="R994932b839654e30"/>
    <p:sldId xmlns:r="http://schemas.openxmlformats.org/officeDocument/2006/relationships" id="258" r:id="R9fd3545b291f4ff7"/>
    <p:sldId xmlns:r="http://schemas.openxmlformats.org/officeDocument/2006/relationships" id="259" r:id="R022301f4e1fd46b3"/>
    <p:sldId xmlns:r="http://schemas.openxmlformats.org/officeDocument/2006/relationships" id="260" r:id="Rcf7c5af8a99f4701"/>
    <p:sldId xmlns:r="http://schemas.openxmlformats.org/officeDocument/2006/relationships" id="261" r:id="R7ee690411e5f48ef"/>
    <p:sldId xmlns:r="http://schemas.openxmlformats.org/officeDocument/2006/relationships" id="262" r:id="Re4ce1499fde24e3a"/>
    <p:sldId xmlns:r="http://schemas.openxmlformats.org/officeDocument/2006/relationships" id="263" r:id="Rdf15b7e88ff249e9"/>
    <p:sldId xmlns:r="http://schemas.openxmlformats.org/officeDocument/2006/relationships" id="264" r:id="R8d91a62b51734874"/>
    <p:sldId xmlns:r="http://schemas.openxmlformats.org/officeDocument/2006/relationships" id="265" r:id="R9952232ee40945fa"/>
    <p:sldId xmlns:r="http://schemas.openxmlformats.org/officeDocument/2006/relationships" id="266" r:id="R8e87d7d9058242f1"/>
    <p:sldId xmlns:r="http://schemas.openxmlformats.org/officeDocument/2006/relationships" id="267" r:id="R375bbd52ae0a496c"/>
    <p:sldId xmlns:r="http://schemas.openxmlformats.org/officeDocument/2006/relationships" id="268" r:id="R87d19595c28f4b33"/>
    <p:sldId xmlns:r="http://schemas.openxmlformats.org/officeDocument/2006/relationships" id="269" r:id="R33d58e70e1514fc7"/>
    <p:sldId xmlns:r="http://schemas.openxmlformats.org/officeDocument/2006/relationships" id="270" r:id="R6e552ebd4c144f8b"/>
    <p:sldId xmlns:r="http://schemas.openxmlformats.org/officeDocument/2006/relationships" id="271" r:id="Rceaa32cd368140df"/>
    <p:sldId xmlns:r="http://schemas.openxmlformats.org/officeDocument/2006/relationships" id="272" r:id="R8bfb7645f63546f2"/>
    <p:sldId xmlns:r="http://schemas.openxmlformats.org/officeDocument/2006/relationships" id="273" r:id="Rcb15bc1c192c4187"/>
    <p:sldId xmlns:r="http://schemas.openxmlformats.org/officeDocument/2006/relationships" id="274" r:id="R1f95a9f54e2540d8"/>
    <p:sldId xmlns:r="http://schemas.openxmlformats.org/officeDocument/2006/relationships" id="275" r:id="R138b0a78530d4d6c"/>
    <p:sldId xmlns:r="http://schemas.openxmlformats.org/officeDocument/2006/relationships" id="276" r:id="R4514c2a9e90d4866"/>
    <p:sldId xmlns:r="http://schemas.openxmlformats.org/officeDocument/2006/relationships" id="277" r:id="Rea92ac3360244021"/>
    <p:sldId xmlns:r="http://schemas.openxmlformats.org/officeDocument/2006/relationships" id="278" r:id="R432402edf4044e20"/>
    <p:sldId xmlns:r="http://schemas.openxmlformats.org/officeDocument/2006/relationships" id="279" r:id="R484f88097f8e489b"/>
    <p:sldId xmlns:r="http://schemas.openxmlformats.org/officeDocument/2006/relationships" id="280" r:id="Re2e8dbef67ac427c"/>
    <p:sldId xmlns:r="http://schemas.openxmlformats.org/officeDocument/2006/relationships" id="281" r:id="R7d18c04e6a4743e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b81ff2f04c413b" /><Relationship Type="http://schemas.openxmlformats.org/officeDocument/2006/relationships/slideMaster" Target="/ppt/slideMasters/slideMaster1.xml" Id="Rbc93d8f8b44445a8" /><Relationship Type="http://schemas.openxmlformats.org/officeDocument/2006/relationships/notesMaster" Target="/ppt/notesMasters/notesMaster1.xml" Id="R76707f1781954609" /><Relationship Type="http://schemas.openxmlformats.org/officeDocument/2006/relationships/presProps" Target="/ppt/presProps.xml" Id="R2b4400d733df45be" /><Relationship Type="http://schemas.openxmlformats.org/officeDocument/2006/relationships/viewProps" Target="/ppt/viewProps.xml" Id="R9da49f62c2af400c" /><Relationship Type="http://schemas.openxmlformats.org/officeDocument/2006/relationships/tableStyles" Target="/ppt/tableStyles.xml" Id="Rd9efe73a2a4d47f7" /><Relationship Type="http://schemas.openxmlformats.org/officeDocument/2006/relationships/slide" Target="/ppt/slides/slide1.xml" Id="R6a3eb4e6f8e942a9" /><Relationship Type="http://schemas.openxmlformats.org/officeDocument/2006/relationships/slide" Target="/ppt/slides/slide2.xml" Id="R994932b839654e30" /><Relationship Type="http://schemas.openxmlformats.org/officeDocument/2006/relationships/slide" Target="/ppt/slides/slide3.xml" Id="R9fd3545b291f4ff7" /><Relationship Type="http://schemas.openxmlformats.org/officeDocument/2006/relationships/slide" Target="/ppt/slides/slide4.xml" Id="R022301f4e1fd46b3" /><Relationship Type="http://schemas.openxmlformats.org/officeDocument/2006/relationships/slide" Target="/ppt/slides/slide5.xml" Id="Rcf7c5af8a99f4701" /><Relationship Type="http://schemas.openxmlformats.org/officeDocument/2006/relationships/slide" Target="/ppt/slides/slide6.xml" Id="R7ee690411e5f48ef" /><Relationship Type="http://schemas.openxmlformats.org/officeDocument/2006/relationships/slide" Target="/ppt/slides/slide7.xml" Id="Re4ce1499fde24e3a" /><Relationship Type="http://schemas.openxmlformats.org/officeDocument/2006/relationships/slide" Target="/ppt/slides/slide8.xml" Id="Rdf15b7e88ff249e9" /><Relationship Type="http://schemas.openxmlformats.org/officeDocument/2006/relationships/slide" Target="/ppt/slides/slide9.xml" Id="R8d91a62b51734874" /><Relationship Type="http://schemas.openxmlformats.org/officeDocument/2006/relationships/slide" Target="/ppt/slides/slide10.xml" Id="R9952232ee40945fa" /><Relationship Type="http://schemas.openxmlformats.org/officeDocument/2006/relationships/slide" Target="/ppt/slides/slide11.xml" Id="R8e87d7d9058242f1" /><Relationship Type="http://schemas.openxmlformats.org/officeDocument/2006/relationships/slide" Target="/ppt/slides/slide12.xml" Id="R375bbd52ae0a496c" /><Relationship Type="http://schemas.openxmlformats.org/officeDocument/2006/relationships/slide" Target="/ppt/slides/slide13.xml" Id="R87d19595c28f4b33" /><Relationship Type="http://schemas.openxmlformats.org/officeDocument/2006/relationships/slide" Target="/ppt/slides/slide14.xml" Id="R33d58e70e1514fc7" /><Relationship Type="http://schemas.openxmlformats.org/officeDocument/2006/relationships/slide" Target="/ppt/slides/slide15.xml" Id="R6e552ebd4c144f8b" /><Relationship Type="http://schemas.openxmlformats.org/officeDocument/2006/relationships/slide" Target="/ppt/slides/slide16.xml" Id="Rceaa32cd368140df" /><Relationship Type="http://schemas.openxmlformats.org/officeDocument/2006/relationships/slide" Target="/ppt/slides/slide17.xml" Id="R8bfb7645f63546f2" /><Relationship Type="http://schemas.openxmlformats.org/officeDocument/2006/relationships/slide" Target="/ppt/slides/slide18.xml" Id="Rcb15bc1c192c4187" /><Relationship Type="http://schemas.openxmlformats.org/officeDocument/2006/relationships/slide" Target="/ppt/slides/slide19.xml" Id="R1f95a9f54e2540d8" /><Relationship Type="http://schemas.openxmlformats.org/officeDocument/2006/relationships/slide" Target="/ppt/slides/slide20.xml" Id="R138b0a78530d4d6c" /><Relationship Type="http://schemas.openxmlformats.org/officeDocument/2006/relationships/slide" Target="/ppt/slides/slide21.xml" Id="R4514c2a9e90d4866" /><Relationship Type="http://schemas.openxmlformats.org/officeDocument/2006/relationships/slide" Target="/ppt/slides/slide22.xml" Id="Rea92ac3360244021" /><Relationship Type="http://schemas.openxmlformats.org/officeDocument/2006/relationships/slide" Target="/ppt/slides/slide23.xml" Id="R432402edf4044e20" /><Relationship Type="http://schemas.openxmlformats.org/officeDocument/2006/relationships/slide" Target="/ppt/slides/slide24.xml" Id="R484f88097f8e489b" /><Relationship Type="http://schemas.openxmlformats.org/officeDocument/2006/relationships/slide" Target="/ppt/slides/slide25.xml" Id="Re2e8dbef67ac427c" /><Relationship Type="http://schemas.openxmlformats.org/officeDocument/2006/relationships/slide" Target="/ppt/slides/slide26.xml" Id="R7d18c04e6a4743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4dabb5cebd4b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fba0181f0c4824" /><Relationship Type="http://schemas.openxmlformats.org/officeDocument/2006/relationships/notesMaster" Target="/ppt/notesMasters/notesMaster1.xml" Id="R12aa9a7322a242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c427f9f1e54472" /><Relationship Type="http://schemas.openxmlformats.org/officeDocument/2006/relationships/notesMaster" Target="/ppt/notesMasters/notesMaster1.xml" Id="R816cce013c5e42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0a219780b543d8" /><Relationship Type="http://schemas.openxmlformats.org/officeDocument/2006/relationships/notesMaster" Target="/ppt/notesMasters/notesMaster1.xml" Id="Re8fa113151c943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5c8ed57c2d4a2f" /><Relationship Type="http://schemas.openxmlformats.org/officeDocument/2006/relationships/notesMaster" Target="/ppt/notesMasters/notesMaster1.xml" Id="R2ceab6538ea540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b9d8f7b8ca4689" /><Relationship Type="http://schemas.openxmlformats.org/officeDocument/2006/relationships/notesMaster" Target="/ppt/notesMasters/notesMaster1.xml" Id="R5a1075a1b5f941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8d4e08b4484f9e" /><Relationship Type="http://schemas.openxmlformats.org/officeDocument/2006/relationships/notesMaster" Target="/ppt/notesMasters/notesMaster1.xml" Id="R17156a3d15c640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6971edb7d84be2" /><Relationship Type="http://schemas.openxmlformats.org/officeDocument/2006/relationships/notesMaster" Target="/ppt/notesMasters/notesMaster1.xml" Id="R503103844c364e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c49829ef72492c" /><Relationship Type="http://schemas.openxmlformats.org/officeDocument/2006/relationships/notesMaster" Target="/ppt/notesMasters/notesMaster1.xml" Id="R96bc72f15c044b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d1322475194d46" /><Relationship Type="http://schemas.openxmlformats.org/officeDocument/2006/relationships/notesMaster" Target="/ppt/notesMasters/notesMaster1.xml" Id="R586ecff2367241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5a9de2c3a04083" /><Relationship Type="http://schemas.openxmlformats.org/officeDocument/2006/relationships/notesMaster" Target="/ppt/notesMasters/notesMaster1.xml" Id="Rf9c5ffff26ab4e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6b65702a1d4e04" /><Relationship Type="http://schemas.openxmlformats.org/officeDocument/2006/relationships/notesMaster" Target="/ppt/notesMasters/notesMaster1.xml" Id="R4881c9beb0834f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69cd40db954d36" /><Relationship Type="http://schemas.openxmlformats.org/officeDocument/2006/relationships/notesMaster" Target="/ppt/notesMasters/notesMaster1.xml" Id="R1abbfcc32d654f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a517427e1d48e6" /><Relationship Type="http://schemas.openxmlformats.org/officeDocument/2006/relationships/notesMaster" Target="/ppt/notesMasters/notesMaster1.xml" Id="R92a77b0eb16c4f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2c02454a3542de" /><Relationship Type="http://schemas.openxmlformats.org/officeDocument/2006/relationships/notesMaster" Target="/ppt/notesMasters/notesMaster1.xml" Id="R7ecaf87a319b44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d26bb2ab764dff" /><Relationship Type="http://schemas.openxmlformats.org/officeDocument/2006/relationships/notesMaster" Target="/ppt/notesMasters/notesMaster1.xml" Id="R33434bb6cca34e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2d64b6d467b4f97" /><Relationship Type="http://schemas.openxmlformats.org/officeDocument/2006/relationships/notesMaster" Target="/ppt/notesMasters/notesMaster1.xml" Id="R835ee9545f3745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8676a405c54006" /><Relationship Type="http://schemas.openxmlformats.org/officeDocument/2006/relationships/notesMaster" Target="/ppt/notesMasters/notesMaster1.xml" Id="R621b42c4459b4e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a5e1fa22734379" /><Relationship Type="http://schemas.openxmlformats.org/officeDocument/2006/relationships/notesMaster" Target="/ppt/notesMasters/notesMaster1.xml" Id="Rc20f25146c8d493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b10c9f50fe47c1" /><Relationship Type="http://schemas.openxmlformats.org/officeDocument/2006/relationships/notesMaster" Target="/ppt/notesMasters/notesMaster1.xml" Id="Rbb35cc3a36924c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a5ae9417a94fbc" /><Relationship Type="http://schemas.openxmlformats.org/officeDocument/2006/relationships/notesMaster" Target="/ppt/notesMasters/notesMaster1.xml" Id="R7bea97c5a820402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acf64cd61d24dae" /><Relationship Type="http://schemas.openxmlformats.org/officeDocument/2006/relationships/notesMaster" Target="/ppt/notesMasters/notesMaster1.xml" Id="R07308715527a4e9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207bdf867b54ad6" /><Relationship Type="http://schemas.openxmlformats.org/officeDocument/2006/relationships/notesMaster" Target="/ppt/notesMasters/notesMaster1.xml" Id="R1eb8140fe498461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bdf5b6fc9bb43a8" /><Relationship Type="http://schemas.openxmlformats.org/officeDocument/2006/relationships/notesMaster" Target="/ppt/notesMasters/notesMaster1.xml" Id="R5ce9121e9c304fe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aca1ec3fd274899" /><Relationship Type="http://schemas.openxmlformats.org/officeDocument/2006/relationships/notesMaster" Target="/ppt/notesMasters/notesMaster1.xml" Id="R4b3bb014a02b4f1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c3bf78a96d34000" /><Relationship Type="http://schemas.openxmlformats.org/officeDocument/2006/relationships/notesMaster" Target="/ppt/notesMasters/notesMaster1.xml" Id="Rd3152c8617c547f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8ab099da31d489f" /><Relationship Type="http://schemas.openxmlformats.org/officeDocument/2006/relationships/notesMaster" Target="/ppt/notesMasters/notesMaster1.xml" Id="R027cf641038f43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Cumprimentar o publico, confirmar audio e video, dar boas vindas antes de compartilhar a tela.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voce ja fez terapia, cursos ou praticas de autoconhecimento, entende muitos dos seus padroes e, mesmo assim, percebe que algumas respostas continuam se repetindo quando algo e ativado, esta aula foi pensada para voce. A pergunta de hoje nao e por que voce nao se esforcou o suficiente. E: o que acontece entre reconhecer um padrao e conseguir responder de outro modo quando a situacao realmente mobiliza voce.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a promessa e a linha complementar de beneficio imediato. Deixar claro que a aula fala com quem ja tem trajetoria de autoconhecimento.</a:t>
            </a:r>
            <a:endParaRPr/>
          </a:p>
          <a:p xmlns:a="http://schemas.openxmlformats.org/drawingml/2006/main">
            <a:r>
              <a:t>
A promessa é compreender a ponte entre reconhecer e responder de outro modo; não prometer uma solução instantânea.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respostas curtas no chat: sim, um numero ou uma palavra. Nao solicitar relatos intimos.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Repetir nao significa que todo o trabalho anterior falhou. As vezes significa que o conhecimento ainda nao esta suficientemente disponivel nas condicoes concretas em que o padrao aparece.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Percorrer o ciclo com um exemplo cotidiano: uma critica, uma mensagem nao respondida.</a:t>
            </a:r>
            <a:endParaRPr/>
          </a:p>
          <a:p xmlns:a="http://schemas.openxmlformats.org/drawingml/2006/main">
            <a:r>
              <a:t>
O ciclo pode reaparecer em novas situações. O marcador visual reforça retorno e aprendizagem, não perfeição.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consequencia mais dolorosa talvez nao seja apenas repetir. E comecar a duvidar de tudo o que voce ja aprendeu sobre si. Apresentar responsabilidade situada.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Historia composta. Ilustra a Traducao da Experiencia Humana: uma metafora torna visivel uma barreira psico-energetica que ja existia como angustia difusa, confirmada pelo corpo (relaxamento) e pela fala. Conecta com o Eu Basico e a funcao EIXO, que sente antes do intelecto nomear, e com o uso de simbolos e mapas como recursos de orientacao — a metafora da membrana e um mapa, nao uma explicacao literal. O fechamento com humildade epistemica liga-se ao principio de nao impor uma unica explicacao.</a:t>
            </a:r>
            <a:endParaRPr/>
          </a:p>
          <a:p xmlns:a="http://schemas.openxmlformats.org/drawingml/2006/main">
            <a:r>
              <a:t>
Apresentar como história composta e pedagógica. Não atribuir a aluno, paciente ou pessoa específica; não apresentar como prova real de resultado.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Voce pode saber o que esta acontecendo e, ainda assim, nao conseguir acessar esse saber no momento em que corpo, historia, contexto ou relacao mobilizam voce.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curso nao escolhe uma unica explicacao. Neurociencia, psicologia, corpo, tradicoes energeticas e espiritualidade iluminam a mesma experiencia sem se equivaler nem se anular — esse e o diferencial do percurso.</a:t>
            </a:r>
            <a:endParaRPr/>
          </a:p>
          <a:p xmlns:a="http://schemas.openxmlformats.org/drawingml/2006/main">
            <a:r>
              <a:t>
As linguagens entram em diálogo. Evitar tratá-las como equivalentes ou como explicação única.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fato de uma pessoa saber o que seria melhor fazer nao significa que essa capacidade esteja automaticamente disponivel em qualquer estado corporal, contexto ou relacao.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Uma oscilacao de acesso nao deve ser interpretada automaticamente como desaparecimento daquilo que a pessoa desenvolveu. O curso integra neurociencia (top-down e bottom-up) para explicar por que o corpo costuma abrir caminho antes da explicacao.</a:t>
            </a:r>
            <a:endParaRPr/>
          </a:p>
          <a:p xmlns:a="http://schemas.openxmlformats.org/drawingml/2006/main">
            <a:r>
              <a:t>
Explicar que capacidades podem ficar menos acessíveis sob certas condições; evitar linguagem determinista ou promessa fisiológica.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Uma experiencia intensa costuma comprimir varios elementos em uma unica sensacao de certeza. Traduzir e tornar os elementos distinguiveis.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diferenca nao esta no que se sente, mas de onde emerge. Hipervigilancia e amigdala e sistema simpatico reagindo a um eco do passado. Intuicao integra sinais corporais sutis sem inundar o corpo de cortisol. Um teste pratico: espere dez minutos — na intuicao a clareza permanece estavel, na hipervigilancia a ansiedade cresce.</a:t>
            </a:r>
            <a:endParaRPr/>
          </a:p>
          <a:p xmlns:a="http://schemas.openxmlformats.org/drawingml/2006/main">
            <a:r>
              <a:t>
Investigar intuição e hipervigilância no contexto. Não aplicar teste de 10 minutos, não diagnosticar e não afirmar uma origem automaticamente.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Convidar o participante a escolher uma situacao cotidiana de intensidade baixa ou moderada. Nao pedir detalhes intimos no chat. O recurso rapido (3 pontos de apoio) e uma tecnica de orientacao proprioceptiva: nomear apoios fisicos reais tira o foco do loop de pensamento e ajuda a regular o corpo antes de responder.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Nao ensinar aqui o percurso completo das 54 aulas. A Masterclass oferece a bussola; o curso desenvolve o caminho.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o conteudo lendo as quatro frases com pausa entre elas.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resultado nao foi nunca mais sentir inseguranca. Foi perceber a ativacao mais cedo, criar um intervalo, comunicar com menos acusacao.</a:t>
            </a:r>
            <a:endParaRPr/>
          </a:p>
          <a:p xmlns:a="http://schemas.openxmlformats.org/drawingml/2006/main">
            <a:r>
              <a:t>
A transformação é gradual e singular: mais acesso, diferenciação e escolha possíveis, não eliminação da experiência humana.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trecho nao esta aqui para provar que uma mensagem resolve a vida de alguem. Esta para mostrar uma mudanca especifica de linguagem.</a:t>
            </a:r>
            <a:endParaRPr/>
          </a:p>
          <a:p xmlns:a="http://schemas.openxmlformats.org/drawingml/2006/main">
            <a:r>
              <a:t>
Trecho ilustrativo composto. Não apresentar como mensagem real, resultado de aluno ou depoimento.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aula e a oferta sao educacionais e complementares. Nao substituem psicoterapia, acompanhamento medico ou pratica espiritual.</a:t>
            </a:r>
            <a:endParaRPr/>
          </a:p>
          <a:p xmlns:a="http://schemas.openxmlformats.org/drawingml/2006/main">
            <a:r>
              <a:t>
Reforçar que o percurso é educacional e não substitui psicoterapia, diagnóstico, atendimento clínico, graduação, especialização ou habilitação profissional.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a progressao sem ler os 54 titulos de aulas. Um modulo inicial, sete modulos centrais e um modulo final.</a:t>
            </a:r>
            <a:endParaRPr/>
          </a:p>
          <a:p xmlns:a="http://schemas.openxmlformats.org/drawingml/2006/main">
            <a:r>
              <a:t>
Módulo 0: três aulas introdutórias — boas-vindas e visão do percurso; organização da participação; acordos, limites e participação responsável.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Nunca listar apenas nomes. Conectar cada elemento a transformacao que ele ajuda a produzir.</a:t>
            </a:r>
            <a:endParaRPr/>
          </a:p>
          <a:p xmlns:a="http://schemas.openxmlformats.org/drawingml/2006/main">
            <a:r>
              <a:t>
Recursos oficiais: mapas visuais, fichas práticas, breves resumos, guia de palavras e conceitos em e-book e comunidade de continuidade. Não anunciar suporte individual, certificado ou encontros extras.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investimento para entrar no percurso completo e de R$997 a vista. A condicao de parcelamento deve ser conferida no checkout antes da transmissao.</a:t>
            </a:r>
            <a:endParaRPr/>
          </a:p>
          <a:p xmlns:a="http://schemas.openxmlformats.org/drawingml/2006/main">
            <a:r>
              <a:t>
Preço aprovado: R$ 997,00 à vista ou 12x de R$ 97,70. O parcelamento é configurável na Hotmart; o checkout prevalece.
[Sources]
- Hotmart — Como funciona o parcelamento: https://help.hotmart.com/pt-br/article/4404509205005/como-funciona-o-parcelamento-para-quem-vende-no-chile-peru-mexico-colombia-e-brasil/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Informar apenas as condicoes oficiais disponiveis na pagina de compra. Nao inventar prazo ou condicao de garantia.</a:t>
            </a:r>
            <a:endParaRPr/>
          </a:p>
          <a:p xmlns:a="http://schemas.openxmlformats.org/drawingml/2006/main">
            <a:r>
              <a:t>
Informar objetivamente a garantia de 7 dias para solicitação de reembolso, contados conforme as regras da oferta e da Hotmart. Não tratar como promessa de resultado.
[Sources]
- Hotmart — Como ajustar o prazo de garantia: https://help.hotmart.com/pt-br/article/360034552751/como-ajustar-o-prazo-de-garantia-do-produto-que-criei/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Hoje voce viu por que saber nao e ainda ter acesso e experimentou um primeiro mapa. O link de inscricao esta disponivel.</a:t>
            </a:r>
            <a:endParaRPr/>
          </a:p>
          <a:p xmlns:a="http://schemas.openxmlformats.org/drawingml/2006/main">
            <a:r>
              <a:t>
Durante a transmissão, o apresentador ou moderador envia o link de inscrição no chat do Zoom. O botão exibido no compartilhamento é uma chamada visual; não é necessário prometer que ele é clicável no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Muito obrigado pela presenca. Que este seja um proximo passo escolhido com clareza, liberdade e responsabilidade.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0cf29b707340d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089005ae7c4853" /><Relationship Type="http://schemas.openxmlformats.org/officeDocument/2006/relationships/slideLayout" Target="/ppt/slideLayouts/slideLayout1.xml" Id="R71b07b2222914d4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b07b2222914d4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d62b6dd894ca1" /><Relationship Type="http://schemas.openxmlformats.org/officeDocument/2006/relationships/image" Target="/ppt/media/image.png" Id="Re1b70571c2e34182" /><Relationship Type="http://schemas.openxmlformats.org/officeDocument/2006/relationships/notesSlide" Target="/ppt/notesSlides/notesSlide1.xml" Id="R0e456109bdba4f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97539167b468e" /><Relationship Type="http://schemas.openxmlformats.org/officeDocument/2006/relationships/notesSlide" Target="/ppt/notesSlides/notesSlide2.xml" Id="R04bdba01b97a4c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84c8693f14eb3" /><Relationship Type="http://schemas.openxmlformats.org/officeDocument/2006/relationships/notesSlide" Target="/ppt/notesSlides/notesSlide3.xml" Id="R6368d90ca63546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410bbd6f84b73" /><Relationship Type="http://schemas.openxmlformats.org/officeDocument/2006/relationships/notesSlide" Target="/ppt/notesSlides/notesSlide4.xml" Id="Ra10ea76711a541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f61bbca5e4c9e" /><Relationship Type="http://schemas.openxmlformats.org/officeDocument/2006/relationships/notesSlide" Target="/ppt/notesSlides/notesSlide5.xml" Id="Rb528de48a84443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dd12204bd4ad8" /><Relationship Type="http://schemas.openxmlformats.org/officeDocument/2006/relationships/notesSlide" Target="/ppt/notesSlides/notesSlide6.xml" Id="Ra6f0481c46484c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92cc1c9ac4bf6" /><Relationship Type="http://schemas.openxmlformats.org/officeDocument/2006/relationships/notesSlide" Target="/ppt/notesSlides/notesSlide7.xml" Id="Rafe34cfdee1b48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7a3b7bccd4e85" /><Relationship Type="http://schemas.openxmlformats.org/officeDocument/2006/relationships/notesSlide" Target="/ppt/notesSlides/notesSlide8.xml" Id="R811a8be5538441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7da40ff7b4339" /><Relationship Type="http://schemas.openxmlformats.org/officeDocument/2006/relationships/notesSlide" Target="/ppt/notesSlides/notesSlide9.xml" Id="R244ead2e9ce044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569149ec14459" /><Relationship Type="http://schemas.openxmlformats.org/officeDocument/2006/relationships/notesSlide" Target="/ppt/notesSlides/notesSlide10.xml" Id="R915195777dae41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9c3442a3d443d" /><Relationship Type="http://schemas.openxmlformats.org/officeDocument/2006/relationships/notesSlide" Target="/ppt/notesSlides/notesSlide11.xml" Id="Ra12c43f011084b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9fe35d7964a1d" /><Relationship Type="http://schemas.openxmlformats.org/officeDocument/2006/relationships/notesSlide" Target="/ppt/notesSlides/notesSlide12.xml" Id="R78579726391d4d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98958c9ff4efc" /><Relationship Type="http://schemas.openxmlformats.org/officeDocument/2006/relationships/notesSlide" Target="/ppt/notesSlides/notesSlide13.xml" Id="Rd9e62746aa604c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c6fa4f9724ad8" /><Relationship Type="http://schemas.openxmlformats.org/officeDocument/2006/relationships/notesSlide" Target="/ppt/notesSlides/notesSlide14.xml" Id="Reb0ad037759349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e8f46c5b345a5" /><Relationship Type="http://schemas.openxmlformats.org/officeDocument/2006/relationships/notesSlide" Target="/ppt/notesSlides/notesSlide15.xml" Id="Rf9891827142349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1f8d8286841a8" /><Relationship Type="http://schemas.openxmlformats.org/officeDocument/2006/relationships/notesSlide" Target="/ppt/notesSlides/notesSlide16.xml" Id="Re517c9af292e41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964641d944616" /><Relationship Type="http://schemas.openxmlformats.org/officeDocument/2006/relationships/notesSlide" Target="/ppt/notesSlides/notesSlide17.xml" Id="Rc66a24e6ab004db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2e93777c344ec" /><Relationship Type="http://schemas.openxmlformats.org/officeDocument/2006/relationships/notesSlide" Target="/ppt/notesSlides/notesSlide18.xml" Id="Rbb47ae9be971471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458ac02b14e5f" /><Relationship Type="http://schemas.openxmlformats.org/officeDocument/2006/relationships/notesSlide" Target="/ppt/notesSlides/notesSlide19.xml" Id="Rf2d361f77cef46b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bbe9d9cb7403c" /><Relationship Type="http://schemas.openxmlformats.org/officeDocument/2006/relationships/notesSlide" Target="/ppt/notesSlides/notesSlide20.xml" Id="R889dfb6b2d1448e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8edbca7274607" /><Relationship Type="http://schemas.openxmlformats.org/officeDocument/2006/relationships/notesSlide" Target="/ppt/notesSlides/notesSlide21.xml" Id="R4d0ab3d0554742a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dbd7dde6e4619" /><Relationship Type="http://schemas.openxmlformats.org/officeDocument/2006/relationships/notesSlide" Target="/ppt/notesSlides/notesSlide22.xml" Id="R6ed30e4461bd413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1e03a49124283" /><Relationship Type="http://schemas.openxmlformats.org/officeDocument/2006/relationships/notesSlide" Target="/ppt/notesSlides/notesSlide23.xml" Id="R1e94e8ec5291483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a5b06871e4bf0" /><Relationship Type="http://schemas.openxmlformats.org/officeDocument/2006/relationships/notesSlide" Target="/ppt/notesSlides/notesSlide24.xml" Id="R9c0ea9fb54b5400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3fc6842244d55" /><Relationship Type="http://schemas.openxmlformats.org/officeDocument/2006/relationships/notesSlide" Target="/ppt/notesSlides/notesSlide25.xml" Id="R73aa0c9fca654ef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3c9f3d72549c7" /><Relationship Type="http://schemas.openxmlformats.org/officeDocument/2006/relationships/image" Target="/ppt/media/image2.png" Id="Rf53e5e0378a84831" /><Relationship Type="http://schemas.openxmlformats.org/officeDocument/2006/relationships/notesSlide" Target="/ppt/notesSlides/notesSlide26.xml" Id="Rd4a07c08f2f3464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D1FA637-C230-4D7A-8C23-5B55778B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45E78">
                  <a:alpha val="100000"/>
                </a:srgbClr>
              </a:gs>
              <a:gs pos="45000">
                <a:srgbClr val="173F52">
                  <a:alpha val="100000"/>
                </a:srgbClr>
              </a:gs>
              <a:gs pos="100000">
                <a:srgbClr val="082A45">
                  <a:alpha val="100000"/>
                </a:srgbClr>
              </a:gs>
            </a:gsLst>
            <a:lin ang="4200000" scaled="0"/>
          </a:gra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ED24F57-2C57-46D9-A9B1-A63D1334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7431"/>
            <a:ext cx="4953000" cy="4953000"/>
          </a:xfrm>
          <a:prstGeom xmlns:a="http://schemas.openxmlformats.org/drawingml/2006/main" prst="roundRect">
            <a:avLst>
              <a:gd name="adj" fmla="val 2308"/>
            </a:avLst>
          </a:prstGeom>
          <a:effectLst xmlns:a="http://schemas.openxmlformats.org/drawingml/2006/main">
            <a:outerShdw blurRad="857250" dist="381000" dir="5400000" sx="100000" sy="100000" kx="0" ky="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70571c2e341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307431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A6B0785-8D95-4FF7-8C85-1A6FB8E9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217" y="7679531"/>
            <a:ext cx="9490241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C99A64"/>
                </a:solidFill>
                <a:latin typeface="Arial"/>
                <a:ea typeface="Arial"/>
                <a:cs typeface="Arial"/>
              </a:rPr>
              <a:t>MASTERCLASS GRATUITA · AO VIVO PELO ZOOM</a:t>
            </a:r>
            <a:endParaRPr sz="1950"/>
          </a:p>
        </p:txBody>
      </p:sp>
    </p:spTree>
    <p:extLst>
      <p:ext uri="{BB962C8B-B14F-4D97-AF65-F5344CB8AC3E}">
        <p14:creationId xmlns:p14="http://schemas.microsoft.com/office/powerpoint/2010/main" val="10956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658ABB-24DB-4CE6-89A3-4C93C960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530" y="3545681"/>
            <a:ext cx="4346034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C99A64"/>
                </a:solidFill>
                <a:latin typeface="Arial"/>
                <a:ea typeface="Arial"/>
                <a:cs typeface="Arial"/>
              </a:rPr>
              <a:t>A PERGUNTA DE HOJE</a:t>
            </a:r>
            <a:endParaRPr sz="1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084489-32CB-4031-B47D-81FAE86E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938" y="4379119"/>
            <a:ext cx="14716125" cy="1847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0465"/>
              </a:lnSpc>
              <a:buNone/>
            </a:pPr>
            <a:r>
              <a:rPr sz="5700">
                <a:solidFill>
                  <a:srgbClr val="F4EFEA"/>
                </a:solidFill>
                <a:latin typeface="Georgia"/>
                <a:ea typeface="Georgia"/>
                <a:cs typeface="Georgia"/>
              </a:rPr>
              <a:t>Por que você entende seus padrões, mas continua repetindo?</a:t>
            </a:r>
            <a:endParaRPr sz="5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D7E8D74-9AF8-46F2-AED0-E55E24C3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722269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64"/>
          </a:solidFill>
        </p:spPr>
      </p:sp>
    </p:spTree>
    <p:extLst>
      <p:ext uri="{BB962C8B-B14F-4D97-AF65-F5344CB8AC3E}">
        <p14:creationId xmlns:p14="http://schemas.microsoft.com/office/powerpoint/2010/main" val="12411175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73A381C-465B-413B-AAD6-641BB922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A45">
              <a:alpha val="12000"/>
            </a:srgbClr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1143CBB-7011-4BE5-9E6C-8FCF8ADB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10495"/>
            <a:ext cx="9063037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245E78"/>
                </a:solidFill>
                <a:latin typeface="Arial"/>
                <a:ea typeface="Arial"/>
                <a:cs typeface="Arial"/>
              </a:rPr>
              <a:t>A PROMESSA</a:t>
            </a:r>
            <a:endParaRPr sz="1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CDA210C-5E37-43BC-8498-558ECFAD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838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82101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200"/>
              </a:lnSpc>
              <a:buNone/>
            </a:pPr>
            <a:r>
              <a:rPr sz="3300">
                <a:solidFill>
                  <a:srgbClr val="082A45"/>
                </a:solidFill>
                <a:latin typeface="Georgia"/>
                <a:ea typeface="Georgia"/>
                <a:cs typeface="Georgia"/>
              </a:rPr>
              <a:t>Entenda o que fica entre reconhecer o que acontece e conseguir responder de outro modo — e como corpo, contexto, história e presença influenciam esse acesso.</a:t>
            </a:r>
            <a:endParaRPr sz="3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A26A44A-6D78-45F3-B28F-BDE7F5BB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838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231"/>
              </a:lnSpc>
              <a:buNone/>
            </a:pPr>
            <a:r>
              <a:rPr sz="2100">
                <a:solidFill>
                  <a:srgbClr val="173F52"/>
                </a:solidFill>
                <a:latin typeface="Arial"/>
                <a:ea typeface="Arial"/>
                <a:cs typeface="Arial"/>
              </a:rPr>
              <a:t>Nesta aula, você vai sair com um mapa simples para diferenciar o que aconteceu, o que foi ativado em você e qual resposta pode se tornar possível agora.</a:t>
            </a:r>
            <a:endParaRPr sz="2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B3BAF30-A5F4-49D8-8A2B-1B8110A6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980111"/>
            <a:ext cx="7061835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C99A64"/>
                </a:solidFill>
                <a:latin typeface="Arial"/>
                <a:ea typeface="Arial"/>
                <a:cs typeface="Arial"/>
              </a:rPr>
              <a:t>PARA QUEM É</a:t>
            </a:r>
            <a:endParaRPr sz="19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1DA793-9C56-409B-8397-EDB01583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429125"/>
            <a:ext cx="657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8378"/>
              </a:lnSpc>
              <a:buNone/>
            </a:pPr>
            <a:r>
              <a:rPr sz="2400">
                <a:solidFill>
                  <a:srgbClr val="082A45"/>
                </a:solidFill>
                <a:latin typeface="Arial"/>
                <a:ea typeface="Arial"/>
                <a:cs typeface="Arial"/>
              </a:rPr>
              <a:t>Para quem já fez terapia, cursos ou práticas de autoconhecimento, mas ainda percebe que algumas respostas se repetem quando algo é ativado.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62312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D87027A-3F96-4441-A0E8-761E0AD1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8476"/>
            <a:ext cx="17183100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C99A64"/>
                </a:solidFill>
                <a:latin typeface="Arial"/>
                <a:ea typeface="Arial"/>
                <a:cs typeface="Arial"/>
              </a:rPr>
              <a:t>RESPONDA NO CHAT</a:t>
            </a:r>
            <a:endParaRPr sz="195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19AF1B1-9403-4107-B4F7-FD1F466E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1414"/>
            <a:ext cx="15621000" cy="1013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A">
              <a:alpha val="6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E112D45-7A54-4DBE-9AD9-E83BB392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1414"/>
            <a:ext cx="28575" cy="1013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64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B529C9B-45AB-41CE-9C90-6D6B5651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078114"/>
            <a:ext cx="15375255" cy="5181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927"/>
              </a:lnSpc>
              <a:buNone/>
            </a:pPr>
            <a:r>
              <a:rPr sz="2700">
                <a:solidFill>
                  <a:srgbClr val="F4EFEA"/>
                </a:solidFill>
                <a:latin typeface="Georgia"/>
                <a:ea typeface="Georgia"/>
                <a:cs typeface="Georgia"/>
              </a:rPr>
              <a:t>Você já entendeu racionalmente um padrão e, mesmo assim, repetiu uma resposta conhecida?</a:t>
            </a:r>
            <a:endParaRPr sz="27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DD51468-2256-432B-AF42-DED78657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53459"/>
            <a:ext cx="15621000" cy="1013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A">
              <a:alpha val="6000"/>
            </a:srgbClr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9B98AA-FB61-4F57-A95C-08F40D27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53459"/>
            <a:ext cx="28575" cy="1013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64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6F59CC-6742-4F3C-8936-B9B31FBC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238750"/>
            <a:ext cx="153733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535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927"/>
              </a:lnSpc>
              <a:buNone/>
            </a:pPr>
            <a:r>
              <a:rPr sz="2700">
                <a:solidFill>
                  <a:srgbClr val="F4EFEA"/>
                </a:solidFill>
                <a:latin typeface="Georgia"/>
                <a:ea typeface="Georgia"/>
                <a:cs typeface="Georgia"/>
              </a:rPr>
              <a:t>Você percebe que sabe o que gostaria de fazer, mas no momento da ativação isso fica menos acessível?</a:t>
            </a:r>
            <a:endParaRPr sz="2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8CEFC70-E3A1-4AA1-B4EA-026AFAB8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95504"/>
            <a:ext cx="15621000" cy="1013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A">
              <a:alpha val="6000"/>
            </a:srgbClr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DA371CE-3400-4191-98EE-A5524C8E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95504"/>
            <a:ext cx="28575" cy="1013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64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F4630AD-F97C-4B91-857B-4617E1A5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562204"/>
            <a:ext cx="15375255" cy="5181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927"/>
              </a:lnSpc>
              <a:buNone/>
            </a:pPr>
            <a:r>
              <a:rPr sz="2700">
                <a:solidFill>
                  <a:srgbClr val="F4EFEA"/>
                </a:solidFill>
                <a:latin typeface="Georgia"/>
                <a:ea typeface="Georgia"/>
                <a:cs typeface="Georgia"/>
              </a:rPr>
              <a:t>Você costuma compreender melhor o que aconteceu somente depois que já reagiu?</a:t>
            </a:r>
            <a:endParaRPr sz="2700"/>
          </a:p>
        </p:txBody>
      </p:sp>
    </p:spTree>
    <p:extLst>
      <p:ext uri="{BB962C8B-B14F-4D97-AF65-F5344CB8AC3E}">
        <p14:creationId xmlns:p14="http://schemas.microsoft.com/office/powerpoint/2010/main" val="2779627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EE9E56E-006C-4D41-9C0C-2E6D25FC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2904"/>
            <a:ext cx="13735050" cy="1272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899"/>
              </a:lnSpc>
              <a:buNone/>
            </a:pPr>
            <a:r>
              <a:rPr sz="3600">
                <a:solidFill>
                  <a:srgbClr val="082A45"/>
                </a:solidFill>
                <a:latin typeface="Georgia"/>
                <a:ea typeface="Georgia"/>
                <a:cs typeface="Georgia"/>
              </a:rPr>
              <a:t>Repetir não prova falta de esforço. Compreender, acessar e sustentar são passos diferentes.</a:t>
            </a:r>
            <a:endParaRPr sz="3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5A5C941-1997-4898-8E32-C95F6B0A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48784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082A45"/>
                </a:solidFill>
                <a:latin typeface="Arial"/>
                <a:ea typeface="Arial"/>
                <a:cs typeface="Arial"/>
              </a:rPr>
              <a:t>Compreender</a:t>
            </a:r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4124C76-DB9D-40E9-9B89-F51F49C7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53609"/>
            <a:ext cx="5238750" cy="319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245E78"/>
                </a:solidFill>
                <a:latin typeface="Arial"/>
                <a:ea typeface="Arial"/>
                <a:cs typeface="Arial"/>
              </a:rPr>
              <a:t>reconhecer ou explicar</a:t>
            </a:r>
            <a:endParaRPr sz="18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7F11CB-BE7B-4B80-AAC3-EB31EBEA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13216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64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4320B93-3F4A-42DB-84C5-A030BBA6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748784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082A45"/>
                </a:solidFill>
                <a:latin typeface="Arial"/>
                <a:ea typeface="Arial"/>
                <a:cs typeface="Arial"/>
              </a:rPr>
              <a:t>Acessar</a:t>
            </a:r>
            <a:endParaRPr sz="2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266E697-B020-4244-9A7C-38072232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253609"/>
            <a:ext cx="5238750" cy="319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245E78"/>
                </a:solidFill>
                <a:latin typeface="Arial"/>
                <a:ea typeface="Arial"/>
                <a:cs typeface="Arial"/>
              </a:rPr>
              <a:t>encontrar quando ativado</a:t>
            </a:r>
            <a:endParaRPr sz="1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4A07991-9CD6-425D-8852-257DB3ED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13216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64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3B34194-2C11-4FEE-A285-FC90976B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748784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082A45"/>
                </a:solidFill>
                <a:latin typeface="Arial"/>
                <a:ea typeface="Arial"/>
                <a:cs typeface="Arial"/>
              </a:rPr>
              <a:t>Sustentar</a:t>
            </a:r>
            <a:endParaRPr sz="2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3DF022F-94CC-41A7-80BA-8F225787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6253609"/>
            <a:ext cx="5238750" cy="319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245E78"/>
                </a:solidFill>
                <a:latin typeface="Arial"/>
                <a:ea typeface="Arial"/>
                <a:cs typeface="Arial"/>
              </a:rPr>
              <a:t>permanecer em contato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0628597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6E2C47F-1761-409A-8760-AD60D33E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6251"/>
            <a:ext cx="18021300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C99A64"/>
                </a:solidFill>
                <a:latin typeface="Arial"/>
                <a:ea typeface="Arial"/>
                <a:cs typeface="Arial"/>
              </a:rPr>
              <a:t>O CICLO DA REPETIÇÃO</a:t>
            </a:r>
            <a:endParaRPr sz="195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62D5E0C-470F-4D13-9274-FCA63A09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3488"/>
            <a:ext cx="3695700" cy="81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A">
              <a:alpha val="7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2172BB8-A4FC-4E7E-B7E9-4FAADDA9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1138"/>
            <a:ext cx="3387471" cy="358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1800">
                <a:solidFill>
                  <a:srgbClr val="F4EFEA"/>
                </a:solidFill>
                <a:latin typeface="Arial"/>
                <a:ea typeface="Arial"/>
                <a:cs typeface="Arial"/>
              </a:rPr>
              <a:t>Situação ativadora</a:t>
            </a:r>
            <a:endParaRPr sz="1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33A075D-B119-41A9-B002-D3E6ED3F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19204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C99A64"/>
                </a:solidFill>
                <a:latin typeface="Arial"/>
                <a:ea typeface="Arial"/>
                <a:cs typeface="Arial"/>
              </a:rPr>
              <a:t>→</a:t>
            </a:r>
            <a:endParaRPr sz="2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DAD41BD-9C71-480E-85F6-29064202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3488"/>
            <a:ext cx="3695700" cy="81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A">
              <a:alpha val="7000"/>
            </a:srgbClr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E204404-DFDA-4CD2-8196-5038799C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821138"/>
            <a:ext cx="3387471" cy="358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1800">
                <a:solidFill>
                  <a:srgbClr val="F4EFEA"/>
                </a:solidFill>
                <a:latin typeface="Arial"/>
                <a:ea typeface="Arial"/>
                <a:cs typeface="Arial"/>
              </a:rPr>
              <a:t>Corpo e emoção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B00AC94-27F5-456B-891C-001ED8F2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19204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C99A64"/>
                </a:solidFill>
                <a:latin typeface="Arial"/>
                <a:ea typeface="Arial"/>
                <a:cs typeface="Arial"/>
              </a:rPr>
              <a:t>→</a:t>
            </a:r>
            <a:endParaRPr sz="2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F005BD8-4D6E-4B95-BA70-6FA0EE2C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73488"/>
            <a:ext cx="3695700" cy="81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A">
              <a:alpha val="7000"/>
            </a:srgbClr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4349554-E9AA-4768-945D-15627E6E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21138"/>
            <a:ext cx="3387471" cy="358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1800">
                <a:solidFill>
                  <a:srgbClr val="F4EFEA"/>
                </a:solidFill>
                <a:latin typeface="Arial"/>
                <a:ea typeface="Arial"/>
                <a:cs typeface="Arial"/>
              </a:rPr>
              <a:t>Interpretação rápida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905E2AF-3914-4562-BE84-03D55DAB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819204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C99A64"/>
                </a:solidFill>
                <a:latin typeface="Arial"/>
                <a:ea typeface="Arial"/>
                <a:cs typeface="Arial"/>
              </a:rPr>
              <a:t>→</a:t>
            </a:r>
            <a:endParaRPr sz="2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F59B4A-A447-46FE-A7D0-02494DF3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4573488"/>
            <a:ext cx="3695700" cy="81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A">
              <a:alpha val="7000"/>
            </a:srgbClr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5591A1A-B728-4C93-AB23-8BA098BA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4821138"/>
            <a:ext cx="3387471" cy="358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1800">
                <a:solidFill>
                  <a:srgbClr val="F4EFEA"/>
                </a:solidFill>
                <a:latin typeface="Arial"/>
                <a:ea typeface="Arial"/>
                <a:cs typeface="Arial"/>
              </a:rPr>
              <a:t>Resposta conhecida</a:t>
            </a:r>
            <a:endParaRPr sz="18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2D1CD9A-BCC0-4433-BEF1-7498DD36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45969"/>
            <a:ext cx="3695700" cy="81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64">
              <a:alpha val="16000"/>
            </a:srgbClr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0103B86-50C2-4D7F-A407-FFDEF11F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93619"/>
            <a:ext cx="3387471" cy="358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1800">
                <a:solidFill>
                  <a:srgbClr val="F4EFEA"/>
                </a:solidFill>
                <a:latin typeface="Arial"/>
                <a:ea typeface="Arial"/>
                <a:cs typeface="Arial"/>
              </a:rPr>
              <a:t>Efeito na relação</a:t>
            </a:r>
            <a:endParaRPr sz="1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7928E69-7654-4692-AFA8-A336CCE2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091684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C99A64"/>
                </a:solidFill>
                <a:latin typeface="Arial"/>
                <a:ea typeface="Arial"/>
                <a:cs typeface="Arial"/>
              </a:rPr>
              <a:t>→</a:t>
            </a:r>
            <a:endParaRPr sz="21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8AB2C7B-F537-4001-B8DB-03EE3890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845969"/>
            <a:ext cx="3695700" cy="81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64">
              <a:alpha val="16000"/>
            </a:srgbClr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A8D1E88-F8CB-4028-9E46-7D547F8C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3619"/>
            <a:ext cx="3387471" cy="358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1800">
                <a:solidFill>
                  <a:srgbClr val="F4EFEA"/>
                </a:solidFill>
                <a:latin typeface="Arial"/>
                <a:ea typeface="Arial"/>
                <a:cs typeface="Arial"/>
              </a:rPr>
              <a:t>Autocrítica</a:t>
            </a:r>
            <a:endParaRPr sz="18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C896A96-AF4F-44B3-A891-4BC1740B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091684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C99A64"/>
                </a:solidFill>
                <a:latin typeface="Arial"/>
                <a:ea typeface="Arial"/>
                <a:cs typeface="Arial"/>
              </a:rPr>
              <a:t>→</a:t>
            </a:r>
            <a:endParaRPr sz="21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305EA90-2047-445B-B63B-769A948C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845969"/>
            <a:ext cx="3695700" cy="81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64">
              <a:alpha val="16000"/>
            </a:srgbClr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590C433-34FB-408A-A199-E01D0512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93619"/>
            <a:ext cx="3387471" cy="358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1800">
                <a:solidFill>
                  <a:srgbClr val="F4EFEA"/>
                </a:solidFill>
                <a:latin typeface="Arial"/>
                <a:ea typeface="Arial"/>
                <a:cs typeface="Arial"/>
              </a:rPr>
              <a:t>Mais explicações</a:t>
            </a:r>
            <a:endParaRPr sz="1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4A652F9-2FB8-4651-98C8-B97B28B0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091684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C99A64"/>
                </a:solidFill>
                <a:latin typeface="Arial"/>
                <a:ea typeface="Arial"/>
                <a:cs typeface="Arial"/>
              </a:rPr>
              <a:t>→</a:t>
            </a:r>
            <a:endParaRPr sz="2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29DA266-D2E6-4A00-B044-5DF1D192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845969"/>
            <a:ext cx="3695700" cy="81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64">
              <a:alpha val="16000"/>
            </a:srgbClr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8150AFE-404F-43EE-B61E-7ED836DA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6093619"/>
            <a:ext cx="3387471" cy="358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1679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1800">
                <a:solidFill>
                  <a:srgbClr val="F4EFEA"/>
                </a:solidFill>
                <a:latin typeface="Arial"/>
                <a:ea typeface="Arial"/>
                <a:cs typeface="Arial"/>
              </a:rPr>
              <a:t>Nova repetição</a:t>
            </a:r>
            <a:endParaRPr sz="1800"/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A314E-0BC3-48FA-A219-E69D6969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1700" y="590550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9A64"/>
                </a:solidFill>
              </a:defRPr>
            </a:pPr>
            <a:r>
              <a:rPr sz="2100" b="1">
                <a:solidFill>
                  <a:srgbClr val="C99A64"/>
                </a:solidFill>
              </a:rPr>
              <a:t>↺</a:t>
            </a:r>
          </a:p>
        </p:txBody>
      </p:sp>
    </p:spTree>
    <p:extLst>
      <p:ext uri="{BB962C8B-B14F-4D97-AF65-F5344CB8AC3E}">
        <p14:creationId xmlns:p14="http://schemas.microsoft.com/office/powerpoint/2010/main" val="15934238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7C6BB3D-B3FF-49F6-8B3C-FE26CA12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36194"/>
            <a:ext cx="18021300" cy="638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600">
                <a:solidFill>
                  <a:srgbClr val="082A45"/>
                </a:solidFill>
                <a:latin typeface="Georgia"/>
                <a:ea typeface="Georgia"/>
                <a:cs typeface="Georgia"/>
              </a:rPr>
              <a:t>O preço de saber e não conseguir usar</a:t>
            </a:r>
            <a:endParaRPr sz="3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672D1F-8345-4A2D-AEF2-1B61034D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6381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64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D6085B-2957-4760-82EA-2378EFB9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3469"/>
            <a:ext cx="5337048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245E78"/>
                </a:solidFill>
                <a:latin typeface="Arial"/>
                <a:ea typeface="Arial"/>
                <a:cs typeface="Arial"/>
              </a:rPr>
              <a:t>Internas</a:t>
            </a:r>
            <a:endParaRPr sz="2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DAA066E-2312-43DC-901B-2B748704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6881"/>
            <a:ext cx="5337048" cy="1152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950">
                <a:solidFill>
                  <a:srgbClr val="082A45"/>
                </a:solidFill>
                <a:latin typeface="Arial"/>
                <a:ea typeface="Arial"/>
                <a:cs typeface="Arial"/>
              </a:rPr>
              <a:t>Vergonha por "saber melhor" e ainda assim reagir diferente. Sensação de voltar ao ponto zero.</a:t>
            </a:r>
            <a:endParaRPr sz="19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EBB06FA-B4F4-425B-A535-5113943C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36381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64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598CDBB-ACBD-4299-AB77-73E3ED45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93469"/>
            <a:ext cx="5337048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245E78"/>
                </a:solidFill>
                <a:latin typeface="Arial"/>
                <a:ea typeface="Arial"/>
                <a:cs typeface="Arial"/>
              </a:rPr>
              <a:t>Relacionais</a:t>
            </a:r>
            <a:endParaRPr sz="2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79684F6-4DC5-46F6-AE6E-3F8EE315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26881"/>
            <a:ext cx="5337048" cy="1152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950">
                <a:solidFill>
                  <a:srgbClr val="082A45"/>
                </a:solidFill>
                <a:latin typeface="Arial"/>
                <a:ea typeface="Arial"/>
                <a:cs typeface="Arial"/>
              </a:rPr>
              <a:t>Responder antes de compreender. Dificuldade para colocar limites sem culpa ou rigidez.</a:t>
            </a:r>
            <a:endParaRPr sz="19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E981B32-C270-4F80-883F-6A0CC516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336381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64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BCD60BE-2A99-4154-BE4C-082E6595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893469"/>
            <a:ext cx="5337048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245E78"/>
                </a:solidFill>
                <a:latin typeface="Arial"/>
                <a:ea typeface="Arial"/>
                <a:cs typeface="Arial"/>
              </a:rPr>
              <a:t>De desenvolvimento</a:t>
            </a:r>
            <a:endParaRPr sz="2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B434CFD-32BB-43AE-B7B2-D8D4A8BF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526881"/>
            <a:ext cx="5337048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950">
                <a:solidFill>
                  <a:srgbClr val="082A45"/>
                </a:solidFill>
                <a:latin typeface="Arial"/>
                <a:ea typeface="Arial"/>
                <a:cs typeface="Arial"/>
              </a:rPr>
              <a:t>Acumular conceitos sem incorporá-los. Confundir intensidade com profundidade.</a:t>
            </a:r>
            <a:endParaRPr sz="1950"/>
          </a:p>
        </p:txBody>
      </p:sp>
    </p:spTree>
    <p:extLst>
      <p:ext uri="{BB962C8B-B14F-4D97-AF65-F5344CB8AC3E}">
        <p14:creationId xmlns:p14="http://schemas.microsoft.com/office/powerpoint/2010/main" val="1295932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B03C582-1DEE-4F07-BF8F-88EC74DE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8487266" cy="5857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8622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300">
                <a:solidFill>
                  <a:srgbClr val="F4EFEA"/>
                </a:solidFill>
                <a:latin typeface="Georgia"/>
                <a:ea typeface="Georgia"/>
                <a:cs typeface="Georgia"/>
              </a:rPr>
              <a:t>Uma situação em que muitos de nós se reconhecem</a:t>
            </a:r>
            <a:endParaRPr sz="3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4B6633-6EF7-4898-AC02-99BCD502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0987"/>
            <a:ext cx="17811750" cy="319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7801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C99A64"/>
                </a:solidFill>
                <a:latin typeface="Arial"/>
                <a:ea typeface="Arial"/>
                <a:cs typeface="Arial"/>
              </a:rPr>
              <a:t>História composta — situação pedagógica; não é relato de aluno, paciente ou pessoa específica.</a:t>
            </a:r>
            <a:endParaRPr sz="1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40786C2-3199-46AC-BAF7-F47D87E8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85915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C99A64"/>
                </a:solidFill>
                <a:latin typeface="Arial"/>
                <a:ea typeface="Arial"/>
                <a:cs typeface="Arial"/>
              </a:rPr>
              <a:t>Antes</a:t>
            </a:r>
            <a:endParaRPr sz="1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40689A4-4A4D-4AD9-8102-EBB1045A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72063"/>
            <a:ext cx="8044815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451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950">
                <a:solidFill>
                  <a:srgbClr val="F4EFEA"/>
                </a:solidFill>
                <a:latin typeface="Arial"/>
                <a:ea typeface="Arial"/>
                <a:cs typeface="Arial"/>
              </a:rPr>
              <a:t>Já fez terapia e autoconhecimento. Sabe que teme a rejeição, mas isso não impede que a resposta conhecida se repita.</a:t>
            </a:r>
            <a:endParaRPr sz="1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5942D51-0A2E-4ADD-92B8-76ED67C1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14875"/>
            <a:ext cx="85915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C99A64"/>
                </a:solidFill>
                <a:latin typeface="Arial"/>
                <a:ea typeface="Arial"/>
                <a:cs typeface="Arial"/>
              </a:rPr>
              <a:t>Ativação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3E91135-BA85-4AC9-9CDB-BCC8B430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72063"/>
            <a:ext cx="8044815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451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950">
                <a:solidFill>
                  <a:srgbClr val="F4EFEA"/>
                </a:solidFill>
                <a:latin typeface="Arial"/>
                <a:ea typeface="Arial"/>
                <a:cs typeface="Arial"/>
              </a:rPr>
              <a:t>Alguém importante demora a responder. O corpo se ativa; surgem medo de abandono e impulso de cobrar, insistir ou se afastar.</a:t>
            </a:r>
            <a:endParaRPr sz="19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DAF8A3-F6ED-4B94-AF7A-412651AF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81713"/>
            <a:ext cx="85915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C99A64"/>
                </a:solidFill>
                <a:latin typeface="Arial"/>
                <a:ea typeface="Arial"/>
                <a:cs typeface="Arial"/>
              </a:rPr>
              <a:t>Virada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551B5E1-A046-4ABD-B8B4-78AB779F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38900"/>
            <a:ext cx="8044815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451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950">
                <a:solidFill>
                  <a:srgbClr val="F4EFEA"/>
                </a:solidFill>
                <a:latin typeface="Arial"/>
                <a:ea typeface="Arial"/>
                <a:cs typeface="Arial"/>
              </a:rPr>
              <a:t>Diferencia o fato, o corpo, a emoção, a história ativada, a interpretação e a necessidade presente.</a:t>
            </a:r>
            <a:endParaRPr sz="19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85A85B9-7C31-4D2A-B828-7AA450DE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081713"/>
            <a:ext cx="85915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C99A64"/>
                </a:solidFill>
                <a:latin typeface="Arial"/>
                <a:ea typeface="Arial"/>
                <a:cs typeface="Arial"/>
              </a:rPr>
              <a:t>Depois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BC7B29F-F5CA-43F1-99C6-81D8DFD2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38900"/>
            <a:ext cx="8044815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451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950">
                <a:solidFill>
                  <a:srgbClr val="F4EFEA"/>
                </a:solidFill>
                <a:latin typeface="Arial"/>
                <a:ea typeface="Arial"/>
                <a:cs typeface="Arial"/>
              </a:rPr>
              <a:t>Cria uma pausa, comunica com menos acusação e pode reparar se reagiu — sem precisar eliminar a ativação.</a:t>
            </a:r>
            <a:endParaRPr sz="1950"/>
          </a:p>
        </p:txBody>
      </p:sp>
    </p:spTree>
    <p:extLst>
      <p:ext uri="{BB962C8B-B14F-4D97-AF65-F5344CB8AC3E}">
        <p14:creationId xmlns:p14="http://schemas.microsoft.com/office/powerpoint/2010/main" val="20245837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74E09C1-BEB7-4047-A6B3-A045503A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45E78">
                  <a:alpha val="100000"/>
                </a:srgbClr>
              </a:gs>
              <a:gs pos="45000">
                <a:srgbClr val="173F52">
                  <a:alpha val="100000"/>
                </a:srgbClr>
              </a:gs>
              <a:gs pos="100000">
                <a:srgbClr val="082A45">
                  <a:alpha val="100000"/>
                </a:srgbClr>
              </a:gs>
            </a:gsLst>
            <a:lin ang="4200000" scaled="0"/>
          </a:gra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E2E998D-F76F-4315-8FCB-33D85287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816" y="4231481"/>
            <a:ext cx="3441122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C99A64"/>
                </a:solidFill>
                <a:latin typeface="Arial"/>
                <a:ea typeface="Arial"/>
                <a:cs typeface="Arial"/>
              </a:rPr>
              <a:t>A IDEIA CENTRAL</a:t>
            </a:r>
            <a:endParaRPr sz="1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53FD285-1A5D-4745-9C90-48C98410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067" y="4912519"/>
            <a:ext cx="10539792" cy="1181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900">
                <a:solidFill>
                  <a:srgbClr val="F4EFEA"/>
                </a:solidFill>
                <a:latin typeface="Georgia"/>
                <a:ea typeface="Georgia"/>
                <a:cs typeface="Georgia"/>
              </a:rPr>
              <a:t>Saber não é ainda ter acesso.</a:t>
            </a:r>
            <a:endParaRPr sz="6900"/>
          </a:p>
        </p:txBody>
      </p:sp>
    </p:spTree>
    <p:extLst>
      <p:ext uri="{BB962C8B-B14F-4D97-AF65-F5344CB8AC3E}">
        <p14:creationId xmlns:p14="http://schemas.microsoft.com/office/powerpoint/2010/main" val="11861236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064C66-04A8-48C5-B8CE-5F001189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820"/>
            <a:ext cx="18021300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245E78"/>
                </a:solidFill>
                <a:latin typeface="Arial"/>
                <a:ea typeface="Arial"/>
                <a:cs typeface="Arial"/>
              </a:rPr>
              <a:t>UM DIFERENCIAL DO PERCURSO</a:t>
            </a:r>
            <a:endParaRPr sz="1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371309-96E9-4C01-AB2E-0B4C5851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7758"/>
            <a:ext cx="15716250" cy="62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200"/>
              </a:lnSpc>
              <a:buNone/>
            </a:pPr>
            <a:r>
              <a:rPr sz="3300">
                <a:solidFill>
                  <a:srgbClr val="082A45"/>
                </a:solidFill>
                <a:latin typeface="Georgia"/>
                <a:ea typeface="Georgia"/>
                <a:cs typeface="Georgia"/>
              </a:rPr>
              <a:t>A mesma experiência, vista por cinco janelas diferentes</a:t>
            </a:r>
            <a:endParaRPr sz="3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DA8769F-9490-4F38-8634-CC736303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7338"/>
            <a:ext cx="3124200" cy="15162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A45">
              <a:alpha val="5000"/>
            </a:srgbClr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F13D000-521E-497F-A3A2-A5354101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4988"/>
            <a:ext cx="301752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 b="1">
                <a:solidFill>
                  <a:srgbClr val="082A45"/>
                </a:solidFill>
                <a:latin typeface="Arial"/>
                <a:ea typeface="Arial"/>
                <a:cs typeface="Arial"/>
              </a:rPr>
              <a:t>Corpo</a:t>
            </a:r>
            <a:endParaRPr sz="1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94C9D84-6AB2-420B-A428-99F548EE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5988"/>
            <a:ext cx="2825496" cy="6780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1800">
                <a:solidFill>
                  <a:srgbClr val="245E78"/>
                </a:solidFill>
                <a:latin typeface="Arial"/>
                <a:ea typeface="Arial"/>
                <a:cs typeface="Arial"/>
              </a:rPr>
              <a:t>Neurociência e regulação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17FEE4F-253A-4BB0-9677-A3428D8A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97338"/>
            <a:ext cx="3124200" cy="15162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A45">
              <a:alpha val="5000"/>
            </a:srgbClr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C9501A-5217-432A-8118-F4A1854A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44988"/>
            <a:ext cx="301752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 b="1">
                <a:solidFill>
                  <a:srgbClr val="082A45"/>
                </a:solidFill>
                <a:latin typeface="Arial"/>
                <a:ea typeface="Arial"/>
                <a:cs typeface="Arial"/>
              </a:rPr>
              <a:t>Emoção</a:t>
            </a:r>
            <a:endParaRPr sz="1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9C4CA51-E7AD-47AF-8658-4941EEB4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25988"/>
            <a:ext cx="3017520" cy="358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1800">
                <a:solidFill>
                  <a:srgbClr val="245E78"/>
                </a:solidFill>
                <a:latin typeface="Arial"/>
                <a:ea typeface="Arial"/>
                <a:cs typeface="Arial"/>
              </a:rPr>
              <a:t>Psicologia</a:t>
            </a:r>
            <a:endParaRPr sz="18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55FFDDB-2F85-4935-9190-3239D466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97338"/>
            <a:ext cx="3124200" cy="15162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A45">
              <a:alpha val="5000"/>
            </a:srgbClr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3EC3246-54C7-4022-911D-A473B387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44988"/>
            <a:ext cx="301752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 b="1">
                <a:solidFill>
                  <a:srgbClr val="082A45"/>
                </a:solidFill>
                <a:latin typeface="Arial"/>
                <a:ea typeface="Arial"/>
                <a:cs typeface="Arial"/>
              </a:rPr>
              <a:t>Energia</a:t>
            </a:r>
            <a:endParaRPr sz="19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28913C5-AD60-41BE-905E-E330E18D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25988"/>
            <a:ext cx="3017520" cy="358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1800">
                <a:solidFill>
                  <a:srgbClr val="245E78"/>
                </a:solidFill>
                <a:latin typeface="Arial"/>
                <a:ea typeface="Arial"/>
                <a:cs typeface="Arial"/>
              </a:rPr>
              <a:t>Tradições orientais</a:t>
            </a:r>
            <a:endParaRPr sz="18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A0FCA59-19FC-4F60-BCF0-55E14D2D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897338"/>
            <a:ext cx="3124200" cy="15162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A45">
              <a:alpha val="5000"/>
            </a:srgbClr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50D71B7-C60C-401F-B2F5-61E96D26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144988"/>
            <a:ext cx="301752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 b="1">
                <a:solidFill>
                  <a:srgbClr val="082A45"/>
                </a:solidFill>
                <a:latin typeface="Arial"/>
                <a:ea typeface="Arial"/>
                <a:cs typeface="Arial"/>
              </a:rPr>
              <a:t>Pensamento</a:t>
            </a:r>
            <a:endParaRPr sz="19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6F142EE-2225-463E-801E-8F5AC70D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525988"/>
            <a:ext cx="3017520" cy="358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1800">
                <a:solidFill>
                  <a:srgbClr val="245E78"/>
                </a:solidFill>
                <a:latin typeface="Arial"/>
                <a:ea typeface="Arial"/>
                <a:cs typeface="Arial"/>
              </a:rPr>
              <a:t>Filosofia</a:t>
            </a:r>
            <a:endParaRPr sz="18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2D6F41F-A92C-49C5-8774-7348CD9B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4897338"/>
            <a:ext cx="3124200" cy="15162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64">
              <a:alpha val="16000"/>
            </a:srgbClr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13EA68C-175B-417D-892B-A6E46D49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5144988"/>
            <a:ext cx="301752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 b="1">
                <a:solidFill>
                  <a:srgbClr val="082A45"/>
                </a:solidFill>
                <a:latin typeface="Arial"/>
                <a:ea typeface="Arial"/>
                <a:cs typeface="Arial"/>
              </a:rPr>
              <a:t>Sentido</a:t>
            </a:r>
            <a:endParaRPr sz="19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460515E-007F-4DD9-920B-BE15D02A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5525988"/>
            <a:ext cx="3017520" cy="358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1800">
                <a:solidFill>
                  <a:srgbClr val="245E78"/>
                </a:solidFill>
                <a:latin typeface="Arial"/>
                <a:ea typeface="Arial"/>
                <a:cs typeface="Arial"/>
              </a:rPr>
              <a:t>Espiritualidade</a:t>
            </a:r>
            <a:endParaRPr sz="18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18496C6-78E2-476A-A3EC-A1BD0948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56499"/>
            <a:ext cx="15716250" cy="434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305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8667"/>
              </a:lnSpc>
              <a:buNone/>
            </a:pPr>
            <a:r>
              <a:rPr sz="1950">
                <a:solidFill>
                  <a:srgbClr val="173F52"/>
                </a:solidFill>
                <a:latin typeface="Arial"/>
                <a:ea typeface="Arial"/>
                <a:cs typeface="Arial"/>
              </a:rPr>
              <a:t>Essas linguagens não são equivalentes nem substituem umas às outras. Em diálogo, ampliam a compreensão sem impor uma explicação única.</a:t>
            </a:r>
            <a:endParaRPr sz="1950"/>
          </a:p>
        </p:txBody>
      </p:sp>
    </p:spTree>
    <p:extLst>
      <p:ext uri="{BB962C8B-B14F-4D97-AF65-F5344CB8AC3E}">
        <p14:creationId xmlns:p14="http://schemas.microsoft.com/office/powerpoint/2010/main" val="12992091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1560FDB-2B0A-477D-8AE8-BD0C169A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58046"/>
            <a:ext cx="17392650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C99A64"/>
                </a:solidFill>
                <a:latin typeface="Arial"/>
                <a:ea typeface="Arial"/>
                <a:cs typeface="Arial"/>
              </a:rPr>
              <a:t>ENSINAMENTO 1 DE 4</a:t>
            </a:r>
            <a:endParaRPr sz="1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7309A17-8D82-4854-91AA-95AC271F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9083"/>
            <a:ext cx="1739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F4EFEA">
                    <a:alpha val="50000"/>
                  </a:srgbClr>
                </a:solidFill>
                <a:latin typeface="Arial"/>
                <a:ea typeface="Arial"/>
                <a:cs typeface="Arial"/>
              </a:rPr>
              <a:t>"Se eu realmente tivesse entendido, eu não repetiria."</a:t>
            </a:r>
            <a:endParaRPr sz="2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76386B0-707E-4BA8-9B03-7CED4C43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43933"/>
            <a:ext cx="13244513" cy="13753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983"/>
              </a:lnSpc>
              <a:buNone/>
            </a:pPr>
            <a:r>
              <a:rPr sz="3900">
                <a:solidFill>
                  <a:srgbClr val="F4EFEA"/>
                </a:solidFill>
                <a:latin typeface="Georgia"/>
                <a:ea typeface="Georgia"/>
                <a:cs typeface="Georgia"/>
              </a:rPr>
              <a:t>Entender é uma condição importante, mas não é a mesma coisa que ter acesso sustentado a uma resposta diferente.</a:t>
            </a:r>
            <a:endParaRPr sz="39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4FEE767-C87B-4CA9-800E-9022701D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62154"/>
            <a:ext cx="1295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78">
              <a:alpha val="35000"/>
            </a:srgbClr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31EFFCB-3F0F-4C60-997D-3D5398AA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90754"/>
            <a:ext cx="1277112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231"/>
              </a:lnSpc>
              <a:buNone/>
            </a:pPr>
            <a:r>
              <a:rPr sz="2100">
                <a:solidFill>
                  <a:srgbClr val="F4EFEA"/>
                </a:solidFill>
                <a:latin typeface="Arial"/>
                <a:ea typeface="Arial"/>
                <a:cs typeface="Arial"/>
              </a:rPr>
              <a:t>Exemplo: alguém sabe que não quer responder a uma crítica no impulso — mas sente calor, tensão e o desejo de se justificar antes de conseguir usar essa compreensão.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6528346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5994520-532A-4AD4-BD3E-125D8B66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29867"/>
            <a:ext cx="17392650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C99A64"/>
                </a:solidFill>
                <a:latin typeface="Arial"/>
                <a:ea typeface="Arial"/>
                <a:cs typeface="Arial"/>
              </a:rPr>
              <a:t>ENSINAMENTO 2 DE 4</a:t>
            </a:r>
            <a:endParaRPr sz="1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D1B9FE0-EA5B-4214-B65A-2393398B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2805"/>
            <a:ext cx="1739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F4EFEA">
                    <a:alpha val="50000"/>
                  </a:srgbClr>
                </a:solidFill>
                <a:latin typeface="Arial"/>
                <a:ea typeface="Arial"/>
                <a:cs typeface="Arial"/>
              </a:rPr>
              <a:t>"Quando reajo assim, perdi todo o meu desenvolvimento."</a:t>
            </a:r>
            <a:endParaRPr sz="2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7608B7B-D5DF-4DEA-A2C2-08C00BE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1571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7935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495"/>
              </a:lnSpc>
              <a:buNone/>
            </a:pPr>
            <a:r>
              <a:rPr sz="3600">
                <a:solidFill>
                  <a:srgbClr val="F4EFEA"/>
                </a:solidFill>
                <a:latin typeface="Georgia"/>
                <a:ea typeface="Georgia"/>
                <a:cs typeface="Georgia"/>
              </a:rPr>
              <a:t>Perder o eixo não apaga o percurso. Capacidades desenvolvidas podem ficar menos acessíveis em certas condições.</a:t>
            </a:r>
            <a:endParaRPr sz="3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5465EB0-0CF8-4D9A-9D49-AB1E2B31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71145"/>
            <a:ext cx="6096000" cy="1443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78">
              <a:alpha val="35000"/>
            </a:srgbClr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0BE0FCC-FB4F-4709-94BC-FE44B0AF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80695"/>
            <a:ext cx="616077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C99A64"/>
                </a:solidFill>
                <a:latin typeface="Arial"/>
                <a:ea typeface="Arial"/>
                <a:cs typeface="Arial"/>
              </a:rPr>
              <a:t>De cima para baixo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42D1220-C5E2-404D-B31C-EF6B1C78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018833"/>
            <a:ext cx="5768721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909"/>
              </a:lnSpc>
              <a:buNone/>
            </a:pPr>
            <a:r>
              <a:rPr sz="1800">
                <a:solidFill>
                  <a:srgbClr val="F4EFEA"/>
                </a:solidFill>
                <a:latin typeface="Arial"/>
                <a:ea typeface="Arial"/>
                <a:cs typeface="Arial"/>
              </a:rPr>
              <a:t>Pensar, interpretar, dar sentido — a mente em direção ao corpo.</a:t>
            </a:r>
            <a:endParaRPr sz="1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CCC1363-CB86-48E9-9FED-B465F3DE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71145"/>
            <a:ext cx="6096000" cy="1443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78">
              <a:alpha val="35000"/>
            </a:srgbClr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153DCFD-9A07-4F28-B847-3330C1B0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80695"/>
            <a:ext cx="616077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C99A64"/>
                </a:solidFill>
                <a:latin typeface="Arial"/>
                <a:ea typeface="Arial"/>
                <a:cs typeface="Arial"/>
              </a:rPr>
              <a:t>De baixo para cima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81B4885-B8E5-4A27-9751-B78EE73E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018833"/>
            <a:ext cx="5768721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909"/>
              </a:lnSpc>
              <a:buNone/>
            </a:pPr>
            <a:r>
              <a:rPr sz="1800">
                <a:solidFill>
                  <a:srgbClr val="F4EFEA"/>
                </a:solidFill>
                <a:latin typeface="Arial"/>
                <a:ea typeface="Arial"/>
                <a:cs typeface="Arial"/>
              </a:rPr>
              <a:t>Respiração, orientação, sensação — o corpo em direção à mente.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892247D-4083-4F55-B1B0-A6C7FD32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96125"/>
            <a:ext cx="1276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909"/>
              </a:lnSpc>
              <a:buNone/>
            </a:pPr>
            <a:r>
              <a:rPr sz="1800">
                <a:solidFill>
                  <a:srgbClr val="C99A64"/>
                </a:solidFill>
                <a:latin typeface="Arial"/>
                <a:ea typeface="Arial"/>
                <a:cs typeface="Arial"/>
              </a:rPr>
              <a:t>Em algumas ativações, a orientação corporal pode facilitar o acesso a recursos que a explicação intelectual, sozinha, não disponibiliza naquele momento.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8755230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8CC1FB1-2F8D-44FB-9029-0188499B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58046"/>
            <a:ext cx="17392650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C99A64"/>
                </a:solidFill>
                <a:latin typeface="Arial"/>
                <a:ea typeface="Arial"/>
                <a:cs typeface="Arial"/>
              </a:rPr>
              <a:t>ENSINAMENTO 3 DE 4</a:t>
            </a:r>
            <a:endParaRPr sz="1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CA584F-7BD1-4C2E-ABB3-4DA8BBE9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9083"/>
            <a:ext cx="1739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F4EFEA">
                    <a:alpha val="50000"/>
                  </a:srgbClr>
                </a:solidFill>
                <a:latin typeface="Arial"/>
                <a:ea typeface="Arial"/>
                <a:cs typeface="Arial"/>
              </a:rPr>
              <a:t>"Se eu sinto com intensidade, minha interpretação é o fato."</a:t>
            </a:r>
            <a:endParaRPr sz="2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308A690-4330-4F4B-AE4D-8FB26FE4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43933"/>
            <a:ext cx="13244513" cy="13753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983"/>
              </a:lnSpc>
              <a:buNone/>
            </a:pPr>
            <a:r>
              <a:rPr sz="3900">
                <a:solidFill>
                  <a:srgbClr val="F4EFEA"/>
                </a:solidFill>
                <a:latin typeface="Georgia"/>
                <a:ea typeface="Georgia"/>
                <a:cs typeface="Georgia"/>
              </a:rPr>
              <a:t>O sentimento é real como experiência — mas a interpretação que o acompanha ainda pode ser examinada.</a:t>
            </a:r>
            <a:endParaRPr sz="39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35CF06-A04B-4088-BD10-FB7009E8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62154"/>
            <a:ext cx="1295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78">
              <a:alpha val="35000"/>
            </a:srgbClr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DF812B3-91D9-4773-B409-4BBA400E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90754"/>
            <a:ext cx="1277112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231"/>
              </a:lnSpc>
              <a:buNone/>
            </a:pPr>
            <a:r>
              <a:rPr sz="2100">
                <a:solidFill>
                  <a:srgbClr val="F4EFEA"/>
                </a:solidFill>
                <a:latin typeface="Arial"/>
                <a:ea typeface="Arial"/>
                <a:cs typeface="Arial"/>
              </a:rPr>
              <a:t>Antes de mudar a resposta, traduza o que está misturado: o fato, o corpo, a emoção, a interpretação, a história e a necessidade.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9741236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5E81B86-8E2A-48B3-B5E3-7B96E209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3256"/>
            <a:ext cx="17811750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245E78"/>
                </a:solidFill>
                <a:latin typeface="Arial"/>
                <a:ea typeface="Arial"/>
                <a:cs typeface="Arial"/>
              </a:rPr>
              <a:t>UMA PERGUNTA FREQUENTE</a:t>
            </a:r>
            <a:endParaRPr sz="1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BB224A-62D6-4681-A873-8A13DABF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6194"/>
            <a:ext cx="14668500" cy="5857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300">
                <a:solidFill>
                  <a:srgbClr val="082A45"/>
                </a:solidFill>
                <a:latin typeface="Georgia"/>
                <a:ea typeface="Georgia"/>
                <a:cs typeface="Georgia"/>
              </a:rPr>
              <a:t>Antes de concluir: é intuição ou hipervigilância?</a:t>
            </a:r>
            <a:endParaRPr sz="3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A5C7AD3-0E90-49A6-9757-913703F5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26781"/>
            <a:ext cx="19050" cy="2557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64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82D8990-65AA-47CB-8BA3-4DA4911C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93481"/>
            <a:ext cx="8465820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245E78"/>
                </a:solidFill>
                <a:latin typeface="Arial"/>
                <a:ea typeface="Arial"/>
                <a:cs typeface="Arial"/>
              </a:rPr>
              <a:t>Intuição</a:t>
            </a:r>
            <a:endParaRPr sz="2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9F4BC5E-3EF0-4E33-A452-A3209148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93544"/>
            <a:ext cx="7927086" cy="1562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7931"/>
              </a:lnSpc>
              <a:buNone/>
            </a:pPr>
            <a:r>
              <a:rPr sz="1875">
                <a:solidFill>
                  <a:srgbClr val="082A45"/>
                </a:solidFill>
                <a:latin typeface="Arial"/>
                <a:ea typeface="Arial"/>
                <a:cs typeface="Arial"/>
              </a:rPr>
              <a:t>Pode aparecer como uma percepção relativamente clara e estável. Ainda assim, precisa ser investigada no contexto, nas informações disponíveis e no que se modifica depois de uma pausa.</a:t>
            </a:r>
            <a:endParaRPr sz="1875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E766CE8-5A74-4274-8009-254A0A4F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93481"/>
            <a:ext cx="8486775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C99A64"/>
                </a:solidFill>
                <a:latin typeface="Arial"/>
                <a:ea typeface="Arial"/>
                <a:cs typeface="Arial"/>
              </a:rPr>
              <a:t>Hipervigilância</a:t>
            </a:r>
            <a:endParaRPr sz="2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6D090-1A62-454C-96EA-DAA5A943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93544"/>
            <a:ext cx="7946708" cy="1562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7931"/>
              </a:lnSpc>
              <a:buNone/>
            </a:pPr>
            <a:r>
              <a:rPr sz="1875">
                <a:solidFill>
                  <a:srgbClr val="082A45"/>
                </a:solidFill>
                <a:latin typeface="Arial"/>
                <a:ea typeface="Arial"/>
                <a:cs typeface="Arial"/>
              </a:rPr>
              <a:t>Pode aparecer como urgência, ameaça e antecipação de perigo. Esses sinais também são pistas para investigação, não uma confirmação automática de sua origem.</a:t>
            </a:r>
            <a:endParaRPr sz="1875"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02BE4-D54E-4942-99C5-DE056FB2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429500"/>
            <a:ext cx="1619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5E78"/>
                </a:solidFill>
              </a:defRPr>
            </a:pPr>
            <a:r>
              <a:rPr sz="1500" b="1">
                <a:solidFill>
                  <a:srgbClr val="245E78"/>
                </a:solidFill>
              </a:rPr>
              <a:t>Pistas de investigação — não são diagnóstico nem confirmação automática.</a:t>
            </a:r>
          </a:p>
        </p:txBody>
      </p:sp>
    </p:spTree>
    <p:extLst>
      <p:ext uri="{BB962C8B-B14F-4D97-AF65-F5344CB8AC3E}">
        <p14:creationId xmlns:p14="http://schemas.microsoft.com/office/powerpoint/2010/main" val="1425369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114D53-7B13-4166-8A97-0A3EDE88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17811750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245E78"/>
                </a:solidFill>
                <a:latin typeface="Arial"/>
                <a:ea typeface="Arial"/>
                <a:cs typeface="Arial"/>
              </a:rPr>
              <a:t>APLICAÇÃO BREVE — ESCOLHA UMA SITUAÇÃO LEVE OU MODERADA</a:t>
            </a:r>
            <a:endParaRPr sz="1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99712E0-B29C-42A4-92EF-0C668863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2338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50">
                <a:solidFill>
                  <a:srgbClr val="C99A64"/>
                </a:solidFill>
                <a:latin typeface="Georgia"/>
                <a:ea typeface="Georgia"/>
                <a:cs typeface="Georgia"/>
              </a:rPr>
              <a:t>1</a:t>
            </a:r>
            <a:endParaRPr sz="25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C2B5299-04BC-4CCF-A266-D8FEDEC4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29013"/>
            <a:ext cx="4558613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082A45"/>
                </a:solidFill>
                <a:latin typeface="Arial"/>
                <a:ea typeface="Arial"/>
                <a:cs typeface="Arial"/>
              </a:rPr>
              <a:t>O que aconteceu de observável?</a:t>
            </a:r>
            <a:endParaRPr sz="2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E903331-7BBF-4E5B-8F2F-E7E35FAB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3837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50">
                <a:solidFill>
                  <a:srgbClr val="C99A64"/>
                </a:solidFill>
                <a:latin typeface="Georgia"/>
                <a:ea typeface="Georgia"/>
                <a:cs typeface="Georgia"/>
              </a:rPr>
              <a:t>2</a:t>
            </a:r>
            <a:endParaRPr sz="2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18A5D50-78BA-49D2-8A66-30DC6297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00513"/>
            <a:ext cx="4420523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082A45"/>
                </a:solidFill>
                <a:latin typeface="Arial"/>
                <a:ea typeface="Arial"/>
                <a:cs typeface="Arial"/>
              </a:rPr>
              <a:t>O que percebo no corpo agora?</a:t>
            </a:r>
            <a:endParaRPr sz="2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BB25638-DB83-4482-BE16-16C77485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5338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50">
                <a:solidFill>
                  <a:srgbClr val="C99A64"/>
                </a:solidFill>
                <a:latin typeface="Georgia"/>
                <a:ea typeface="Georgia"/>
                <a:cs typeface="Georgia"/>
              </a:rPr>
              <a:t>3</a:t>
            </a:r>
            <a:endParaRPr sz="2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44E92F-13C2-4C98-8AC5-EEA21E8E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72013"/>
            <a:ext cx="6409611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082A45"/>
                </a:solidFill>
                <a:latin typeface="Arial"/>
                <a:ea typeface="Arial"/>
                <a:cs typeface="Arial"/>
              </a:rPr>
              <a:t>O que estou sentindo e qual impulso aparece?</a:t>
            </a:r>
            <a:endParaRPr sz="2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26BE478-915E-4B6D-BB5F-1F4466F5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76838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50">
                <a:solidFill>
                  <a:srgbClr val="C99A64"/>
                </a:solidFill>
                <a:latin typeface="Georgia"/>
                <a:ea typeface="Georgia"/>
                <a:cs typeface="Georgia"/>
              </a:rPr>
              <a:t>4</a:t>
            </a:r>
            <a:endParaRPr sz="25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77BF64-1FAE-4978-AAC4-471A5DC6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43513"/>
            <a:ext cx="9180991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082A45"/>
                </a:solidFill>
                <a:latin typeface="Arial"/>
                <a:ea typeface="Arial"/>
                <a:cs typeface="Arial"/>
              </a:rPr>
              <a:t>Que história ou interpretação pode estar se juntando ao presente?</a:t>
            </a:r>
            <a:endParaRPr sz="2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599B9EA-9E23-408D-9BE1-416714EA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48338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50">
                <a:solidFill>
                  <a:srgbClr val="C99A64"/>
                </a:solidFill>
                <a:latin typeface="Georgia"/>
                <a:ea typeface="Georgia"/>
                <a:cs typeface="Georgia"/>
              </a:rPr>
              <a:t>5</a:t>
            </a:r>
            <a:endParaRPr sz="25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6B8BAE1-B701-435D-85C7-05DA1992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815013"/>
            <a:ext cx="9129177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082A45"/>
                </a:solidFill>
                <a:latin typeface="Arial"/>
                <a:ea typeface="Arial"/>
                <a:cs typeface="Arial"/>
              </a:rPr>
              <a:t>O que importa aqui e qual é o próximo passo pequeno e possível?</a:t>
            </a:r>
            <a:endParaRPr sz="21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7997878-D6BF-4C57-ABFA-59F5401E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2238"/>
            <a:ext cx="16192500" cy="1109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64">
              <a:alpha val="18000"/>
            </a:srgbClr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9173A4A-B2D3-4DFB-ABDB-8326EFF6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681788"/>
            <a:ext cx="1722501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73F52"/>
                </a:solidFill>
                <a:latin typeface="Arial"/>
                <a:ea typeface="Arial"/>
                <a:cs typeface="Arial"/>
              </a:rPr>
              <a:t>Recurso rápido, se precisar de apoio para responder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99B76C6-8509-4959-8C7C-81A0228C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000875"/>
            <a:ext cx="1722501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950">
                <a:solidFill>
                  <a:srgbClr val="082A45"/>
                </a:solidFill>
                <a:latin typeface="Arial"/>
                <a:ea typeface="Arial"/>
                <a:cs typeface="Arial"/>
              </a:rPr>
              <a:t>Sinta 3 pontos de apoio: os pés no chão, o quadril no assento, as costas no encosto.</a:t>
            </a:r>
            <a:endParaRPr sz="1950"/>
          </a:p>
        </p:txBody>
      </p:sp>
    </p:spTree>
    <p:extLst>
      <p:ext uri="{BB962C8B-B14F-4D97-AF65-F5344CB8AC3E}">
        <p14:creationId xmlns:p14="http://schemas.microsoft.com/office/powerpoint/2010/main" val="20251399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8587659-7979-4B9B-A439-D3BD2814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58046"/>
            <a:ext cx="17392650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C99A64"/>
                </a:solidFill>
                <a:latin typeface="Arial"/>
                <a:ea typeface="Arial"/>
                <a:cs typeface="Arial"/>
              </a:rPr>
              <a:t>ENSINAMENTO 4 DE 4</a:t>
            </a:r>
            <a:endParaRPr sz="1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BA3CC4-8E0B-48BD-829E-D92ED885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9083"/>
            <a:ext cx="1739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F4EFEA">
                    <a:alpha val="50000"/>
                  </a:srgbClr>
                </a:solidFill>
                <a:latin typeface="Arial"/>
                <a:ea typeface="Arial"/>
                <a:cs typeface="Arial"/>
              </a:rPr>
              <a:t>"Para responder bem, preciso deixar de sentir antes."</a:t>
            </a:r>
            <a:endParaRPr sz="2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F6A52-B7F7-4876-9494-8DD74F0A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43933"/>
            <a:ext cx="13244513" cy="13753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983"/>
              </a:lnSpc>
              <a:buNone/>
            </a:pPr>
            <a:r>
              <a:rPr sz="3900">
                <a:solidFill>
                  <a:srgbClr val="F4EFEA"/>
                </a:solidFill>
                <a:latin typeface="Georgia"/>
                <a:ea typeface="Georgia"/>
                <a:cs typeface="Georgia"/>
              </a:rPr>
              <a:t>Perder o eixo não significa perder o percurso. EIXO é reconhecer, retornar e orientar — não controlar tudo.</a:t>
            </a:r>
            <a:endParaRPr sz="39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C6C08F3-A674-4100-92F9-2A735DF1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62154"/>
            <a:ext cx="1295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78">
              <a:alpha val="35000"/>
            </a:srgbClr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497ED3F-48C3-40F2-B72E-D12F9FF6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90754"/>
            <a:ext cx="1277112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231"/>
              </a:lnSpc>
              <a:buNone/>
            </a:pPr>
            <a:r>
              <a:rPr sz="2100">
                <a:solidFill>
                  <a:srgbClr val="F4EFEA"/>
                </a:solidFill>
                <a:latin typeface="Arial"/>
                <a:ea typeface="Arial"/>
                <a:cs typeface="Arial"/>
              </a:rPr>
              <a:t>Uma resposta mais coerente pode começar enquanto ainda existe desconforto, desde que haja reconhecimento e orientação suficientes.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69143460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B8175D2-ADE4-41AC-9CD3-0F22DE34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45E78">
                  <a:alpha val="100000"/>
                </a:srgbClr>
              </a:gs>
              <a:gs pos="45000">
                <a:srgbClr val="173F52">
                  <a:alpha val="100000"/>
                </a:srgbClr>
              </a:gs>
              <a:gs pos="100000">
                <a:srgbClr val="082A45">
                  <a:alpha val="100000"/>
                </a:srgbClr>
              </a:gs>
            </a:gsLst>
            <a:lin ang="4200000" scaled="0"/>
          </a:gra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7D27C16-714F-46F6-BED3-999F12E8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50431"/>
            <a:ext cx="17392650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C99A64"/>
                </a:solidFill>
                <a:latin typeface="Arial"/>
                <a:ea typeface="Arial"/>
                <a:cs typeface="Arial"/>
              </a:rPr>
              <a:t>O QUE FICA DESTA PARTE</a:t>
            </a:r>
            <a:endParaRPr sz="1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B7C8E5-1946-48D3-9F1E-5E5B8229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69569"/>
            <a:ext cx="17392650" cy="5381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>
                <a:solidFill>
                  <a:srgbClr val="F4EFEA"/>
                </a:solidFill>
                <a:latin typeface="Georgia"/>
                <a:ea typeface="Georgia"/>
                <a:cs typeface="Georgia"/>
              </a:rPr>
              <a:t>Compreender não é o mesmo que acessar.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B3DE11D-847D-4700-81D0-229EAFE5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5381"/>
            <a:ext cx="17392650" cy="5381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>
                <a:solidFill>
                  <a:srgbClr val="F4EFEA"/>
                </a:solidFill>
                <a:latin typeface="Georgia"/>
                <a:ea typeface="Georgia"/>
                <a:cs typeface="Georgia"/>
              </a:rPr>
              <a:t>A ativação pode alterar o acesso sem apagar todo o desenvolvimento.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6BCF78B-1E99-41CD-B0F5-E8C6CD78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41194"/>
            <a:ext cx="17392650" cy="5381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>
                <a:solidFill>
                  <a:srgbClr val="F4EFEA"/>
                </a:solidFill>
                <a:latin typeface="Georgia"/>
                <a:ea typeface="Georgia"/>
                <a:cs typeface="Georgia"/>
              </a:rPr>
              <a:t>Traduzir é diferenciar o que ficou misturado.</a:t>
            </a:r>
            <a:endParaRPr sz="3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15165EA-0409-4E25-8B17-0A273B23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527006"/>
            <a:ext cx="17392650" cy="5381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>
                <a:solidFill>
                  <a:srgbClr val="F4EFEA"/>
                </a:solidFill>
                <a:latin typeface="Georgia"/>
                <a:ea typeface="Georgia"/>
                <a:cs typeface="Georgia"/>
              </a:rPr>
              <a:t>EIXO é reconhecer, retornar e orientar — não controlar tudo.</a:t>
            </a:r>
            <a:endParaRPr sz="3000"/>
          </a:p>
        </p:txBody>
      </p:sp>
    </p:spTree>
    <p:extLst>
      <p:ext uri="{BB962C8B-B14F-4D97-AF65-F5344CB8AC3E}">
        <p14:creationId xmlns:p14="http://schemas.microsoft.com/office/powerpoint/2010/main" val="453532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8A87B65-E6EC-4411-A646-F090AAD5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1397"/>
            <a:ext cx="1760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600">
                <a:solidFill>
                  <a:srgbClr val="082A45"/>
                </a:solidFill>
                <a:latin typeface="Georgia"/>
                <a:ea typeface="Georgia"/>
                <a:cs typeface="Georgia"/>
              </a:rPr>
              <a:t>Como a mudança pode começar a aparecer</a:t>
            </a:r>
            <a:endParaRPr sz="3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ADCE0B8-2595-4935-A0FE-4B791A9A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78672"/>
            <a:ext cx="19050" cy="1996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64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DB5AA27-0F4B-48BA-AAF0-BCD062C7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1572"/>
            <a:ext cx="825627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 b="1">
                <a:solidFill>
                  <a:srgbClr val="245E78"/>
                </a:solidFill>
                <a:latin typeface="Arial"/>
                <a:ea typeface="Arial"/>
                <a:cs typeface="Arial"/>
              </a:rPr>
              <a:t>Antes</a:t>
            </a:r>
            <a:endParaRPr sz="1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D8176BD-C8A2-49A5-80BF-38844ECD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78772"/>
            <a:ext cx="7730871" cy="89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7846"/>
              </a:lnSpc>
              <a:buNone/>
            </a:pPr>
            <a:r>
              <a:rPr sz="2100">
                <a:solidFill>
                  <a:srgbClr val="082A45"/>
                </a:solidFill>
                <a:latin typeface="Arial"/>
                <a:ea typeface="Arial"/>
                <a:cs typeface="Arial"/>
              </a:rPr>
              <a:t>Reage e só entende depois. Culpa-se por repetir o que já conhecia.</a:t>
            </a:r>
            <a:endParaRPr sz="2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46354B-71CA-490D-A024-07CCD340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21572"/>
            <a:ext cx="8277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 b="1">
                <a:solidFill>
                  <a:srgbClr val="C99A64"/>
                </a:solidFill>
                <a:latin typeface="Arial"/>
                <a:ea typeface="Arial"/>
                <a:cs typeface="Arial"/>
              </a:rPr>
              <a:t>Depois</a:t>
            </a:r>
            <a:endParaRPr sz="19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F77B79E-1713-4226-86E4-615E6C45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78772"/>
            <a:ext cx="7750492" cy="89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7846"/>
              </a:lnSpc>
              <a:buNone/>
            </a:pPr>
            <a:r>
              <a:rPr sz="2100">
                <a:solidFill>
                  <a:srgbClr val="082A45"/>
                </a:solidFill>
                <a:latin typeface="Arial"/>
                <a:ea typeface="Arial"/>
                <a:cs typeface="Arial"/>
              </a:rPr>
              <a:t>Percebe mais cedo, cria um intervalo, comunica com menos acusação e repara com mais clareza.</a:t>
            </a:r>
            <a:endParaRPr sz="2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8D5653A-4DA0-45A0-8495-AA6446E0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32253"/>
            <a:ext cx="1760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0741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i="1">
                <a:solidFill>
                  <a:srgbClr val="173F52"/>
                </a:solidFill>
                <a:latin typeface="Georgia"/>
                <a:ea typeface="Georgia"/>
                <a:cs typeface="Georgia"/>
              </a:rPr>
              <a:t>A transformação pode aparecer como aumento de acesso e de escolha, não como eliminação da experiência humana.</a:t>
            </a:r>
            <a:endParaRPr sz="2250"/>
          </a:p>
        </p:txBody>
      </p:sp>
    </p:spTree>
    <p:extLst>
      <p:ext uri="{BB962C8B-B14F-4D97-AF65-F5344CB8AC3E}">
        <p14:creationId xmlns:p14="http://schemas.microsoft.com/office/powerpoint/2010/main" val="10635443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D49E4FD-4FDE-4457-B101-9421EA36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75261"/>
            <a:ext cx="10591800" cy="1950690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F4EFEA"/>
          </a:solidFill>
          <a:effectLst xmlns:a="http://schemas.openxmlformats.org/drawingml/2006/main">
            <a:outerShdw blurRad="666750" dist="28575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8B9DC06-B1F2-4EA3-A846-FBD59D3B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32461"/>
            <a:ext cx="9810750" cy="10743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3203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1299"/>
              </a:lnSpc>
              <a:buNone/>
            </a:pPr>
            <a:r>
              <a:rPr sz="2550" i="1">
                <a:solidFill>
                  <a:srgbClr val="082A45"/>
                </a:solidFill>
                <a:latin typeface="Georgia"/>
                <a:ea typeface="Georgia"/>
                <a:cs typeface="Georgia"/>
              </a:rPr>
              <a:t>“Eu sabia que a demora não era prova de rejeição. Quando separei o fato do medo, encontrei uma forma diferente de responder.”</a:t>
            </a:r>
            <a:endParaRPr sz="25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BC665B1-2878-4B9A-A70E-0775D0F1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709" y="6130751"/>
            <a:ext cx="7878507" cy="319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780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C99A64"/>
                </a:solidFill>
                <a:latin typeface="Arial"/>
                <a:ea typeface="Arial"/>
                <a:cs typeface="Arial"/>
              </a:rPr>
              <a:t>Exemplo ilustrativo — situação composta; não é depoimento de aluno.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8584624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C2BA200-D977-4E93-A484-CDC48629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A45">
              <a:alpha val="12000"/>
            </a:srgbClr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3073DCB-8F70-45E7-823B-38EB93EC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8161973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73F52"/>
                </a:solidFill>
                <a:latin typeface="Arial"/>
                <a:ea typeface="Arial"/>
                <a:cs typeface="Arial"/>
              </a:rPr>
              <a:t>O CURSO É</a:t>
            </a:r>
            <a:endParaRPr sz="2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92C91B-E58F-4EEE-978A-B2BBC3A5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8763"/>
            <a:ext cx="7642574" cy="18514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6462"/>
              </a:lnSpc>
              <a:buNone/>
            </a:pPr>
            <a:r>
              <a:rPr sz="2100">
                <a:solidFill>
                  <a:srgbClr val="082A45"/>
                </a:solidFill>
                <a:latin typeface="Arial"/>
                <a:ea typeface="Arial"/>
                <a:cs typeface="Arial"/>
              </a:rPr>
              <a:t>Uma formação educacional online para compreender, organizar e integrar a experiência humana — transformando compreensão acumulada em recursos disponíveis para a vida cotidiana.</a:t>
            </a:r>
            <a:endParaRPr sz="2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FD00172-6D78-41B2-B062-A54A9511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0"/>
            <a:ext cx="8172450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C99A64"/>
                </a:solidFill>
                <a:latin typeface="Arial"/>
                <a:ea typeface="Arial"/>
                <a:cs typeface="Arial"/>
              </a:rPr>
              <a:t>O CURSO NÃO É</a:t>
            </a:r>
            <a:endParaRPr sz="2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DD7F87-8CAE-446A-AEA6-3D765B42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8763"/>
            <a:ext cx="7652385" cy="13980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581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6462"/>
              </a:lnSpc>
              <a:buNone/>
            </a:pPr>
            <a:r>
              <a:rPr sz="2100">
                <a:solidFill>
                  <a:srgbClr val="082A45"/>
                </a:solidFill>
                <a:latin typeface="Arial"/>
                <a:ea typeface="Arial"/>
                <a:cs typeface="Arial"/>
              </a:rPr>
              <a:t>Psicoterapia, diagnóstico, atendimento clínico ou formação profissional. Também não promete controle permanente sobre emoções e padrões.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39965126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8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4F88EB0-89B2-416A-8F26-926EF1ED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1344"/>
            <a:ext cx="18021300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C99A64"/>
                </a:solidFill>
                <a:latin typeface="Arial"/>
                <a:ea typeface="Arial"/>
                <a:cs typeface="Arial"/>
              </a:rPr>
              <a:t>9 MÓDULOS · 54 AULAS CURTAS E PROGRESSIVAS</a:t>
            </a:r>
            <a:endParaRPr sz="195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079E499-4431-4265-884E-3EF5A507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2381"/>
            <a:ext cx="53593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A">
              <a:alpha val="7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AA3C6E4-EE9E-42ED-93E9-4487564A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21931"/>
            <a:ext cx="5392393" cy="319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C99A64"/>
                </a:solidFill>
                <a:latin typeface="Arial"/>
                <a:ea typeface="Arial"/>
                <a:cs typeface="Arial"/>
              </a:rPr>
              <a:t>Módulo 0</a:t>
            </a:r>
            <a:endParaRPr sz="1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4FD1DA5-C8E3-4FDF-BDD9-0D8B6DD8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79119"/>
            <a:ext cx="5392393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668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F4EFEA"/>
                </a:solidFill>
                <a:latin typeface="Arial"/>
                <a:ea typeface="Arial"/>
                <a:cs typeface="Arial"/>
              </a:rPr>
              <a:t>Boas-vindas e orientação</a:t>
            </a:r>
            <a:endParaRPr sz="19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5E104BB-7F8D-45E3-9E4D-D8DC29E4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275" y="3812381"/>
            <a:ext cx="53593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A">
              <a:alpha val="7000"/>
            </a:srgbClr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B5F5783-DFF5-40C1-A28F-5C00B6D0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875" y="4021931"/>
            <a:ext cx="5392393" cy="319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C99A64"/>
                </a:solidFill>
                <a:latin typeface="Arial"/>
                <a:ea typeface="Arial"/>
                <a:cs typeface="Arial"/>
              </a:rPr>
              <a:t>Módulo 1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BE4C501-A5DB-4AE7-94D4-500FFB1B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875" y="4379119"/>
            <a:ext cx="5392393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F4EFEA"/>
                </a:solidFill>
                <a:latin typeface="Arial"/>
                <a:ea typeface="Arial"/>
                <a:cs typeface="Arial"/>
              </a:rPr>
              <a:t>Traduzindo a experiência</a:t>
            </a:r>
            <a:endParaRPr sz="19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8501C3C-E067-448C-BA32-F8685C7B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6050" y="3812381"/>
            <a:ext cx="53594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A">
              <a:alpha val="7000"/>
            </a:srgbClr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B27F795-E8D3-4969-9F68-306962B3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650" y="4021931"/>
            <a:ext cx="5392475" cy="319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C99A64"/>
                </a:solidFill>
                <a:latin typeface="Arial"/>
                <a:ea typeface="Arial"/>
                <a:cs typeface="Arial"/>
              </a:rPr>
              <a:t>Módulo 2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94F2E86-EE46-43BF-8213-0BD53887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650" y="4379119"/>
            <a:ext cx="5392475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F4EFEA"/>
                </a:solidFill>
                <a:latin typeface="Arial"/>
                <a:ea typeface="Arial"/>
                <a:cs typeface="Arial"/>
              </a:rPr>
              <a:t>Traduzir sem reduzir</a:t>
            </a:r>
            <a:endParaRPr sz="1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918CF74-83EA-4245-BE85-8C65C580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1106"/>
            <a:ext cx="53593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A">
              <a:alpha val="7000"/>
            </a:srgbClr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7F034B5-A025-4B17-80DC-501C3A3C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50656"/>
            <a:ext cx="5392393" cy="319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C99A64"/>
                </a:solidFill>
                <a:latin typeface="Arial"/>
                <a:ea typeface="Arial"/>
                <a:cs typeface="Arial"/>
              </a:rPr>
              <a:t>Módulo 3</a:t>
            </a:r>
            <a:endParaRPr sz="1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52632DC-847C-4CBC-B671-8DF5C2FF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07844"/>
            <a:ext cx="5392393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F4EFEA"/>
                </a:solidFill>
                <a:latin typeface="Arial"/>
                <a:ea typeface="Arial"/>
                <a:cs typeface="Arial"/>
              </a:rPr>
              <a:t>O corpo como apoio</a:t>
            </a:r>
            <a:endParaRPr sz="19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E17B163-1AD6-4F34-BED3-064DDEA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275" y="5041106"/>
            <a:ext cx="53593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A">
              <a:alpha val="7000"/>
            </a:srgbClr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90B1E92-2C26-439B-9A52-6A6E9FDA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875" y="5250656"/>
            <a:ext cx="5392393" cy="319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C99A64"/>
                </a:solidFill>
                <a:latin typeface="Arial"/>
                <a:ea typeface="Arial"/>
                <a:cs typeface="Arial"/>
              </a:rPr>
              <a:t>Módulo 4</a:t>
            </a:r>
            <a:endParaRPr sz="1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F14D161-AEE1-4A69-8CAA-EE85794B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875" y="5607844"/>
            <a:ext cx="5392393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F4EFEA"/>
                </a:solidFill>
                <a:latin typeface="Arial"/>
                <a:ea typeface="Arial"/>
                <a:cs typeface="Arial"/>
              </a:rPr>
              <a:t>Diferenciar emoções e padrões</a:t>
            </a:r>
            <a:endParaRPr sz="1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E675B72-DE73-4440-A66F-C1485F42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6050" y="5041106"/>
            <a:ext cx="53594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A">
              <a:alpha val="7000"/>
            </a:srgbClr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FC788F4-5138-4E1B-B697-F38127DC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650" y="5250656"/>
            <a:ext cx="5392475" cy="319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C99A64"/>
                </a:solidFill>
                <a:latin typeface="Arial"/>
                <a:ea typeface="Arial"/>
                <a:cs typeface="Arial"/>
              </a:rPr>
              <a:t>Módulo 5</a:t>
            </a:r>
            <a:endParaRPr sz="1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DE58C62-D848-4000-A5C7-DA4E7C92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650" y="5607844"/>
            <a:ext cx="5392475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F4EFEA"/>
                </a:solidFill>
                <a:latin typeface="Arial"/>
                <a:ea typeface="Arial"/>
                <a:cs typeface="Arial"/>
              </a:rPr>
              <a:t>Valores e referência profunda</a:t>
            </a:r>
            <a:endParaRPr sz="19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2EF5DC1-07B9-4215-ADBC-7A33CD18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69831"/>
            <a:ext cx="53593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A">
              <a:alpha val="7000"/>
            </a:srgbClr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96008A6-60AB-418B-AE4D-A6190B85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79381"/>
            <a:ext cx="5392393" cy="319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C99A64"/>
                </a:solidFill>
                <a:latin typeface="Arial"/>
                <a:ea typeface="Arial"/>
                <a:cs typeface="Arial"/>
              </a:rPr>
              <a:t>Módulo 6</a:t>
            </a:r>
            <a:endParaRPr sz="18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3E97E7B-66F6-432A-BA55-AEFDC159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836569"/>
            <a:ext cx="5392393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F4EFEA"/>
                </a:solidFill>
                <a:latin typeface="Arial"/>
                <a:ea typeface="Arial"/>
                <a:cs typeface="Arial"/>
              </a:rPr>
              <a:t>Integrar as diferenças</a:t>
            </a:r>
            <a:endParaRPr sz="19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68DD25D-4C18-4625-B750-F8C65A3C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275" y="6269831"/>
            <a:ext cx="53593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A">
              <a:alpha val="7000"/>
            </a:srgbClr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482A2FA-6DE0-4576-B84C-F18320CE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875" y="6479381"/>
            <a:ext cx="5392393" cy="319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C99A64"/>
                </a:solidFill>
                <a:latin typeface="Arial"/>
                <a:ea typeface="Arial"/>
                <a:cs typeface="Arial"/>
              </a:rPr>
              <a:t>Módulo 7</a:t>
            </a:r>
            <a:endParaRPr sz="1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C5123B2-70D9-49A9-9FCC-DFC4F1AE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875" y="6836569"/>
            <a:ext cx="5392393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F4EFEA"/>
                </a:solidFill>
                <a:latin typeface="Arial"/>
                <a:ea typeface="Arial"/>
                <a:cs typeface="Arial"/>
              </a:rPr>
              <a:t>Relações, limites e reparação</a:t>
            </a:r>
            <a:endParaRPr sz="19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8E9E96A-683A-46ED-8824-F231EFFA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6050" y="6269831"/>
            <a:ext cx="53594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64">
              <a:alpha val="18000"/>
            </a:srgbClr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1D57BEE-7F72-4959-AF50-2E7C9652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650" y="6479381"/>
            <a:ext cx="5392475" cy="319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C99A64"/>
                </a:solidFill>
                <a:latin typeface="Arial"/>
                <a:ea typeface="Arial"/>
                <a:cs typeface="Arial"/>
              </a:rPr>
              <a:t>Módulo 8</a:t>
            </a:r>
            <a:endParaRPr sz="18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8C0A6A1-B66C-407D-B540-80E434D5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650" y="6836569"/>
            <a:ext cx="5392475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F4EFEA"/>
                </a:solidFill>
                <a:latin typeface="Arial"/>
                <a:ea typeface="Arial"/>
                <a:cs typeface="Arial"/>
              </a:rPr>
              <a:t>Conclusão e continuidade</a:t>
            </a:r>
            <a:endParaRPr sz="1950"/>
          </a:p>
        </p:txBody>
      </p:sp>
    </p:spTree>
    <p:extLst>
      <p:ext uri="{BB962C8B-B14F-4D97-AF65-F5344CB8AC3E}">
        <p14:creationId xmlns:p14="http://schemas.microsoft.com/office/powerpoint/2010/main" val="10276297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868084-02FF-4EF6-9D59-FD1D5F6D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7544"/>
            <a:ext cx="1781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50">
                <a:solidFill>
                  <a:srgbClr val="082A45"/>
                </a:solidFill>
                <a:latin typeface="Georgia"/>
                <a:ea typeface="Georgia"/>
                <a:cs typeface="Georgia"/>
              </a:rPr>
              <a:t>O que você recebe</a:t>
            </a:r>
            <a:endParaRPr sz="345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94321E7-1BB3-4D80-8EBD-AC883127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83906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A45">
              <a:alpha val="12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D9B2770-80CB-4F41-95A7-F1FC6FD0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83844"/>
            <a:ext cx="4400550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245E78"/>
                </a:solidFill>
                <a:latin typeface="Arial"/>
                <a:ea typeface="Arial"/>
                <a:cs typeface="Arial"/>
              </a:rPr>
              <a:t>Curso — 9 módulos, 54 aulas</a:t>
            </a:r>
            <a:endParaRPr sz="2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4574A98-3574-4F27-AB63-B0D364C8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93369"/>
            <a:ext cx="13096875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082A45"/>
                </a:solidFill>
                <a:latin typeface="Arial"/>
                <a:ea typeface="Arial"/>
                <a:cs typeface="Arial"/>
              </a:rPr>
              <a:t>Progressão e prática distribuída, no lugar de acúmulo fragmentado.</a:t>
            </a:r>
            <a:endParaRPr sz="19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AC472E9-B9FB-49B8-ACF4-788D132E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03044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A45">
              <a:alpha val="12000"/>
            </a:srgbClr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2DCFF6D-F89F-4A5C-8871-9660B8DB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2981"/>
            <a:ext cx="4400550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245E78"/>
                </a:solidFill>
                <a:latin typeface="Arial"/>
                <a:ea typeface="Arial"/>
                <a:cs typeface="Arial"/>
              </a:rPr>
              <a:t>Acesso de 1 ano pela Hotmart</a:t>
            </a:r>
            <a:endParaRPr sz="2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E28FAB8-0CF5-45B8-B0B5-CB870C25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12506"/>
            <a:ext cx="13096875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082A45"/>
                </a:solidFill>
                <a:latin typeface="Arial"/>
                <a:ea typeface="Arial"/>
                <a:cs typeface="Arial"/>
              </a:rPr>
              <a:t>Retomada e revisão em espiral, não em uma única passagem linear.</a:t>
            </a:r>
            <a:endParaRPr sz="19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DF0C58F-0503-4EE1-9EB6-027A6D4C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22181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A45">
              <a:alpha val="12000"/>
            </a:srgbClr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F657D46-B583-4E4A-9564-D4B7CB0B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2119"/>
            <a:ext cx="4400550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275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245E78"/>
                </a:solidFill>
                <a:latin typeface="Arial"/>
                <a:ea typeface="Arial"/>
                <a:cs typeface="Arial"/>
              </a:rPr>
              <a:t>Mapas visuais e fichas práticas</a:t>
            </a:r>
            <a:endParaRPr sz="2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9B703D4-D4A1-4550-A889-0A87E6D8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31644"/>
            <a:ext cx="13096875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668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082A45"/>
                </a:solidFill>
                <a:latin typeface="Arial"/>
                <a:ea typeface="Arial"/>
                <a:cs typeface="Arial"/>
              </a:rPr>
              <a:t>Tornam visíveis as distinções do percurso e ajudam a levar o conteúdo para situações concretas.</a:t>
            </a:r>
            <a:endParaRPr sz="1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FDC64AF-0E86-4BDB-9B92-B655A72D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41319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A45">
              <a:alpha val="12000"/>
            </a:srgbClr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9BD9579-56E0-4E2A-BABD-D74A4B91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41256"/>
            <a:ext cx="4400550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275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245E78"/>
                </a:solidFill>
                <a:latin typeface="Arial"/>
                <a:ea typeface="Arial"/>
                <a:cs typeface="Arial"/>
              </a:rPr>
              <a:t>Resumos + guia em e-book</a:t>
            </a:r>
            <a:endParaRPr sz="2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452AA2F-9DA6-46F8-8C99-1032CC50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250781"/>
            <a:ext cx="13096875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668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082A45"/>
                </a:solidFill>
                <a:latin typeface="Arial"/>
                <a:ea typeface="Arial"/>
                <a:cs typeface="Arial"/>
              </a:rPr>
              <a:t>Facilitam a retomada das aulas e a organização das palavras do percurso.</a:t>
            </a:r>
            <a:endParaRPr sz="19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62BC49C-90B5-4112-AA27-55DE682E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960394"/>
            <a:ext cx="4400550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245E78"/>
                </a:solidFill>
                <a:latin typeface="Arial"/>
                <a:ea typeface="Arial"/>
                <a:cs typeface="Arial"/>
              </a:rPr>
              <a:t>Comunidade de continuidade</a:t>
            </a:r>
            <a:endParaRPr sz="2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49E6979-FE9A-40E0-8C60-4D7828F6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969919"/>
            <a:ext cx="13096875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082A45"/>
                </a:solidFill>
                <a:latin typeface="Arial"/>
                <a:ea typeface="Arial"/>
                <a:cs typeface="Arial"/>
              </a:rPr>
              <a:t>Sustenta a prática sem depender apenas do entusiasmo inicial.</a:t>
            </a:r>
            <a:endParaRPr sz="1950"/>
          </a:p>
        </p:txBody>
      </p:sp>
    </p:spTree>
    <p:extLst>
      <p:ext uri="{BB962C8B-B14F-4D97-AF65-F5344CB8AC3E}">
        <p14:creationId xmlns:p14="http://schemas.microsoft.com/office/powerpoint/2010/main" val="62116443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CF41FBA-E4A5-44A6-BE5B-59601EA6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45E78">
                  <a:alpha val="100000"/>
                </a:srgbClr>
              </a:gs>
              <a:gs pos="45000">
                <a:srgbClr val="173F52">
                  <a:alpha val="100000"/>
                </a:srgbClr>
              </a:gs>
              <a:gs pos="100000">
                <a:srgbClr val="082A45">
                  <a:alpha val="100000"/>
                </a:srgbClr>
              </a:gs>
            </a:gsLst>
            <a:lin ang="4200000" scaled="0"/>
          </a:gra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F15FE9-F963-4B35-8EF2-88853FD2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222" y="3288506"/>
            <a:ext cx="4832829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C99A64"/>
                </a:solidFill>
                <a:latin typeface="Arial"/>
                <a:ea typeface="Arial"/>
                <a:cs typeface="Arial"/>
              </a:rPr>
              <a:t>ACESSO E INVESTIMENTO</a:t>
            </a:r>
            <a:endParaRPr sz="1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CF6D1D5-6C6E-4DB4-B4ED-5234E661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100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8686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250">
                <a:solidFill>
                  <a:srgbClr val="F4EFEA"/>
                </a:solidFill>
                <a:latin typeface="Georgia"/>
                <a:ea typeface="Georgia"/>
                <a:cs typeface="Georgia"/>
              </a:rPr>
              <a:t>R$ 997</a:t>
            </a:r>
            <a:endParaRPr sz="8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B99C3A6-A478-462A-97EC-7A5DA933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340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>
                <a:solidFill>
                  <a:srgbClr val="F4EFEA"/>
                </a:solidFill>
                <a:latin typeface="Arial"/>
                <a:ea typeface="Arial"/>
                <a:cs typeface="Arial"/>
              </a:rPr>
              <a:t>à vista · ou 12x de R$ 97,70</a:t>
            </a:r>
            <a:endParaRPr sz="24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8DB5522-3804-4762-98DD-6CBD0D15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230" y="6355556"/>
            <a:ext cx="403354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78">
              <a:alpha val="35000"/>
            </a:srgbClr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9DC4DDD-64BE-424F-A960-A03FA9A8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930" y="6527006"/>
            <a:ext cx="3621146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F4EFEA"/>
                </a:solidFill>
                <a:latin typeface="Arial"/>
                <a:ea typeface="Arial"/>
                <a:cs typeface="Arial"/>
              </a:rPr>
              <a:t>Acesso por 1 ano, via Hotmart</a:t>
            </a:r>
            <a:endParaRPr sz="1950"/>
          </a:p>
        </p:txBody>
      </p:sp>
    </p:spTree>
    <p:extLst>
      <p:ext uri="{BB962C8B-B14F-4D97-AF65-F5344CB8AC3E}">
        <p14:creationId xmlns:p14="http://schemas.microsoft.com/office/powerpoint/2010/main" val="198130684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DFE41C-73CA-42ED-AD80-04123011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032" y="4231481"/>
            <a:ext cx="4027862" cy="5857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300">
                <a:solidFill>
                  <a:srgbClr val="082A45"/>
                </a:solidFill>
                <a:latin typeface="Georgia"/>
                <a:ea typeface="Georgia"/>
                <a:cs typeface="Georgia"/>
              </a:rPr>
              <a:t>Condições da inscrição</a:t>
            </a:r>
            <a:endParaRPr sz="3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1E5AD33-CADE-4F6E-9EF7-273E874A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1409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47826"/>
              </a:lnSpc>
              <a:buNone/>
            </a:pPr>
            <a:r>
              <a:rPr sz="2250">
                <a:solidFill>
                  <a:srgbClr val="173F52"/>
                </a:solidFill>
                <a:latin typeface="Arial"/>
                <a:ea typeface="Arial"/>
                <a:cs typeface="Arial"/>
              </a:rPr>
              <a:t>Parcelamento conforme a oferta configurada na Hotmart; prevalecem as condições exibidas no checkout.</a:t>
            </a:r>
            <a:endParaRPr sz="2250"/>
          </a:p>
          <a:p xmlns:a="http://schemas.openxmlformats.org/drawingml/2006/main">
            <a:pPr marL="0" indent="0" algn="ctr">
              <a:lnSpc>
                <a:spcPct val="147826"/>
              </a:lnSpc>
              <a:buNone/>
            </a:pPr>
            <a:r>
              <a:rPr sz="2250">
                <a:solidFill>
                  <a:srgbClr val="173F52"/>
                </a:solidFill>
                <a:latin typeface="Arial"/>
                <a:ea typeface="Arial"/>
                <a:cs typeface="Arial"/>
              </a:rPr>
              <a:t>Garantia de 7 dias para solicitação de reembolso, conforme as regras da oferta e da Hotmart.</a:t>
            </a:r>
            <a:endParaRPr sz="2250"/>
          </a:p>
        </p:txBody>
      </p:sp>
    </p:spTree>
    <p:extLst>
      <p:ext uri="{BB962C8B-B14F-4D97-AF65-F5344CB8AC3E}">
        <p14:creationId xmlns:p14="http://schemas.microsoft.com/office/powerpoint/2010/main" val="166527036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8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D29F030-E9B8-4F0E-964F-19E616EF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50" y="3808065"/>
            <a:ext cx="3967289" cy="3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C99A64"/>
                </a:solidFill>
                <a:latin typeface="Arial"/>
                <a:ea typeface="Arial"/>
                <a:cs typeface="Arial"/>
              </a:rPr>
              <a:t>SEU PRÓXIMO PASSO</a:t>
            </a:r>
            <a:endParaRPr sz="1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BA4FC5C-C780-409D-AA67-F583CC54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86250"/>
            <a:ext cx="1352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1824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2500"/>
              </a:lnSpc>
              <a:buNone/>
            </a:pPr>
            <a:r>
              <a:rPr sz="4200">
                <a:solidFill>
                  <a:srgbClr val="F4EFEA"/>
                </a:solidFill>
                <a:latin typeface="Georgia"/>
                <a:ea typeface="Georgia"/>
                <a:cs typeface="Georgia"/>
              </a:rPr>
              <a:t>Quero aprender a traduzir o que vivo e retornar ao meu EIXO.</a:t>
            </a:r>
            <a:endParaRPr sz="4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7DCED27-6EF2-49A3-B6A2-C6FDF84F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86500"/>
            <a:ext cx="4572000" cy="7810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C99A64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6655857-20CC-4485-B5BF-C0375E8A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4960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0741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1">
                <a:solidFill>
                  <a:srgbClr val="082A45"/>
                </a:solidFill>
                <a:latin typeface="Arial"/>
                <a:ea typeface="Arial"/>
                <a:cs typeface="Arial"/>
              </a:rPr>
              <a:t>Fazer minha inscrição</a:t>
            </a:r>
            <a:endParaRPr sz="2250"/>
          </a:p>
        </p:txBody>
      </p:sp>
    </p:spTree>
    <p:extLst>
      <p:ext uri="{BB962C8B-B14F-4D97-AF65-F5344CB8AC3E}">
        <p14:creationId xmlns:p14="http://schemas.microsoft.com/office/powerpoint/2010/main" val="97110229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D315055-8FBE-4DC6-918A-B31C9AB3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45E78">
                  <a:alpha val="100000"/>
                </a:srgbClr>
              </a:gs>
              <a:gs pos="45000">
                <a:srgbClr val="173F52">
                  <a:alpha val="100000"/>
                </a:srgbClr>
              </a:gs>
              <a:gs pos="100000">
                <a:srgbClr val="082A45">
                  <a:alpha val="100000"/>
                </a:srgbClr>
              </a:gs>
            </a:gsLst>
            <a:lin ang="4200000" scaled="0"/>
          </a:gra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15A4F0-F93A-4C6A-9BE8-9DC7A6BE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267075"/>
            <a:ext cx="1373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32632"/>
              </a:lnSpc>
              <a:buNone/>
            </a:pPr>
            <a:r>
              <a:rPr sz="3150" i="1">
                <a:solidFill>
                  <a:srgbClr val="F4EFEA"/>
                </a:solidFill>
                <a:latin typeface="Georgia"/>
                <a:ea typeface="Georgia"/>
                <a:cs typeface="Georgia"/>
              </a:rPr>
              <a:t>A Masterclass entrega a ponte. O curso oferece o percurso para atravessá-la, retomá-la e levá-la para a vida.</a:t>
            </a:r>
            <a:endParaRPr sz="3150"/>
          </a:p>
        </p:txBody>
      </p:sp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e5e0378a848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5114925"/>
            <a:ext cx="1905000" cy="190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8904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2026-08-11T12:22:44.7490000Z</dcterms:created>
  <dcterms:modified xsi:type="dcterms:W3CDTF">2026-08-11T12:22:44.7490000Z</dcterms:modified>
</coreProperties>
</file>