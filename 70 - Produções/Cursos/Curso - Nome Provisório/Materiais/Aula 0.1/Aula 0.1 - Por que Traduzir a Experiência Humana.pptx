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a56722f36c4eb2" /><Relationship Type="http://schemas.openxmlformats.org/officeDocument/2006/relationships/extended-properties" Target="/docProps/app.xml" Id="R870ef4e434f74117" /><Relationship Type="http://schemas.openxmlformats.org/officeDocument/2006/relationships/officeDocument" Target="/ppt/presentation.xml" Id="R4693d58d04504e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f0b332912c4c64"/>
  </p:sldMasterIdLst>
  <p:notesMasterIdLst>
    <p:notesMasterId xmlns:r="http://schemas.openxmlformats.org/officeDocument/2006/relationships" r:id="R02738e302c314c06"/>
  </p:notesMasterIdLst>
  <p:sldIdLst>
    <p:sldId xmlns:r="http://schemas.openxmlformats.org/officeDocument/2006/relationships" id="256" r:id="R89bb4759e65e4c49"/>
    <p:sldId xmlns:r="http://schemas.openxmlformats.org/officeDocument/2006/relationships" id="257" r:id="Rc441225f404449b0"/>
    <p:sldId xmlns:r="http://schemas.openxmlformats.org/officeDocument/2006/relationships" id="258" r:id="Rd00bf1c08219473c"/>
    <p:sldId xmlns:r="http://schemas.openxmlformats.org/officeDocument/2006/relationships" id="259" r:id="Re51a72746ebb4ae7"/>
    <p:sldId xmlns:r="http://schemas.openxmlformats.org/officeDocument/2006/relationships" id="260" r:id="R52868db165ff4730"/>
    <p:sldId xmlns:r="http://schemas.openxmlformats.org/officeDocument/2006/relationships" id="261" r:id="R4a4c1c3af1064f11"/>
    <p:sldId xmlns:r="http://schemas.openxmlformats.org/officeDocument/2006/relationships" id="262" r:id="R13080283318741b5"/>
    <p:sldId xmlns:r="http://schemas.openxmlformats.org/officeDocument/2006/relationships" id="263" r:id="Rd544e36b34fb4e2a"/>
    <p:sldId xmlns:r="http://schemas.openxmlformats.org/officeDocument/2006/relationships" id="264" r:id="R0930ed878cf14866"/>
    <p:sldId xmlns:r="http://schemas.openxmlformats.org/officeDocument/2006/relationships" id="265" r:id="R02d7634ba59247d0"/>
    <p:sldId xmlns:r="http://schemas.openxmlformats.org/officeDocument/2006/relationships" id="266" r:id="Rb05e37ab5a664d3c"/>
    <p:sldId xmlns:r="http://schemas.openxmlformats.org/officeDocument/2006/relationships" id="267" r:id="Rd829801248ed4f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63b02fb96a40a5" /><Relationship Type="http://schemas.openxmlformats.org/officeDocument/2006/relationships/slideMaster" Target="/ppt/slideMasters/slideMaster1.xml" Id="Rb3f0b332912c4c64" /><Relationship Type="http://schemas.openxmlformats.org/officeDocument/2006/relationships/notesMaster" Target="/ppt/notesMasters/notesMaster1.xml" Id="R02738e302c314c06" /><Relationship Type="http://schemas.openxmlformats.org/officeDocument/2006/relationships/presProps" Target="/ppt/presProps.xml" Id="R0db96fcd7ede461e" /><Relationship Type="http://schemas.openxmlformats.org/officeDocument/2006/relationships/tableStyles" Target="/ppt/tableStyles.xml" Id="R33b4a6303daa48c1" /><Relationship Type="http://schemas.openxmlformats.org/officeDocument/2006/relationships/slide" Target="/ppt/slides/slide1.xml" Id="R89bb4759e65e4c49" /><Relationship Type="http://schemas.openxmlformats.org/officeDocument/2006/relationships/slide" Target="/ppt/slides/slide2.xml" Id="Rc441225f404449b0" /><Relationship Type="http://schemas.openxmlformats.org/officeDocument/2006/relationships/slide" Target="/ppt/slides/slide3.xml" Id="Rd00bf1c08219473c" /><Relationship Type="http://schemas.openxmlformats.org/officeDocument/2006/relationships/slide" Target="/ppt/slides/slide4.xml" Id="Re51a72746ebb4ae7" /><Relationship Type="http://schemas.openxmlformats.org/officeDocument/2006/relationships/slide" Target="/ppt/slides/slide5.xml" Id="R52868db165ff4730" /><Relationship Type="http://schemas.openxmlformats.org/officeDocument/2006/relationships/slide" Target="/ppt/slides/slide6.xml" Id="R4a4c1c3af1064f11" /><Relationship Type="http://schemas.openxmlformats.org/officeDocument/2006/relationships/slide" Target="/ppt/slides/slide7.xml" Id="R13080283318741b5" /><Relationship Type="http://schemas.openxmlformats.org/officeDocument/2006/relationships/slide" Target="/ppt/slides/slide8.xml" Id="Rd544e36b34fb4e2a" /><Relationship Type="http://schemas.openxmlformats.org/officeDocument/2006/relationships/slide" Target="/ppt/slides/slide9.xml" Id="R0930ed878cf14866" /><Relationship Type="http://schemas.openxmlformats.org/officeDocument/2006/relationships/slide" Target="/ppt/slides/slide10.xml" Id="R02d7634ba59247d0" /><Relationship Type="http://schemas.openxmlformats.org/officeDocument/2006/relationships/slide" Target="/ppt/slides/slide11.xml" Id="Rb05e37ab5a664d3c" /><Relationship Type="http://schemas.openxmlformats.org/officeDocument/2006/relationships/slide" Target="/ppt/slides/slide12.xml" Id="Rd829801248ed4f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955ee96e8545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4fb1befa834640" /><Relationship Type="http://schemas.openxmlformats.org/officeDocument/2006/relationships/notesMaster" Target="/ppt/notesMasters/notesMaster1.xml" Id="Rbcf0e4f1def74c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54673a460048c1" /><Relationship Type="http://schemas.openxmlformats.org/officeDocument/2006/relationships/notesMaster" Target="/ppt/notesMasters/notesMaster1.xml" Id="R2d17e880211840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06a350c5b94e9a" /><Relationship Type="http://schemas.openxmlformats.org/officeDocument/2006/relationships/notesMaster" Target="/ppt/notesMasters/notesMaster1.xml" Id="R49450791ca6f46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e55f3ee3244530" /><Relationship Type="http://schemas.openxmlformats.org/officeDocument/2006/relationships/notesMaster" Target="/ppt/notesMasters/notesMaster1.xml" Id="R2c33918a29e94e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2a2883b7a14831" /><Relationship Type="http://schemas.openxmlformats.org/officeDocument/2006/relationships/notesMaster" Target="/ppt/notesMasters/notesMaster1.xml" Id="R1643b7fe508b46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c0d9ed4b73476f" /><Relationship Type="http://schemas.openxmlformats.org/officeDocument/2006/relationships/notesMaster" Target="/ppt/notesMasters/notesMaster1.xml" Id="R1f8eb392fbd545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fe5cfbbcd4466b" /><Relationship Type="http://schemas.openxmlformats.org/officeDocument/2006/relationships/notesMaster" Target="/ppt/notesMasters/notesMaster1.xml" Id="Rafe83fc96dc141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ce4951386e4cd8" /><Relationship Type="http://schemas.openxmlformats.org/officeDocument/2006/relationships/notesMaster" Target="/ppt/notesMasters/notesMaster1.xml" Id="Ra833f232ae704c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3d0cf2133a843e2" /><Relationship Type="http://schemas.openxmlformats.org/officeDocument/2006/relationships/notesMaster" Target="/ppt/notesMasters/notesMaster1.xml" Id="R5f88c5ba8c0740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1097213b3b04761" /><Relationship Type="http://schemas.openxmlformats.org/officeDocument/2006/relationships/notesMaster" Target="/ppt/notesMasters/notesMaster1.xml" Id="R22b45bcbd85c4d8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c0d51342144666" /><Relationship Type="http://schemas.openxmlformats.org/officeDocument/2006/relationships/notesMaster" Target="/ppt/notesMasters/notesMaster1.xml" Id="Rab4842fa338b4f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83fb67335740a5" /><Relationship Type="http://schemas.openxmlformats.org/officeDocument/2006/relationships/notesMaster" Target="/ppt/notesMasters/notesMaster1.xml" Id="Re0213b7b86c14b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Acolha a turma e apresente a pergunta central. Evite antecipar toda a teoria. Convide cada pessoa a observar o que ressoa, sem precisar compartilhar experiências pessoais.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a formulação de saída da Fase 1 em linguagem oral. Ressalte que o curso é educação complementar e não substitui psicoterapia ou cuidado individual.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que a sequência é uma lógica de aprendizagem, não uma escada rígida. Antecipe a recursividade: voltar não é regredir.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Leia a definição com pausa. Diferencie Tradução de diagnóstico, explicação causal definitiva e confirmação ontológica.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é uma formulação canônica. Dê um exemplo simples: perceber aceleração antes de responder a uma mensagem e, ao traduzir o estado, recuperar possibilidade de escolha.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mapa como abertura. Não leia todas as dimensões em ritmo de inventário; mostre como uma experiência simples pode tocar corpo, emoção, narrativa, relação e história ao mesmo tempo.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Previna a ansiedade de “preencher certo”. A prática não busca completude, intensidade nem experiência espiritual específica.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Conduza lentamente. Mostre que “abandono” pode ser uma Tradução inicial significativa sem constituir fato sobre a intenção da outra pessoa.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exemplos energéticos ou espirituais se forem pertinentes à turma: acolha o vivido, preserve o termo escolhido e mantenha aberta a questão sobre causa ou natureza.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Reserve cerca de 8 a 10 minutos. Oriente contato com ambiente e corpo. Não peça compartilhamento obrigatório. Ofereça as alternativas de observar uma imagem, sensação neutra ou caso fictício.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Convide a pessoa a completar apenas o que fizer sentido. A frase é uma estrutura de apoio, não uma fórmula obrigatória.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Feche com contato com ambiente, corpo e estado atual. Recolha uma resposta breve, sem detalhes sensíveis. Antecipe que a próxima aula apresentará a arquitetura recursiva.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8b6ee8b8b941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3a5b10497346ce" /><Relationship Type="http://schemas.openxmlformats.org/officeDocument/2006/relationships/slideLayout" Target="/ppt/slideLayouts/slideLayout1.xml" Id="Rbe533c222294486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533c22229448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6fc067386b4854" /><Relationship Type="http://schemas.openxmlformats.org/officeDocument/2006/relationships/notesSlide" Target="/ppt/notesSlides/notesSlide1.xml" Id="R4adb98ba7ba34e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19dd90e8c64e39" /><Relationship Type="http://schemas.openxmlformats.org/officeDocument/2006/relationships/notesSlide" Target="/ppt/notesSlides/notesSlide2.xml" Id="Rfc9cc203851945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4013ea8b44b41" /><Relationship Type="http://schemas.openxmlformats.org/officeDocument/2006/relationships/notesSlide" Target="/ppt/notesSlides/notesSlide3.xml" Id="Rb9b7a44fcbb143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652391bf594791" /><Relationship Type="http://schemas.openxmlformats.org/officeDocument/2006/relationships/notesSlide" Target="/ppt/notesSlides/notesSlide4.xml" Id="Re968c45bcfa146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56c8c2f84421a" /><Relationship Type="http://schemas.openxmlformats.org/officeDocument/2006/relationships/notesSlide" Target="/ppt/notesSlides/notesSlide5.xml" Id="R202d123fcade40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b58657111f4f01" /><Relationship Type="http://schemas.openxmlformats.org/officeDocument/2006/relationships/image" Target="/ppt/media/image.png" Id="R87bf5e25992a4230" /><Relationship Type="http://schemas.openxmlformats.org/officeDocument/2006/relationships/notesSlide" Target="/ppt/notesSlides/notesSlide6.xml" Id="R3a505669d09a47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2b52642b44bee" /><Relationship Type="http://schemas.openxmlformats.org/officeDocument/2006/relationships/notesSlide" Target="/ppt/notesSlides/notesSlide7.xml" Id="Rca5a2259f1a94b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6db924cfd40ab" /><Relationship Type="http://schemas.openxmlformats.org/officeDocument/2006/relationships/notesSlide" Target="/ppt/notesSlides/notesSlide8.xml" Id="Rd8e7ac43561147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ac84b2cc14d29" /><Relationship Type="http://schemas.openxmlformats.org/officeDocument/2006/relationships/notesSlide" Target="/ppt/notesSlides/notesSlide9.xml" Id="R7146aad04c51495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d1a4fdf8b64369" /><Relationship Type="http://schemas.openxmlformats.org/officeDocument/2006/relationships/notesSlide" Target="/ppt/notesSlides/notesSlide10.xml" Id="R4fb51b995fdb49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dd999166f94193" /><Relationship Type="http://schemas.openxmlformats.org/officeDocument/2006/relationships/notesSlide" Target="/ppt/notesSlides/notesSlide11.xml" Id="R2d9e41c6f635411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9b7bbcc6a046f8" /><Relationship Type="http://schemas.openxmlformats.org/officeDocument/2006/relationships/notesSlide" Target="/ppt/notesSlides/notesSlide12.xml" Id="R0389c2c57fe048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2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F0CD7A-B111-4982-A04F-66A5E710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88A4E3-DBD1-4E04-8580-CED35736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8872B"/>
                </a:solidFill>
              </a:defRPr>
            </a:pPr>
            <a:r>
              <a:rPr sz="1275" b="1">
                <a:solidFill>
                  <a:srgbClr val="B8872B"/>
                </a:solidFill>
              </a:rPr>
              <a:t>TRADUZINDO O SER HUMANO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943CC8-D627-4426-9A21-5E80EA60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7239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3B38"/>
                </a:solidFill>
              </a:defRPr>
            </a:pPr>
            <a:r>
              <a:rPr sz="4050" b="1">
                <a:solidFill>
                  <a:srgbClr val="173B38"/>
                </a:solidFill>
              </a:rPr>
              <a:t>Por que Traduzir</a:t>
            </a:r>
          </a:p>
          <a:p xmlns:a="http://schemas.openxmlformats.org/drawingml/2006/main">
            <a:pPr algn="l">
              <a:defRPr sz="4050" b="1">
                <a:solidFill>
                  <a:srgbClr val="173B38"/>
                </a:solidFill>
              </a:defRPr>
            </a:pPr>
            <a:r>
              <a:rPr sz="4050" b="1">
                <a:solidFill>
                  <a:srgbClr val="173B38"/>
                </a:solidFill>
              </a:rPr>
              <a:t>a Experiência Humana?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15699-0A9E-4D3D-BB99-C7AE411B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8645F"/>
                </a:solidFill>
              </a:defRPr>
            </a:pPr>
            <a:r>
              <a:rPr sz="1800" b="0">
                <a:solidFill>
                  <a:srgbClr val="58645F"/>
                </a:solidFill>
              </a:rPr>
              <a:t>Aula 0.1  •  Tradução, presença e orientação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53E16D-CF1E-4F4E-A572-B4797D05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914400"/>
            <a:ext cx="3143250" cy="48577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8EC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1B5952-8208-477D-962A-50640A8A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19250"/>
            <a:ext cx="2333625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73B38"/>
                </a:solidFill>
              </a:defRPr>
            </a:pPr>
            <a:r>
              <a:rPr sz="2025" b="0">
                <a:solidFill>
                  <a:srgbClr val="173B38"/>
                </a:solidFill>
              </a:rPr>
              <a:t>“Compreender” não é apenas explicar.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025" b="0">
                <a:solidFill>
                  <a:srgbClr val="173B38"/>
                </a:solidFill>
              </a:defRPr>
            </a:pPr>
            <a:r>
              <a:rPr sz="2025" b="0">
                <a:solidFill>
                  <a:srgbClr val="173B38"/>
                </a:solidFill>
              </a:rPr>
              <a:t>É tornar o vivido suficientemente legível para que uma orientação possa nascer.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173200-DB5D-4F84-8D34-37AD23CA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62FFD8-E83B-46CE-B8CE-E7A9DA25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56583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C16687-FB69-4DAE-A145-B2A89731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19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872B"/>
                </a:solidFill>
              </a:defRPr>
            </a:pPr>
            <a:r>
              <a:rPr sz="1050" b="1">
                <a:solidFill>
                  <a:srgbClr val="B8872B"/>
                </a:solidFill>
              </a:rPr>
              <a:t>O PROBLEMA DE PARTIDA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BDD6B-4E6D-4422-B724-82D59077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B38"/>
                </a:solidFill>
              </a:defRPr>
            </a:pPr>
            <a:r>
              <a:rPr sz="2850" b="1">
                <a:solidFill>
                  <a:srgbClr val="173B38"/>
                </a:solidFill>
              </a:rPr>
              <a:t>É possível compreender muito e ainda não conseguir sustentar o vivido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9EA7F6-0967-40DB-909B-0E451BBB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1B4A6-AA01-4829-BC03-01AB0D56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8645F"/>
                </a:solidFill>
              </a:defRPr>
            </a:pPr>
            <a:r>
              <a:rPr sz="1950" b="0">
                <a:solidFill>
                  <a:srgbClr val="58645F"/>
                </a:solidFill>
              </a:rPr>
              <a:t>Muitas pessoas já percorreram caminhos de: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9C42A0-F5A2-4408-A982-842C12FB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4095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B38"/>
                </a:solidFill>
              </a:defRPr>
            </a:pPr>
            <a:r>
              <a:rPr sz="2250" b="1">
                <a:solidFill>
                  <a:srgbClr val="173B38"/>
                </a:solidFill>
              </a:rPr>
              <a:t>• autoconhecimento</a:t>
            </a:r>
          </a:p>
          <a:p xmlns:a="http://schemas.openxmlformats.org/drawingml/2006/main">
            <a:pPr algn="l">
              <a:defRPr sz="2250" b="1">
                <a:solidFill>
                  <a:srgbClr val="173B38"/>
                </a:solidFill>
              </a:defRPr>
            </a:pPr>
            <a:r>
              <a:rPr sz="2250" b="1">
                <a:solidFill>
                  <a:srgbClr val="173B38"/>
                </a:solidFill>
              </a:rPr>
              <a:t>• psicoterapia</a:t>
            </a:r>
          </a:p>
          <a:p xmlns:a="http://schemas.openxmlformats.org/drawingml/2006/main">
            <a:pPr algn="l">
              <a:defRPr sz="2250" b="1">
                <a:solidFill>
                  <a:srgbClr val="173B38"/>
                </a:solidFill>
              </a:defRPr>
            </a:pPr>
            <a:r>
              <a:rPr sz="2250" b="1">
                <a:solidFill>
                  <a:srgbClr val="173B38"/>
                </a:solidFill>
              </a:rPr>
              <a:t>• contemplação</a:t>
            </a:r>
          </a:p>
          <a:p xmlns:a="http://schemas.openxmlformats.org/drawingml/2006/main">
            <a:pPr algn="l">
              <a:defRPr sz="2250" b="1">
                <a:solidFill>
                  <a:srgbClr val="173B38"/>
                </a:solidFill>
              </a:defRPr>
            </a:pPr>
            <a:r>
              <a:rPr sz="2250" b="1">
                <a:solidFill>
                  <a:srgbClr val="173B38"/>
                </a:solidFill>
              </a:rPr>
              <a:t>• espiritualidade ou religião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C5F0D6-113E-4A65-930A-B9BE0FCB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52625"/>
            <a:ext cx="5238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8DC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73CCC-120E-4A80-A8C7-3A349943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81250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3B38"/>
                </a:solidFill>
              </a:defRPr>
            </a:pPr>
            <a:r>
              <a:rPr sz="2250" b="1">
                <a:solidFill>
                  <a:srgbClr val="173B38"/>
                </a:solidFill>
              </a:rPr>
              <a:t>A questão não é falta de informação.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451A1-08AA-4DF2-A50F-30547D3B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90875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58645F"/>
                </a:solidFill>
              </a:defRPr>
            </a:pPr>
            <a:r>
              <a:rPr sz="1950" b="0">
                <a:solidFill>
                  <a:srgbClr val="58645F"/>
                </a:solidFill>
              </a:rPr>
              <a:t>O que foi compreendido pode ainda não ter se transformado em capacidade de reconhecer, sustentar e orientar aquilo que continua mobilizando o presente.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E42962-4B7C-4E29-8AB7-004C2FFF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4FC406-FAD6-4EFB-A23A-87A398D1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572164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737AAB-51D1-4A43-9DFB-C1C53413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19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872B"/>
                </a:solidFill>
              </a:defRPr>
            </a:pPr>
            <a:r>
              <a:rPr sz="1050" b="1">
                <a:solidFill>
                  <a:srgbClr val="B8872B"/>
                </a:solidFill>
              </a:rPr>
              <a:t>UMA APRENDIZAGEM INCORPORADA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00C7B1-38D9-4A02-B1D8-F096F3A9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B38"/>
                </a:solidFill>
              </a:defRPr>
            </a:pPr>
            <a:r>
              <a:rPr sz="2850" b="1">
                <a:solidFill>
                  <a:srgbClr val="173B38"/>
                </a:solidFill>
              </a:rPr>
              <a:t>Informação só se transforma quando encontra experiência e prática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022D9-64C2-47D1-A5E3-0AE988D78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B8E4B9-ABB3-4A80-83DF-AE58BF62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76575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8872B"/>
                </a:solidFill>
              </a:defRPr>
            </a:pPr>
            <a:r>
              <a:rPr sz="2550" b="1">
                <a:solidFill>
                  <a:srgbClr val="B8872B"/>
                </a:solidFill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D3C10B-DCE6-4392-A673-A80174FA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47900"/>
            <a:ext cx="1952625" cy="200025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DCE9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3C48B-149D-4151-8833-1DE38CE5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16097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B38"/>
                </a:solidFill>
              </a:defRPr>
            </a:pPr>
            <a:r>
              <a:rPr sz="1500" b="1">
                <a:solidFill>
                  <a:srgbClr val="173B38"/>
                </a:solidFill>
              </a:rPr>
              <a:t>INFORMAÇÃO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73213-D7A6-4CA3-BF95-030B1D53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6097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8645F"/>
                </a:solidFill>
              </a:defRPr>
            </a:pPr>
            <a:r>
              <a:rPr sz="1650" b="0">
                <a:solidFill>
                  <a:srgbClr val="58645F"/>
                </a:solidFill>
              </a:rPr>
              <a:t>Recebo um mapa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B93A63-0CC1-40BD-9616-7039D155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76575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8872B"/>
                </a:solidFill>
              </a:defRPr>
            </a:pPr>
            <a:r>
              <a:rPr sz="2550" b="1">
                <a:solidFill>
                  <a:srgbClr val="B8872B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974F4C-E302-4ED7-B6C0-22430847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247900"/>
            <a:ext cx="1952625" cy="200025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D8EC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921A10-AF21-48BB-BA3C-6D2D248B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52700"/>
            <a:ext cx="16097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B38"/>
                </a:solidFill>
              </a:defRPr>
            </a:pPr>
            <a:r>
              <a:rPr sz="1500" b="1">
                <a:solidFill>
                  <a:srgbClr val="173B38"/>
                </a:solidFill>
              </a:rPr>
              <a:t>COMPREENSÃO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16B3F8-5999-4AEC-820F-03BE37EC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95625"/>
            <a:ext cx="16097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8645F"/>
                </a:solidFill>
              </a:defRPr>
            </a:pPr>
            <a:r>
              <a:rPr sz="1650" b="0">
                <a:solidFill>
                  <a:srgbClr val="58645F"/>
                </a:solidFill>
              </a:rPr>
              <a:t>Organizo relações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49E14D-CF08-41D9-AD4B-3957189F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76575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8872B"/>
                </a:solidFill>
              </a:defRPr>
            </a:pPr>
            <a:r>
              <a:rPr sz="2550" b="1">
                <a:solidFill>
                  <a:srgbClr val="B8872B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23B8E6-D38B-48CA-86BF-6E3AE406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247900"/>
            <a:ext cx="1952625" cy="200025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DCE9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8D91C6-C98D-4D25-B49C-B63B6206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552700"/>
            <a:ext cx="16097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B38"/>
                </a:solidFill>
              </a:defRPr>
            </a:pPr>
            <a:r>
              <a:rPr sz="1500" b="1">
                <a:solidFill>
                  <a:srgbClr val="173B38"/>
                </a:solidFill>
              </a:rPr>
              <a:t>PERCEPÇÃO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EE6247-CD84-430A-8348-47314BB1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095625"/>
            <a:ext cx="16097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8645F"/>
                </a:solidFill>
              </a:defRPr>
            </a:pPr>
            <a:r>
              <a:rPr sz="1650" b="0">
                <a:solidFill>
                  <a:srgbClr val="58645F"/>
                </a:solidFill>
              </a:rPr>
              <a:t>Vejo de outro modo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6CF8D1-AE30-4B61-B27E-1BB050DF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76575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8872B"/>
                </a:solidFill>
              </a:defRPr>
            </a:pPr>
            <a:r>
              <a:rPr sz="2550" b="1">
                <a:solidFill>
                  <a:srgbClr val="B8872B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BAC1A8-1C0C-49F6-8E16-AEC0B02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47900"/>
            <a:ext cx="1952625" cy="200025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D8EC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40C576-5F2E-49B3-A66E-EFBBC4B6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52700"/>
            <a:ext cx="16097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B38"/>
                </a:solidFill>
              </a:defRPr>
            </a:pPr>
            <a:r>
              <a:rPr sz="1500" b="1">
                <a:solidFill>
                  <a:srgbClr val="173B38"/>
                </a:solidFill>
              </a:rPr>
              <a:t>PRÁTICA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4D27E9-ACCC-4E4E-B18F-44D38130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95625"/>
            <a:ext cx="16097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8645F"/>
                </a:solidFill>
              </a:defRPr>
            </a:pPr>
            <a:r>
              <a:rPr sz="1650" b="0">
                <a:solidFill>
                  <a:srgbClr val="58645F"/>
                </a:solidFill>
              </a:rPr>
              <a:t>Experimento uma resposta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E75E0F-8ADB-4F6E-8D2A-CAC73A8F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47900"/>
            <a:ext cx="1952625" cy="2000250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DCE9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B260EE-3A19-4B8A-9995-202A6C25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552700"/>
            <a:ext cx="16097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B38"/>
                </a:solidFill>
              </a:defRPr>
            </a:pPr>
            <a:r>
              <a:rPr sz="1500" b="1">
                <a:solidFill>
                  <a:srgbClr val="173B38"/>
                </a:solidFill>
              </a:rPr>
              <a:t>INCORPORAÇÃO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F91DE1-C1EF-4AAF-ADBB-E2BA359B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095625"/>
            <a:ext cx="16097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8645F"/>
                </a:solidFill>
              </a:defRPr>
            </a:pPr>
            <a:r>
              <a:rPr sz="1650" b="0">
                <a:solidFill>
                  <a:srgbClr val="58645F"/>
                </a:solidFill>
              </a:rPr>
              <a:t>Levo para a vida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D99AD0-4C45-45EA-A989-2D83C8F6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00625"/>
            <a:ext cx="895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B38"/>
                </a:solidFill>
              </a:defRPr>
            </a:pPr>
            <a:r>
              <a:rPr sz="2100" b="1">
                <a:solidFill>
                  <a:srgbClr val="173B38"/>
                </a:solidFill>
              </a:rPr>
              <a:t>O percurso não é linear: voltamos, revisamos, reparamos e aprendemos.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B26D8D-698B-4B6D-8E84-DC018846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131F02-95F8-4772-838A-D66C8E9A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64387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3B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AA8A0B-C1E8-4500-B984-10091CAC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9D9A7"/>
                </a:solidFill>
              </a:defRPr>
            </a:pPr>
            <a:r>
              <a:rPr sz="1200" b="1">
                <a:solidFill>
                  <a:srgbClr val="E9D9A7"/>
                </a:solidFill>
              </a:rPr>
              <a:t>TRADUÇÃO DA EXPERIÊNCIA HUMANA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C6190-CD88-4F88-B967-1FFAA7FF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57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Tornar o vivido progressivamente perceptível, diferenciável e legível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B1AEAE-E869-4AB1-B009-DC149E7D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987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6F988-2273-48A7-B5FF-5ADF3C57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90875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9D9A7"/>
                </a:solidFill>
              </a:defRPr>
            </a:pPr>
            <a:r>
              <a:rPr sz="2400" b="1">
                <a:solidFill>
                  <a:srgbClr val="E9D9A7"/>
                </a:solidFill>
              </a:rPr>
              <a:t>sem reduzi-lo a uma interpretação única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BE4642-5148-441C-B6FF-65D283F6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71950"/>
            <a:ext cx="9525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DCE8E4"/>
                </a:solidFill>
              </a:defRPr>
            </a:pPr>
            <a:r>
              <a:rPr sz="2025" b="0">
                <a:solidFill>
                  <a:srgbClr val="DCE8E4"/>
                </a:solidFill>
              </a:rPr>
              <a:t>Traduzir não é encerrar o mistério. É aproximar-se do que acontece com linguagem suficiente para observar efeitos, distinguir hipóteses e encontrar orientação possível.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273CC3-59FE-4BE4-9C96-D3F1A6A9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E7D81D-B787-41E8-9273-A2ADA234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995410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1A5521-9691-4245-BEEA-B98F9A1B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19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872B"/>
                </a:solidFill>
              </a:defRPr>
            </a:pPr>
            <a:r>
              <a:rPr sz="1050" b="1">
                <a:solidFill>
                  <a:srgbClr val="B8872B"/>
                </a:solidFill>
              </a:rPr>
              <a:t>A DINÂMICA CENTRAL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6B995-BF2B-41CF-A5FC-68D6A128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B38"/>
                </a:solidFill>
              </a:defRPr>
            </a:pPr>
            <a:r>
              <a:rPr sz="2850" b="1">
                <a:solidFill>
                  <a:srgbClr val="173B38"/>
                </a:solidFill>
              </a:rPr>
              <a:t>Tradução e EIXO se fortalecem em relação circular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DD7462-0DC7-4E3A-BC53-C8E80787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20930-5AFA-49C8-A821-8082DC55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3333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D8EC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3FBB1-05F1-4EF3-BD41-5F6EEF4F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717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B38"/>
                </a:solidFill>
              </a:defRPr>
            </a:pPr>
            <a:r>
              <a:rPr sz="2100" b="1">
                <a:solidFill>
                  <a:srgbClr val="173B38"/>
                </a:solidFill>
              </a:rPr>
              <a:t>ALGUM EIXO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13EBD-8F63-40C1-A751-6ACB2E3F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143250"/>
            <a:ext cx="266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8645F"/>
                </a:solidFill>
              </a:defRPr>
            </a:pPr>
            <a:r>
              <a:rPr sz="1800" b="0">
                <a:solidFill>
                  <a:srgbClr val="58645F"/>
                </a:solidFill>
              </a:rPr>
              <a:t>favorece presença suficiente</a:t>
            </a:r>
          </a:p>
          <a:p xmlns:a="http://schemas.openxmlformats.org/drawingml/2006/main">
            <a:pPr algn="ctr">
              <a:defRPr sz="1800" b="0">
                <a:solidFill>
                  <a:srgbClr val="58645F"/>
                </a:solidFill>
              </a:defRPr>
            </a:pPr>
            <a:r>
              <a:rPr sz="1800" b="0">
                <a:solidFill>
                  <a:srgbClr val="58645F"/>
                </a:solidFill>
              </a:rPr>
              <a:t>para perceber e traduzir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6621F-8440-4273-BA67-BBFFA1A7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14625"/>
            <a:ext cx="209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6300" b="1">
                <a:solidFill>
                  <a:srgbClr val="B8872B"/>
                </a:solidFill>
              </a:defRPr>
            </a:pPr>
            <a:r>
              <a:rPr sz="6300" b="1">
                <a:solidFill>
                  <a:srgbClr val="B8872B"/>
                </a:solidFill>
              </a:rPr>
              <a:t>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11CC32-93A0-4861-9C9E-D6066940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3333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DCE9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09E728-3D63-4A1A-95AF-7062D462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717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B38"/>
                </a:solidFill>
              </a:defRPr>
            </a:pPr>
            <a:r>
              <a:rPr sz="2100" b="1">
                <a:solidFill>
                  <a:srgbClr val="173B38"/>
                </a:solidFill>
              </a:rPr>
              <a:t>TRADUZIR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22E52A-D7E6-4B5B-9D16-CF634F71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143250"/>
            <a:ext cx="266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8645F"/>
                </a:solidFill>
              </a:defRPr>
            </a:pPr>
            <a:r>
              <a:rPr sz="1800" b="0">
                <a:solidFill>
                  <a:srgbClr val="58645F"/>
                </a:solidFill>
              </a:rPr>
              <a:t>pode ampliar legibilidade,</a:t>
            </a:r>
          </a:p>
          <a:p xmlns:a="http://schemas.openxmlformats.org/drawingml/2006/main">
            <a:pPr algn="ctr">
              <a:defRPr sz="1800" b="0">
                <a:solidFill>
                  <a:srgbClr val="58645F"/>
                </a:solidFill>
              </a:defRPr>
            </a:pPr>
            <a:r>
              <a:rPr sz="1800" b="0">
                <a:solidFill>
                  <a:srgbClr val="58645F"/>
                </a:solidFill>
              </a:rPr>
              <a:t>discernimento e orientação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78D5B5-C1F6-4BA4-A1E2-DDBA12F6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953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3B38"/>
                </a:solidFill>
              </a:defRPr>
            </a:pPr>
            <a:r>
              <a:rPr sz="2025" b="1">
                <a:solidFill>
                  <a:srgbClr val="173B38"/>
                </a:solidFill>
              </a:rPr>
              <a:t>O EIXO não é um centro fixo: é capacidade progressiva de reconhecer afastamento e reencontrar orientação.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AC71E5-BA99-4F78-866D-CBC7F0B4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750A95-DB1E-48E8-9582-BFE217A5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470629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4192C6-F14F-4984-8B10-89F9B505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19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872B"/>
                </a:solidFill>
              </a:defRPr>
            </a:pPr>
            <a:r>
              <a:rPr sz="1050" b="1">
                <a:solidFill>
                  <a:srgbClr val="B8872B"/>
                </a:solidFill>
              </a:rPr>
              <a:t>O CAMPO MULTIDIMENSIONAL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9B2587-06B0-4687-8B05-BF00E802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B38"/>
                </a:solidFill>
              </a:defRPr>
            </a:pPr>
            <a:r>
              <a:rPr sz="2850" b="1">
                <a:solidFill>
                  <a:srgbClr val="173B38"/>
                </a:solidFill>
              </a:rPr>
              <a:t>Toda experiência pode manifestar-se em mais de uma dimensão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162155-6CCC-482F-B664-01BE1D74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bf5e25992a4230"/>
          <a:stretch xmlns:a="http://schemas.openxmlformats.org/drawingml/2006/main"/>
        </p:blipFill>
        <p:spPr>
          <a:xfrm xmlns:a="http://schemas.openxmlformats.org/drawingml/2006/main">
            <a:off x="3714750" y="1562100"/>
            <a:ext cx="4762500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5595D7-E414-4553-A0C0-F4BDA954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B67AD-A95F-4B79-8FFC-159A8880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611838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B309B2-8935-4745-9D76-2431E062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19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872B"/>
                </a:solidFill>
              </a:defRPr>
            </a:pPr>
            <a:r>
              <a:rPr sz="1050" b="1">
                <a:solidFill>
                  <a:srgbClr val="B8872B"/>
                </a:solidFill>
              </a:rPr>
              <a:t>UMA CARTOGRAFIA, NÃO UM CHECKLIST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5B685-EBEB-4BDA-B79D-2EA7B34B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B38"/>
                </a:solidFill>
              </a:defRPr>
            </a:pPr>
            <a:r>
              <a:rPr sz="2850" b="1">
                <a:solidFill>
                  <a:srgbClr val="173B38"/>
                </a:solidFill>
              </a:rPr>
              <a:t>O mapa abre possibilidades — não exige que tudo apareça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D436F3-153A-40CA-8552-B7D45F67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77963-90CB-42F8-8EFA-37072F05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D35EB-EB6E-4A69-A364-4EE3CD6E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CE3AB6-258D-4E74-A9BE-1A4DA4E1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4F9E2-CA1B-453D-A900-F895A359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79070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3B38"/>
                </a:solidFill>
              </a:defRPr>
            </a:pPr>
            <a:r>
              <a:rPr sz="2100" b="1">
                <a:solidFill>
                  <a:srgbClr val="173B38"/>
                </a:solidFill>
              </a:rPr>
              <a:t>Nenhuma dimensão é obrigatória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BDE16-7517-4598-9219-691891EE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47900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45F"/>
                </a:solidFill>
              </a:defRPr>
            </a:pPr>
            <a:r>
              <a:rPr sz="1650" b="0">
                <a:solidFill>
                  <a:srgbClr val="58645F"/>
                </a:solidFill>
              </a:rPr>
              <a:t>O participante registra somente o que estiver presente.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1D53D-353E-490F-8D05-7FC6317DF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90875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B27C56-DB19-4703-AD7C-D5BB8B78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9087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3B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4A47C9-18C4-46CF-8E95-FB6219D3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90875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E69C5F-D98F-4C4B-B0C0-C7629F75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3B38"/>
                </a:solidFill>
              </a:defRPr>
            </a:pPr>
            <a:r>
              <a:rPr sz="2100" b="1">
                <a:solidFill>
                  <a:srgbClr val="173B38"/>
                </a:solidFill>
              </a:rPr>
              <a:t>Nenhuma linguagem é superior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95467C-17FA-4C11-84D4-3381801A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29025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45F"/>
                </a:solidFill>
              </a:defRPr>
            </a:pPr>
            <a:r>
              <a:rPr sz="1650" b="0">
                <a:solidFill>
                  <a:srgbClr val="58645F"/>
                </a:solidFill>
              </a:rPr>
              <a:t>Corpo, símbolo, energia, relação e espiritualidade podem dialogar sem se anularem.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796B62-4632-4B33-BBEC-D0EB941D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D7BE18-DB6A-47BB-A335-2B5F6B79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73B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6AF62-B9AA-409C-85B7-E3E794B6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4549BD-56B5-48EA-AAB4-EADC570D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5529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3B38"/>
                </a:solidFill>
              </a:defRPr>
            </a:pPr>
            <a:r>
              <a:rPr sz="2100" b="1">
                <a:solidFill>
                  <a:srgbClr val="173B38"/>
                </a:solidFill>
              </a:rPr>
              <a:t>Toda nomeação permanece revisável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F89771-6FCA-4837-BE85-79C55324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10150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45F"/>
                </a:solidFill>
              </a:defRPr>
            </a:pPr>
            <a:r>
              <a:rPr sz="1650" b="0">
                <a:solidFill>
                  <a:srgbClr val="58645F"/>
                </a:solidFill>
              </a:rPr>
              <a:t>Uma palavra pode aproximar-se do vivido sem se tornar conclusão definitiva.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33061D-D6E4-441C-AC50-93AE808A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97C460-4189-4671-AA37-F574C5C7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196145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6F9422-D136-48BA-9B30-E8B321373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19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872B"/>
                </a:solidFill>
              </a:defRPr>
            </a:pPr>
            <a:r>
              <a:rPr sz="1050" b="1">
                <a:solidFill>
                  <a:srgbClr val="B8872B"/>
                </a:solidFill>
              </a:rPr>
              <a:t>DEMONSTRAÇÃO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E3853-6CDC-4CFB-B82F-0A93BE9F8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B38"/>
                </a:solidFill>
              </a:defRPr>
            </a:pPr>
            <a:r>
              <a:rPr sz="2850" b="1">
                <a:solidFill>
                  <a:srgbClr val="173B38"/>
                </a:solidFill>
              </a:rPr>
              <a:t>Uma mensagem sem resposta já contém várias camadas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454728-7763-4DFC-9286-15051B1E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F8339D-33B1-4D12-A9DF-4BD5C2B7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10858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D8EC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387C1-E64A-4588-939A-373E0936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5260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B38"/>
                </a:solidFill>
              </a:defRPr>
            </a:pPr>
            <a:r>
              <a:rPr sz="1575" b="1">
                <a:solidFill>
                  <a:srgbClr val="173B38"/>
                </a:solidFill>
              </a:rPr>
              <a:t>1. O que se apresenta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E2654-9CA0-4804-88BF-17D13453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752600"/>
            <a:ext cx="714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45F"/>
                </a:solidFill>
              </a:defRPr>
            </a:pPr>
            <a:r>
              <a:rPr sz="1500" b="0">
                <a:solidFill>
                  <a:srgbClr val="58645F"/>
                </a:solidFill>
              </a:rPr>
              <a:t>Enviei uma mensagem importante e ainda não houve resposta.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76B40-FC6F-4414-BB32-582D95B0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0858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F2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E2C6C8-4851-4C81-9B14-B9215E3C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57475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B38"/>
                </a:solidFill>
              </a:defRPr>
            </a:pPr>
            <a:r>
              <a:rPr sz="1575" b="1">
                <a:solidFill>
                  <a:srgbClr val="173B38"/>
                </a:solidFill>
              </a:rPr>
              <a:t>2. Como se manifesta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F5D69-1CFF-4313-92CD-91795BE4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657475"/>
            <a:ext cx="714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45F"/>
                </a:solidFill>
              </a:defRPr>
            </a:pPr>
            <a:r>
              <a:rPr sz="1500" b="0">
                <a:solidFill>
                  <a:srgbClr val="58645F"/>
                </a:solidFill>
              </a:rPr>
              <a:t>Aperto no peito, ansiedade, pensamentos repetitivos e impulso de insistir.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540229-D620-4AA0-8ADC-3D477EC1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10858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D8EC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BB1C6-F2B8-48C8-9003-28C8B5F2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56235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B38"/>
                </a:solidFill>
              </a:defRPr>
            </a:pPr>
            <a:r>
              <a:rPr sz="1575" b="1">
                <a:solidFill>
                  <a:srgbClr val="173B38"/>
                </a:solidFill>
              </a:rPr>
              <a:t>3. Como nomeio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365286-C975-4879-AF82-17166594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562350"/>
            <a:ext cx="714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45F"/>
                </a:solidFill>
              </a:defRPr>
            </a:pPr>
            <a:r>
              <a:rPr sz="1500" b="0">
                <a:solidFill>
                  <a:srgbClr val="58645F"/>
                </a:solidFill>
              </a:rPr>
              <a:t>“Estou sendo abandonado.”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CE2AAF-B54C-478B-875F-F5AC86E0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10858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F2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4D5E1-6DA2-412A-A9D8-17F98F11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467225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B38"/>
                </a:solidFill>
              </a:defRPr>
            </a:pPr>
            <a:r>
              <a:rPr sz="1575" b="1">
                <a:solidFill>
                  <a:srgbClr val="173B38"/>
                </a:solidFill>
              </a:rPr>
              <a:t>4. Que hipóteses uso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A23262-0CAA-4DC4-BBE4-D5B91035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467225"/>
            <a:ext cx="714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45F"/>
                </a:solidFill>
              </a:defRPr>
            </a:pPr>
            <a:r>
              <a:rPr sz="1500" b="0">
                <a:solidFill>
                  <a:srgbClr val="58645F"/>
                </a:solidFill>
              </a:rPr>
              <a:t>Indisponibilidade, conflito, padrão biográfico — ou uma combinação.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F2C18A-5A7C-455E-852C-22AA6988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10858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D8EC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34B050-92C6-4F09-ACDE-8B7FFC7D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372100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B38"/>
                </a:solidFill>
              </a:defRPr>
            </a:pPr>
            <a:r>
              <a:rPr sz="1575" b="1">
                <a:solidFill>
                  <a:srgbClr val="173B38"/>
                </a:solidFill>
              </a:rPr>
              <a:t>5. O que solicita agora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15D31F-6AA8-4446-83F9-B50C2223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372100"/>
            <a:ext cx="714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8645F"/>
                </a:solidFill>
              </a:defRPr>
            </a:pPr>
            <a:r>
              <a:rPr sz="1500" b="0">
                <a:solidFill>
                  <a:srgbClr val="58645F"/>
                </a:solidFill>
              </a:rPr>
              <a:t>Pausar, distinguir fato de antecipação e escolher como retomar contato.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59B50B-01C6-47E0-B5BB-A73379A3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4F8C43-3055-4840-8A93-DE755DDB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83301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0477EE-6143-4548-8CB8-E75B145E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19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872B"/>
                </a:solidFill>
              </a:defRPr>
            </a:pPr>
            <a:r>
              <a:rPr sz="1050" b="1">
                <a:solidFill>
                  <a:srgbClr val="B8872B"/>
                </a:solidFill>
              </a:rPr>
              <a:t>QUATRO DISTINÇÕES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F3DBE-0049-4222-961C-747053B7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B38"/>
                </a:solidFill>
              </a:defRPr>
            </a:pPr>
            <a:r>
              <a:rPr sz="2850" b="1">
                <a:solidFill>
                  <a:srgbClr val="173B38"/>
                </a:solidFill>
              </a:rPr>
              <a:t>O discernimento começa quando as camadas deixam de parecer a mesma coisa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38596A-EB8B-47C1-B325-1FEBAC4E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913815-565A-4591-BE82-47E27961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43125"/>
            <a:ext cx="25717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D8EC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0F18C5-2116-4C95-ADD5-C4C0B3A5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B38"/>
                </a:solidFill>
              </a:defRPr>
            </a:pPr>
            <a:r>
              <a:rPr sz="1650" b="1">
                <a:solidFill>
                  <a:srgbClr val="173B38"/>
                </a:solidFill>
              </a:rPr>
              <a:t>FENÔMENO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CB1DCB-1DAC-464D-B3EB-83CB82A2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000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8645F"/>
                </a:solidFill>
              </a:defRPr>
            </a:pPr>
            <a:r>
              <a:rPr sz="1725" b="0">
                <a:solidFill>
                  <a:srgbClr val="58645F"/>
                </a:solidFill>
              </a:rPr>
              <a:t>O que aconteceu ou se apresenta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27740-8B50-4087-B13D-1FC472C5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43125"/>
            <a:ext cx="25717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DCE9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D794D-947D-40C2-BF40-E6758B96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B38"/>
                </a:solidFill>
              </a:defRPr>
            </a:pPr>
            <a:r>
              <a:rPr sz="1650" b="1">
                <a:solidFill>
                  <a:srgbClr val="173B38"/>
                </a:solidFill>
              </a:rPr>
              <a:t>MANIFESTAÇÃO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A9A40-CDAC-4AEB-8CDB-1950334B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43250"/>
            <a:ext cx="2000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8645F"/>
                </a:solidFill>
              </a:defRPr>
            </a:pPr>
            <a:r>
              <a:rPr sz="1725" b="0">
                <a:solidFill>
                  <a:srgbClr val="58645F"/>
                </a:solidFill>
              </a:rPr>
              <a:t>O que ocorre no corpo, afetos, mente e relações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E7A0D7-6119-4894-9F4B-96B065E1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43125"/>
            <a:ext cx="25717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DCE5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E660FF-CCBD-479F-9747-DF0A0414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B38"/>
                </a:solidFill>
              </a:defRPr>
            </a:pPr>
            <a:r>
              <a:rPr sz="1650" b="1">
                <a:solidFill>
                  <a:srgbClr val="173B38"/>
                </a:solidFill>
              </a:rPr>
              <a:t>INTERPRETAÇÃO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EF57C5-0399-4AF3-9A8D-C4CA75BA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43250"/>
            <a:ext cx="2000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8645F"/>
                </a:solidFill>
              </a:defRPr>
            </a:pPr>
            <a:r>
              <a:rPr sz="1725" b="0">
                <a:solidFill>
                  <a:srgbClr val="58645F"/>
                </a:solidFill>
              </a:rPr>
              <a:t>O significado que comecei a atribuir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14995D-AFD3-4E8C-8FEF-F5E5E1C3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43125"/>
            <a:ext cx="25717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8DC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C2BE6C-523D-4577-B319-3013C616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574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B38"/>
                </a:solidFill>
              </a:defRPr>
            </a:pPr>
            <a:r>
              <a:rPr sz="1650" b="1">
                <a:solidFill>
                  <a:srgbClr val="173B38"/>
                </a:solidFill>
              </a:rPr>
              <a:t>HIPÓTESE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653DD9-512C-4717-9A5A-3962DF2B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43250"/>
            <a:ext cx="2000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8645F"/>
                </a:solidFill>
              </a:defRPr>
            </a:pPr>
            <a:r>
              <a:rPr sz="1725" b="0">
                <a:solidFill>
                  <a:srgbClr val="58645F"/>
                </a:solidFill>
              </a:rPr>
              <a:t>Uma explicação possível, ainda aberta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D10870-EC18-4756-8313-D6F412A8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3B38"/>
                </a:solidFill>
              </a:defRPr>
            </a:pPr>
            <a:r>
              <a:rPr sz="2025" b="1">
                <a:solidFill>
                  <a:srgbClr val="173B38"/>
                </a:solidFill>
              </a:rPr>
              <a:t>A experiência pode ser real e transformadora sem que sua origem esteja demonstrada.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417560-598B-46E4-A578-A512707B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C53B0D-55BC-415D-AA94-AE866A4D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83821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2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AA8362-B375-45F1-BBAC-F4A27F11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19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872B"/>
                </a:solidFill>
              </a:defRPr>
            </a:pPr>
            <a:r>
              <a:rPr sz="1050" b="1">
                <a:solidFill>
                  <a:srgbClr val="B8872B"/>
                </a:solidFill>
              </a:rPr>
              <a:t>MICROPRÁTICA INDIVIDUAL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EAB821-91A2-4888-A3F3-028B098F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B38"/>
                </a:solidFill>
              </a:defRPr>
            </a:pPr>
            <a:r>
              <a:rPr sz="2850" b="1">
                <a:solidFill>
                  <a:srgbClr val="173B38"/>
                </a:solidFill>
              </a:rPr>
              <a:t>Agora, observe uma experiência leve ou neutra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4D90A9-00FB-49AB-BEC9-D15446F5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9357D-FC8A-49F7-9B03-D0F7FA68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66875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B38"/>
                </a:solidFill>
              </a:defRPr>
            </a:pPr>
            <a:r>
              <a:rPr sz="2100" b="1">
                <a:solidFill>
                  <a:srgbClr val="173B38"/>
                </a:solidFill>
              </a:rPr>
              <a:t>Escolha algo que possa ser visitado sem ultrapassar suas condições atuais de presença.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57EAFA-16FA-418B-A2F7-E73FF79A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571750"/>
            <a:ext cx="8001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FC6B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EC84AC-B02D-4218-8256-34787D54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38425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872B"/>
                </a:solidFill>
              </a:defRPr>
            </a:pPr>
            <a:r>
              <a:rPr sz="1800" b="1">
                <a:solidFill>
                  <a:srgbClr val="B8872B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AF9FC6-B85A-4C5C-9688-038C0D48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38425"/>
            <a:ext cx="676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B38"/>
                </a:solidFill>
              </a:defRPr>
            </a:pPr>
            <a:r>
              <a:rPr sz="1875" b="1">
                <a:solidFill>
                  <a:srgbClr val="173B38"/>
                </a:solidFill>
              </a:rPr>
              <a:t>O que se apresenta?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4C072-7146-4E61-AFE2-71E20A5E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305175"/>
            <a:ext cx="8001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FC6B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85C535-8878-41C6-8FD5-F811D041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7185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872B"/>
                </a:solidFill>
              </a:defRPr>
            </a:pPr>
            <a:r>
              <a:rPr sz="1800" b="1">
                <a:solidFill>
                  <a:srgbClr val="B8872B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ED791-9654-4AD9-86BC-B2B28E81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71850"/>
            <a:ext cx="676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B38"/>
                </a:solidFill>
              </a:defRPr>
            </a:pPr>
            <a:r>
              <a:rPr sz="1875" b="1">
                <a:solidFill>
                  <a:srgbClr val="173B38"/>
                </a:solidFill>
              </a:rPr>
              <a:t>Onde e como isso se manifesta?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DECBD-5BD7-4749-B853-B5580836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038600"/>
            <a:ext cx="8001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FC6B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A52104-EF69-40A3-A390-F5D80765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05275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872B"/>
                </a:solidFill>
              </a:defRPr>
            </a:pPr>
            <a:r>
              <a:rPr sz="1800" b="1">
                <a:solidFill>
                  <a:srgbClr val="B8872B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87F661-4174-4433-8C4A-769D9D36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05275"/>
            <a:ext cx="676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B38"/>
                </a:solidFill>
              </a:defRPr>
            </a:pPr>
            <a:r>
              <a:rPr sz="1875" b="1">
                <a:solidFill>
                  <a:srgbClr val="173B38"/>
                </a:solidFill>
              </a:rPr>
              <a:t>Como você começa a nomear?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6ED2C9-4110-4ACE-A464-E3B31A7C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72025"/>
            <a:ext cx="8001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CFC6B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734AF-F27A-4483-AD95-2411EFBB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387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8872B"/>
                </a:solidFill>
              </a:defRPr>
            </a:pPr>
            <a:r>
              <a:rPr sz="1800" b="1">
                <a:solidFill>
                  <a:srgbClr val="B8872B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9889F4-6B62-441E-B9CC-DBC62380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38700"/>
            <a:ext cx="676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B38"/>
                </a:solidFill>
              </a:defRPr>
            </a:pPr>
            <a:r>
              <a:rPr sz="1875" b="1">
                <a:solidFill>
                  <a:srgbClr val="173B38"/>
                </a:solidFill>
              </a:rPr>
              <a:t>O que ainda não sabe?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12944E-8D82-4113-ADE4-3BD993E4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762625"/>
            <a:ext cx="847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8645F"/>
                </a:solidFill>
              </a:defRPr>
            </a:pPr>
            <a:r>
              <a:rPr sz="1500" b="0">
                <a:solidFill>
                  <a:srgbClr val="58645F"/>
                </a:solidFill>
              </a:rPr>
              <a:t>Você pode pausar, escolher outra experiência ou apenas observar o ambiente.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22C650-BC0C-4146-AE6D-3B4919F9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C9500B-DA71-4F7F-A28D-D46AFB9C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169816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39FB16-269A-4200-BF0A-31F20524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19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872B"/>
                </a:solidFill>
              </a:defRPr>
            </a:pPr>
            <a:r>
              <a:rPr sz="1050" b="1">
                <a:solidFill>
                  <a:srgbClr val="B8872B"/>
                </a:solidFill>
              </a:rPr>
              <a:t>SÍNTESE DA PRÁTICA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4BE85D-9099-47BC-B38A-0F472BB3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B38"/>
                </a:solidFill>
              </a:defRPr>
            </a:pPr>
            <a:r>
              <a:rPr sz="2850" b="1">
                <a:solidFill>
                  <a:srgbClr val="173B38"/>
                </a:solidFill>
              </a:rPr>
              <a:t>Uma Tradução provisória organiza sem encerrar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1AF893-0C7C-4AAF-9EEB-E1FE76F5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B5B60D-B156-4E48-BD02-394F6ACB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0"/>
            <a:ext cx="10191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D8EC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DD7AA-A25B-4A59-A429-AA510A0F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43150"/>
            <a:ext cx="923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3B38"/>
                </a:solidFill>
              </a:defRPr>
            </a:pPr>
            <a:r>
              <a:rPr sz="2250" b="1">
                <a:solidFill>
                  <a:srgbClr val="173B38"/>
                </a:solidFill>
              </a:rPr>
              <a:t>“Neste momento, reconheço que…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FDF7CA-DCB9-46FF-A48A-A79086ED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52750"/>
            <a:ext cx="8763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8645F"/>
                </a:solidFill>
              </a:defRPr>
            </a:pPr>
            <a:r>
              <a:rPr sz="2025" b="0">
                <a:solidFill>
                  <a:srgbClr val="58645F"/>
                </a:solidFill>
              </a:rPr>
              <a:t>isso se manifesta principalmente em…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58645F"/>
                </a:solidFill>
              </a:defRPr>
            </a:pPr>
            <a:r>
              <a:rPr sz="2025" b="0">
                <a:solidFill>
                  <a:srgbClr val="58645F"/>
                </a:solidFill>
              </a:rPr>
              <a:t>eu o nomeio provisoriamente como…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58645F"/>
                </a:solidFill>
              </a:defRPr>
            </a:pPr>
            <a:r>
              <a:rPr sz="2025" b="0">
                <a:solidFill>
                  <a:srgbClr val="58645F"/>
                </a:solidFill>
              </a:rPr>
              <a:t>sem concluir que…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58645F"/>
                </a:solidFill>
              </a:defRPr>
            </a:pPr>
            <a:r>
              <a:rPr sz="2025" b="0">
                <a:solidFill>
                  <a:srgbClr val="58645F"/>
                </a:solidFill>
              </a:rPr>
              <a:t>agora, parece solicitar…”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67E408-57C5-425E-BCCD-F4468727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2925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3B38"/>
                </a:solidFill>
              </a:defRPr>
            </a:pPr>
            <a:r>
              <a:rPr sz="1875" b="1">
                <a:solidFill>
                  <a:srgbClr val="173B38"/>
                </a:solidFill>
              </a:rPr>
              <a:t>Provisório não significa superficial. Significa aberto à experiência e à revisão.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3ACD0A-4690-45C8-8392-518A732B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624D9C-7018-4190-BF1F-6A1C2D9C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9087925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73B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B4251C-9D8F-428B-AD20-E1D33A38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9D9A7"/>
                </a:solidFill>
              </a:defRPr>
            </a:pPr>
            <a:r>
              <a:rPr sz="1200" b="1">
                <a:solidFill>
                  <a:srgbClr val="E9D9A7"/>
                </a:solidFill>
              </a:rPr>
              <a:t>PERGUNTA DE SAÍDA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D16520-6714-4A09-9125-31157458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O que ficou mais legível</a:t>
            </a:r>
          </a:p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sem precisar tornar-se definitivo?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03692E-3636-43B8-ABFE-A4E0B8A7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87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9B1EB2-7DD8-4C08-8DD6-B388468E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CE8E4"/>
                </a:solidFill>
              </a:defRPr>
            </a:pPr>
            <a:r>
              <a:rPr sz="1875" b="0">
                <a:solidFill>
                  <a:srgbClr val="DCE8E4"/>
                </a:solidFill>
              </a:rPr>
              <a:t>Leve uma observação para a vida: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3850F-DC06-46C1-8610-9124F53A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62450"/>
            <a:ext cx="9525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</a:rPr>
              <a:t>quando algo mobilizar você, experimente distinguir o que aconteceu, como se manifesta e o que ainda permanece aberto.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4D5F4-E394-4014-9329-9D85DB32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847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9D9A7"/>
                </a:solidFill>
              </a:defRPr>
            </a:pPr>
            <a:r>
              <a:rPr sz="1350" b="0">
                <a:solidFill>
                  <a:srgbClr val="E9D9A7"/>
                </a:solidFill>
              </a:rPr>
              <a:t>Próxima aula: o percurso do EIXO e o contrato de aprendizagem.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E02EAB-37C4-4749-B33C-F80A6FDF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8645F"/>
                </a:solidFill>
              </a:defRPr>
            </a:pPr>
            <a:r>
              <a:rPr sz="825" b="1">
                <a:solidFill>
                  <a:srgbClr val="58645F"/>
                </a:solidFill>
              </a:rPr>
              <a:t>TRADUZINDO O SER HUMANO  •  AULA 0.1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60EA99-EB4D-4DC4-9406-6211E10A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8645F"/>
                </a:solidFill>
              </a:defRPr>
            </a:pPr>
            <a:r>
              <a:rPr sz="900" b="0">
                <a:solidFill>
                  <a:srgbClr val="58645F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655979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2026-07-20T00:02:52.0230000Z</dcterms:created>
  <dcterms:modified xsi:type="dcterms:W3CDTF">2026-07-20T00:02:52.0230000Z</dcterms:modified>
</coreProperties>
</file>