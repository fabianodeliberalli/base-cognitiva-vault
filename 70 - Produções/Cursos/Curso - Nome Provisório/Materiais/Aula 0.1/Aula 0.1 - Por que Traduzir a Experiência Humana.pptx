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059cef0aac3481f" /><Relationship Type="http://schemas.openxmlformats.org/officeDocument/2006/relationships/extended-properties" Target="/docProps/app.xml" Id="Rb32220bcf4f642fc" /><Relationship Type="http://schemas.openxmlformats.org/officeDocument/2006/relationships/officeDocument" Target="/ppt/presentation.xml" Id="Rb526d2d01bbc432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0368aff46bc4570"/>
  </p:sldMasterIdLst>
  <p:notesMasterIdLst>
    <p:notesMasterId xmlns:r="http://schemas.openxmlformats.org/officeDocument/2006/relationships" r:id="R752bce22f2f04eae"/>
  </p:notesMasterIdLst>
  <p:sldIdLst>
    <p:sldId xmlns:r="http://schemas.openxmlformats.org/officeDocument/2006/relationships" id="256" r:id="R85dd72c7cce94a98"/>
    <p:sldId xmlns:r="http://schemas.openxmlformats.org/officeDocument/2006/relationships" id="257" r:id="R39ad6a316d444ef1"/>
    <p:sldId xmlns:r="http://schemas.openxmlformats.org/officeDocument/2006/relationships" id="258" r:id="R8cba4cb1aa4b44d3"/>
    <p:sldId xmlns:r="http://schemas.openxmlformats.org/officeDocument/2006/relationships" id="259" r:id="Re51d77e85fdd4084"/>
    <p:sldId xmlns:r="http://schemas.openxmlformats.org/officeDocument/2006/relationships" id="260" r:id="R1772b09ce8184430"/>
    <p:sldId xmlns:r="http://schemas.openxmlformats.org/officeDocument/2006/relationships" id="261" r:id="Reffc056478784ab1"/>
    <p:sldId xmlns:r="http://schemas.openxmlformats.org/officeDocument/2006/relationships" id="262" r:id="Rfb5f26d950fd4a1b"/>
    <p:sldId xmlns:r="http://schemas.openxmlformats.org/officeDocument/2006/relationships" id="263" r:id="R3aae9fa6e2494a79"/>
    <p:sldId xmlns:r="http://schemas.openxmlformats.org/officeDocument/2006/relationships" id="264" r:id="Rc05ab5a672df471f"/>
    <p:sldId xmlns:r="http://schemas.openxmlformats.org/officeDocument/2006/relationships" id="265" r:id="Rea881587d361442e"/>
    <p:sldId xmlns:r="http://schemas.openxmlformats.org/officeDocument/2006/relationships" id="266" r:id="R89d6579c14bc49cd"/>
    <p:sldId xmlns:r="http://schemas.openxmlformats.org/officeDocument/2006/relationships" id="267" r:id="Rb8a59883e88f4c15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ffb68ee59c64ce1" /><Relationship Type="http://schemas.openxmlformats.org/officeDocument/2006/relationships/slideMaster" Target="/ppt/slideMasters/slideMaster1.xml" Id="Rf0368aff46bc4570" /><Relationship Type="http://schemas.openxmlformats.org/officeDocument/2006/relationships/notesMaster" Target="/ppt/notesMasters/notesMaster1.xml" Id="R752bce22f2f04eae" /><Relationship Type="http://schemas.openxmlformats.org/officeDocument/2006/relationships/presProps" Target="/ppt/presProps.xml" Id="R39d10a801ea94976" /><Relationship Type="http://schemas.openxmlformats.org/officeDocument/2006/relationships/tableStyles" Target="/ppt/tableStyles.xml" Id="R64f747e3266b43ec" /><Relationship Type="http://schemas.openxmlformats.org/officeDocument/2006/relationships/slide" Target="/ppt/slides/slide1.xml" Id="R85dd72c7cce94a98" /><Relationship Type="http://schemas.openxmlformats.org/officeDocument/2006/relationships/slide" Target="/ppt/slides/slide2.xml" Id="R39ad6a316d444ef1" /><Relationship Type="http://schemas.openxmlformats.org/officeDocument/2006/relationships/slide" Target="/ppt/slides/slide3.xml" Id="R8cba4cb1aa4b44d3" /><Relationship Type="http://schemas.openxmlformats.org/officeDocument/2006/relationships/slide" Target="/ppt/slides/slide4.xml" Id="Re51d77e85fdd4084" /><Relationship Type="http://schemas.openxmlformats.org/officeDocument/2006/relationships/slide" Target="/ppt/slides/slide5.xml" Id="R1772b09ce8184430" /><Relationship Type="http://schemas.openxmlformats.org/officeDocument/2006/relationships/slide" Target="/ppt/slides/slide6.xml" Id="Reffc056478784ab1" /><Relationship Type="http://schemas.openxmlformats.org/officeDocument/2006/relationships/slide" Target="/ppt/slides/slide7.xml" Id="Rfb5f26d950fd4a1b" /><Relationship Type="http://schemas.openxmlformats.org/officeDocument/2006/relationships/slide" Target="/ppt/slides/slide8.xml" Id="R3aae9fa6e2494a79" /><Relationship Type="http://schemas.openxmlformats.org/officeDocument/2006/relationships/slide" Target="/ppt/slides/slide9.xml" Id="Rc05ab5a672df471f" /><Relationship Type="http://schemas.openxmlformats.org/officeDocument/2006/relationships/slide" Target="/ppt/slides/slide10.xml" Id="Rea881587d361442e" /><Relationship Type="http://schemas.openxmlformats.org/officeDocument/2006/relationships/slide" Target="/ppt/slides/slide11.xml" Id="R89d6579c14bc49cd" /><Relationship Type="http://schemas.openxmlformats.org/officeDocument/2006/relationships/slide" Target="/ppt/slides/slide12.xml" Id="Rb8a59883e88f4c1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e7ac324263a419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d129706888646ec" /><Relationship Type="http://schemas.openxmlformats.org/officeDocument/2006/relationships/notesMaster" Target="/ppt/notesMasters/notesMaster1.xml" Id="R2ccfa4c0e4f94aa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ae31b465476453f" /><Relationship Type="http://schemas.openxmlformats.org/officeDocument/2006/relationships/notesMaster" Target="/ppt/notesMasters/notesMaster1.xml" Id="R2e4b4dfebb49474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40d56e263724c41" /><Relationship Type="http://schemas.openxmlformats.org/officeDocument/2006/relationships/notesMaster" Target="/ppt/notesMasters/notesMaster1.xml" Id="R8faf014ef5964da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5fb89629066486c" /><Relationship Type="http://schemas.openxmlformats.org/officeDocument/2006/relationships/notesMaster" Target="/ppt/notesMasters/notesMaster1.xml" Id="R8f8840d72637453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f99193e03854c0e" /><Relationship Type="http://schemas.openxmlformats.org/officeDocument/2006/relationships/notesMaster" Target="/ppt/notesMasters/notesMaster1.xml" Id="R035cde7f17a1481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02d501bc4cf4e03" /><Relationship Type="http://schemas.openxmlformats.org/officeDocument/2006/relationships/notesMaster" Target="/ppt/notesMasters/notesMaster1.xml" Id="Rd22a1d587c1241f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ce90073be894f95" /><Relationship Type="http://schemas.openxmlformats.org/officeDocument/2006/relationships/notesMaster" Target="/ppt/notesMasters/notesMaster1.xml" Id="R8cdeff39a4f847f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f67c865a7484518" /><Relationship Type="http://schemas.openxmlformats.org/officeDocument/2006/relationships/notesMaster" Target="/ppt/notesMasters/notesMaster1.xml" Id="Racc824b11cc94aa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4ee93eccf194d29" /><Relationship Type="http://schemas.openxmlformats.org/officeDocument/2006/relationships/notesMaster" Target="/ppt/notesMasters/notesMaster1.xml" Id="Rd8c5f88eaac24df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ef63f1d730d4892" /><Relationship Type="http://schemas.openxmlformats.org/officeDocument/2006/relationships/notesMaster" Target="/ppt/notesMasters/notesMaster1.xml" Id="R90701aa4e8464f0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8ffbadf54054a69" /><Relationship Type="http://schemas.openxmlformats.org/officeDocument/2006/relationships/notesMaster" Target="/ppt/notesMasters/notesMaster1.xml" Id="Rb6b25ce1699540d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ed49d7c34dd4ee4" /><Relationship Type="http://schemas.openxmlformats.org/officeDocument/2006/relationships/notesMaster" Target="/ppt/notesMasters/notesMaster1.xml" Id="R7f0167a5da7d40a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Acolha a turma e apresente a pergunta central. Evite antecipar toda a teoria. Convide cada pessoa a observar o que ressoa, sem precisar compartilhar experiências pessoais.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Apresente a formulação de saída da Fase 1 em linguagem oral. Ressalte que o curso é educação complementar e não substitui psicoterapia ou cuidado individual.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Explique que a sequência é uma lógica de aprendizagem, não uma escada rígida. Antecipe a recursividade: voltar não é regredir.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Leia a definição com pausa. Diferencie Tradução de diagnóstico, explicação causal definitiva e confirmação ontológica.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Esta é uma formulação canônica. Dê um exemplo simples: perceber aceleração antes de responder a uma mensagem e, ao traduzir o estado, recuperar possibilidade de escolha.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Apresente o mapa como abertura. Não leia todas as dimensões em ritmo de inventário; mostre como uma experiência simples pode tocar corpo, emoção, narrativa, relação e história ao mesmo tempo.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Previna a ansiedade de “preencher certo”. A prática não busca completude, intensidade nem experiência espiritual específica.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Conduza lentamente. Mostre que “abandono” pode ser uma Tradução inicial significativa sem constituir fato sobre a intenção da outra pessoa.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exemplos energéticos ou espirituais se forem pertinentes à turma: acolha o vivido, preserve o termo escolhido e mantenha aberta a questão sobre causa ou natureza.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Reserve cerca de 8 a 10 minutos. Oriente contato com ambiente e corpo. Não peça compartilhamento obrigatório. Ofereça as alternativas de observar uma imagem, sensação neutra ou caso fictício.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Convide a pessoa a completar apenas o que fizer sentido. A frase é uma estrutura de apoio, não uma fórmula obrigatória.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Feche com contato com ambiente, corpo e estado atual. Recolha uma resposta breve, sem detalhes sensíveis. Antecipe que a próxima aula apresentará a arquitetura recursiva.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a1025d752f482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248c4dabdb84858" /><Relationship Type="http://schemas.openxmlformats.org/officeDocument/2006/relationships/slideLayout" Target="/ppt/slideLayouts/slideLayout1.xml" Id="Ra66514367b8b48e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66514367b8b48e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bd36e3ef414d62" /><Relationship Type="http://schemas.openxmlformats.org/officeDocument/2006/relationships/notesSlide" Target="/ppt/notesSlides/notesSlide1.xml" Id="R23f327a4d5e4452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a11c297c784e89" /><Relationship Type="http://schemas.openxmlformats.org/officeDocument/2006/relationships/notesSlide" Target="/ppt/notesSlides/notesSlide2.xml" Id="R845f73b5aa8749e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61822a3f654ba5" /><Relationship Type="http://schemas.openxmlformats.org/officeDocument/2006/relationships/notesSlide" Target="/ppt/notesSlides/notesSlide3.xml" Id="Rd516dc0abb734d2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52f90dfaf14a8c" /><Relationship Type="http://schemas.openxmlformats.org/officeDocument/2006/relationships/notesSlide" Target="/ppt/notesSlides/notesSlide4.xml" Id="R600b95ffb10d4b2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2b142df13545de" /><Relationship Type="http://schemas.openxmlformats.org/officeDocument/2006/relationships/notesSlide" Target="/ppt/notesSlides/notesSlide5.xml" Id="R2749b5a1eca1495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4bde1844bc47fc" /><Relationship Type="http://schemas.openxmlformats.org/officeDocument/2006/relationships/image" Target="/ppt/media/image.png" Id="Reb7959ee4a134014" /><Relationship Type="http://schemas.openxmlformats.org/officeDocument/2006/relationships/notesSlide" Target="/ppt/notesSlides/notesSlide6.xml" Id="Rd77ef470fd5e462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b836f62ba54264" /><Relationship Type="http://schemas.openxmlformats.org/officeDocument/2006/relationships/notesSlide" Target="/ppt/notesSlides/notesSlide7.xml" Id="Re8af186213bb4d7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751262c0eb4e05" /><Relationship Type="http://schemas.openxmlformats.org/officeDocument/2006/relationships/notesSlide" Target="/ppt/notesSlides/notesSlide8.xml" Id="R41eed9822f524d4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73a82710894189" /><Relationship Type="http://schemas.openxmlformats.org/officeDocument/2006/relationships/notesSlide" Target="/ppt/notesSlides/notesSlide9.xml" Id="R030b08f2d142404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2298c066ec4947" /><Relationship Type="http://schemas.openxmlformats.org/officeDocument/2006/relationships/notesSlide" Target="/ppt/notesSlides/notesSlide10.xml" Id="R8b6e2629d6bd448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a8ddb59b2a49a2" /><Relationship Type="http://schemas.openxmlformats.org/officeDocument/2006/relationships/notesSlide" Target="/ppt/notesSlides/notesSlide11.xml" Id="Redc8d5f81b0d40d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7d52d2939c4d72" /><Relationship Type="http://schemas.openxmlformats.org/officeDocument/2006/relationships/notesSlide" Target="/ppt/notesSlides/notesSlide12.xml" Id="R3a430901efbe4be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2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1F684E9-F064-4A18-9EFB-087232BFC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7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C24D38-2820-401A-82AC-761608F31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8872B"/>
                </a:solidFill>
              </a:defRPr>
            </a:pPr>
            <a:r>
              <a:rPr sz="1275" b="1">
                <a:solidFill>
                  <a:srgbClr val="B8872B"/>
                </a:solidFill>
              </a:rPr>
              <a:t>TRADUZINDO O SER HUMANO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FB0382-5370-4AA0-9BEB-5909E46B5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7239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73B38"/>
                </a:solidFill>
              </a:defRPr>
            </a:pPr>
            <a:r>
              <a:rPr sz="4050" b="1">
                <a:solidFill>
                  <a:srgbClr val="173B38"/>
                </a:solidFill>
              </a:rPr>
              <a:t>Por que Traduzir</a:t>
            </a:r>
          </a:p>
          <a:p xmlns:a="http://schemas.openxmlformats.org/drawingml/2006/main">
            <a:pPr algn="l">
              <a:defRPr sz="4050" b="1">
                <a:solidFill>
                  <a:srgbClr val="173B38"/>
                </a:solidFill>
              </a:defRPr>
            </a:pPr>
            <a:r>
              <a:rPr sz="4050" b="1">
                <a:solidFill>
                  <a:srgbClr val="173B38"/>
                </a:solidFill>
              </a:rPr>
              <a:t>a Experiência Humana?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49F42F-EB69-4289-9247-43A081E54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71875"/>
            <a:ext cx="619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8645F"/>
                </a:solidFill>
              </a:defRPr>
            </a:pPr>
            <a:r>
              <a:rPr sz="1800" b="0">
                <a:solidFill>
                  <a:srgbClr val="58645F"/>
                </a:solidFill>
              </a:rPr>
              <a:t>Aula 0.1  •  Tradução, presença e orientação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C7AB25-576D-4D95-9C87-3B866E3D6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914400"/>
            <a:ext cx="3143250" cy="48577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D8EC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35D086-6DBB-4393-8D76-FE9BD1B5D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619250"/>
            <a:ext cx="2333625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173B38"/>
                </a:solidFill>
              </a:defRPr>
            </a:pPr>
            <a:r>
              <a:rPr sz="2025" b="0">
                <a:solidFill>
                  <a:srgbClr val="173B38"/>
                </a:solidFill>
              </a:rPr>
              <a:t>“Compreender” não é apenas explicar.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2025" b="0">
                <a:solidFill>
                  <a:srgbClr val="173B38"/>
                </a:solidFill>
              </a:defRPr>
            </a:pPr>
            <a:r>
              <a:rPr sz="2025" b="0">
                <a:solidFill>
                  <a:srgbClr val="173B38"/>
                </a:solidFill>
              </a:rPr>
              <a:t>É tornar o vivido suficientemente legível para que uma orientação possa nascer.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82D558-5F31-4AB6-9008-69E9E2E86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8645F"/>
                </a:solidFill>
              </a:defRPr>
            </a:pPr>
            <a:r>
              <a:rPr sz="825" b="1">
                <a:solidFill>
                  <a:srgbClr val="58645F"/>
                </a:solidFill>
              </a:rPr>
              <a:t>TRADUZINDO O SER HUMANO  •  AULA 0.1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86D844-7562-483A-81A1-DB1355B6F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8645F"/>
                </a:solidFill>
              </a:defRPr>
            </a:pPr>
            <a:r>
              <a:rPr sz="900" b="0">
                <a:solidFill>
                  <a:srgbClr val="58645F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87925721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D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750E3A8-BFA7-449F-B0DF-7C3529A27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819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8872B"/>
                </a:solidFill>
              </a:defRPr>
            </a:pPr>
            <a:r>
              <a:rPr sz="1050" b="1">
                <a:solidFill>
                  <a:srgbClr val="B8872B"/>
                </a:solidFill>
              </a:rPr>
              <a:t>O PROBLEMA DE PARTIDA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8DC2A9-4461-4B3F-B863-6C1D9C15F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B38"/>
                </a:solidFill>
              </a:defRPr>
            </a:pPr>
            <a:r>
              <a:rPr sz="2850" b="1">
                <a:solidFill>
                  <a:srgbClr val="173B38"/>
                </a:solidFill>
              </a:rPr>
              <a:t>É possível compreender muito e ainda não conseguir sustentar o vivido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C6BDF2-C538-4359-865F-E3148BF60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192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7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24397C-389A-4035-8661-2CE7C7510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907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8645F"/>
                </a:solidFill>
              </a:defRPr>
            </a:pPr>
            <a:r>
              <a:rPr sz="1950" b="0">
                <a:solidFill>
                  <a:srgbClr val="58645F"/>
                </a:solidFill>
              </a:rPr>
              <a:t>Muitas pessoas já percorreram caminhos de: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5A74DD-4576-4272-9B99-67EEFFACB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24100"/>
            <a:ext cx="40957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3B38"/>
                </a:solidFill>
              </a:defRPr>
            </a:pPr>
            <a:r>
              <a:rPr sz="2250" b="1">
                <a:solidFill>
                  <a:srgbClr val="173B38"/>
                </a:solidFill>
              </a:rPr>
              <a:t>• autoconhecimento</a:t>
            </a:r>
          </a:p>
          <a:p xmlns:a="http://schemas.openxmlformats.org/drawingml/2006/main">
            <a:pPr algn="l">
              <a:defRPr sz="2250" b="1">
                <a:solidFill>
                  <a:srgbClr val="173B38"/>
                </a:solidFill>
              </a:defRPr>
            </a:pPr>
            <a:r>
              <a:rPr sz="2250" b="1">
                <a:solidFill>
                  <a:srgbClr val="173B38"/>
                </a:solidFill>
              </a:rPr>
              <a:t>• psicoterapia</a:t>
            </a:r>
          </a:p>
          <a:p xmlns:a="http://schemas.openxmlformats.org/drawingml/2006/main">
            <a:pPr algn="l">
              <a:defRPr sz="2250" b="1">
                <a:solidFill>
                  <a:srgbClr val="173B38"/>
                </a:solidFill>
              </a:defRPr>
            </a:pPr>
            <a:r>
              <a:rPr sz="2250" b="1">
                <a:solidFill>
                  <a:srgbClr val="173B38"/>
                </a:solidFill>
              </a:rPr>
              <a:t>• contemplação</a:t>
            </a:r>
          </a:p>
          <a:p xmlns:a="http://schemas.openxmlformats.org/drawingml/2006/main">
            <a:pPr algn="l">
              <a:defRPr sz="2250" b="1">
                <a:solidFill>
                  <a:srgbClr val="173B38"/>
                </a:solidFill>
              </a:defRPr>
            </a:pPr>
            <a:r>
              <a:rPr sz="2250" b="1">
                <a:solidFill>
                  <a:srgbClr val="173B38"/>
                </a:solidFill>
              </a:rPr>
              <a:t>• espiritualidade ou religião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504F56-A91D-437D-95B8-1CD24FBC5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952625"/>
            <a:ext cx="52387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E8DC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BE961D-D8AF-4C71-B0DF-F9737820C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381250"/>
            <a:ext cx="419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73B38"/>
                </a:solidFill>
              </a:defRPr>
            </a:pPr>
            <a:r>
              <a:rPr sz="2250" b="1">
                <a:solidFill>
                  <a:srgbClr val="173B38"/>
                </a:solidFill>
              </a:rPr>
              <a:t>A questão não é falta de informação.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6A4F8B-E277-4DE6-B575-40C773E23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190875"/>
            <a:ext cx="4095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58645F"/>
                </a:solidFill>
              </a:defRPr>
            </a:pPr>
            <a:r>
              <a:rPr sz="1950" b="0">
                <a:solidFill>
                  <a:srgbClr val="58645F"/>
                </a:solidFill>
              </a:rPr>
              <a:t>O que foi compreendido pode ainda não ter se transformado em capacidade de reconhecer, sustentar e orientar aquilo que continua mobilizando o presente.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3B0F3B-5D83-443D-B8A0-4325E592E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8645F"/>
                </a:solidFill>
              </a:defRPr>
            </a:pPr>
            <a:r>
              <a:rPr sz="825" b="1">
                <a:solidFill>
                  <a:srgbClr val="58645F"/>
                </a:solidFill>
              </a:rPr>
              <a:t>TRADUZINDO O SER HUMANO  •  AULA 0.1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6595BA-F882-4F98-98FA-70F6D59B1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8645F"/>
                </a:solidFill>
              </a:defRPr>
            </a:pPr>
            <a:r>
              <a:rPr sz="900" b="0">
                <a:solidFill>
                  <a:srgbClr val="58645F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17920514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D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53C6B1D-BBC4-4729-BED6-7ACCE359E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819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8872B"/>
                </a:solidFill>
              </a:defRPr>
            </a:pPr>
            <a:r>
              <a:rPr sz="1050" b="1">
                <a:solidFill>
                  <a:srgbClr val="B8872B"/>
                </a:solidFill>
              </a:rPr>
              <a:t>UMA APRENDIZAGEM INCORPORADA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9A4704-D3BE-4297-8063-907D2AA9A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B38"/>
                </a:solidFill>
              </a:defRPr>
            </a:pPr>
            <a:r>
              <a:rPr sz="2850" b="1">
                <a:solidFill>
                  <a:srgbClr val="173B38"/>
                </a:solidFill>
              </a:rPr>
              <a:t>Informação só se transforma quando encontra experiência e prática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84E1F9-28C3-485B-ADCD-E70F6B273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192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7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9555DF-4C7F-46A6-8BE1-CA815E3B9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3076575"/>
            <a:ext cx="457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B8872B"/>
                </a:solidFill>
              </a:defRPr>
            </a:pPr>
            <a:r>
              <a:rPr sz="2550" b="1">
                <a:solidFill>
                  <a:srgbClr val="B8872B"/>
                </a:solidFill>
              </a:rPr>
              <a:t>→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8DAA05-BB59-4E02-96C6-31A42A5D5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47900"/>
            <a:ext cx="1952625" cy="2000250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DCE9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5BDD23-B6AA-4A6D-90B6-3951CAD14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52700"/>
            <a:ext cx="16097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3B38"/>
                </a:solidFill>
              </a:defRPr>
            </a:pPr>
            <a:r>
              <a:rPr sz="1500" b="1">
                <a:solidFill>
                  <a:srgbClr val="173B38"/>
                </a:solidFill>
              </a:rPr>
              <a:t>INFORMAÇÃO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6AD7DF-3075-4264-96E9-649081C04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95625"/>
            <a:ext cx="16097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58645F"/>
                </a:solidFill>
              </a:defRPr>
            </a:pPr>
            <a:r>
              <a:rPr sz="1650" b="0">
                <a:solidFill>
                  <a:srgbClr val="58645F"/>
                </a:solidFill>
              </a:rPr>
              <a:t>Recebo um mapa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1C19E5-A0EA-40ED-9BA3-DB78845F8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3076575"/>
            <a:ext cx="457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B8872B"/>
                </a:solidFill>
              </a:defRPr>
            </a:pPr>
            <a:r>
              <a:rPr sz="2550" b="1">
                <a:solidFill>
                  <a:srgbClr val="B8872B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25EED0-4459-4DD7-AF87-503925404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247900"/>
            <a:ext cx="1952625" cy="2000250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D8EC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471FF0-F93D-4E3E-8D20-5F0C8CD61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552700"/>
            <a:ext cx="16097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3B38"/>
                </a:solidFill>
              </a:defRPr>
            </a:pPr>
            <a:r>
              <a:rPr sz="1500" b="1">
                <a:solidFill>
                  <a:srgbClr val="173B38"/>
                </a:solidFill>
              </a:rPr>
              <a:t>COMPREENSÃO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78BF15-4AA4-41CB-9D44-3BBA7A378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095625"/>
            <a:ext cx="16097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58645F"/>
                </a:solidFill>
              </a:defRPr>
            </a:pPr>
            <a:r>
              <a:rPr sz="1650" b="0">
                <a:solidFill>
                  <a:srgbClr val="58645F"/>
                </a:solidFill>
              </a:rPr>
              <a:t>Organizo relações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80559B-37A1-4B32-94F1-F8FD8A1CB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076575"/>
            <a:ext cx="457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B8872B"/>
                </a:solidFill>
              </a:defRPr>
            </a:pPr>
            <a:r>
              <a:rPr sz="2550" b="1">
                <a:solidFill>
                  <a:srgbClr val="B8872B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45246E-0ACD-4BCC-B907-313BE5C96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247900"/>
            <a:ext cx="1952625" cy="2000250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DCE9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4431BE-3D67-4969-8A7E-6409B934A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552700"/>
            <a:ext cx="16097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3B38"/>
                </a:solidFill>
              </a:defRPr>
            </a:pPr>
            <a:r>
              <a:rPr sz="1500" b="1">
                <a:solidFill>
                  <a:srgbClr val="173B38"/>
                </a:solidFill>
              </a:rPr>
              <a:t>PERCEPÇÃO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2AF55F-EDB3-4BD5-8DED-0085061EA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095625"/>
            <a:ext cx="16097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58645F"/>
                </a:solidFill>
              </a:defRPr>
            </a:pPr>
            <a:r>
              <a:rPr sz="1650" b="0">
                <a:solidFill>
                  <a:srgbClr val="58645F"/>
                </a:solidFill>
              </a:rPr>
              <a:t>Vejo de outro modo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FFFD26-B02F-4C52-8CB8-B63B3E3DF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3076575"/>
            <a:ext cx="457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B8872B"/>
                </a:solidFill>
              </a:defRPr>
            </a:pPr>
            <a:r>
              <a:rPr sz="2550" b="1">
                <a:solidFill>
                  <a:srgbClr val="B8872B"/>
                </a:solidFill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FB39D3-2AC5-46FA-B156-7503C9887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247900"/>
            <a:ext cx="1952625" cy="2000250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D8EC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7A3829D-FFAE-4254-9FE8-727EEE131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552700"/>
            <a:ext cx="16097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3B38"/>
                </a:solidFill>
              </a:defRPr>
            </a:pPr>
            <a:r>
              <a:rPr sz="1500" b="1">
                <a:solidFill>
                  <a:srgbClr val="173B38"/>
                </a:solidFill>
              </a:rPr>
              <a:t>PRÁTICA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1614DC5-1D96-4564-A7D8-945CCBA60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095625"/>
            <a:ext cx="16097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58645F"/>
                </a:solidFill>
              </a:defRPr>
            </a:pPr>
            <a:r>
              <a:rPr sz="1650" b="0">
                <a:solidFill>
                  <a:srgbClr val="58645F"/>
                </a:solidFill>
              </a:rPr>
              <a:t>Experimento uma resposta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F4358F9-A80E-4AA5-9D71-47825B56B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247900"/>
            <a:ext cx="1952625" cy="2000250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DCE9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D0EE8BA-4F53-4C7E-A422-6DD7D74ED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552700"/>
            <a:ext cx="16097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3B38"/>
                </a:solidFill>
              </a:defRPr>
            </a:pPr>
            <a:r>
              <a:rPr sz="1500" b="1">
                <a:solidFill>
                  <a:srgbClr val="173B38"/>
                </a:solidFill>
              </a:rPr>
              <a:t>INCORPORAÇÃO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BA2F87E-87C4-4E3B-8DF6-C728C11BA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3095625"/>
            <a:ext cx="16097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58645F"/>
                </a:solidFill>
              </a:defRPr>
            </a:pPr>
            <a:r>
              <a:rPr sz="1650" b="0">
                <a:solidFill>
                  <a:srgbClr val="58645F"/>
                </a:solidFill>
              </a:rPr>
              <a:t>Levo para a vida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15DBA33-3A43-4F9D-95A0-E9A7B8BA4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000625"/>
            <a:ext cx="8953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73B38"/>
                </a:solidFill>
              </a:defRPr>
            </a:pPr>
            <a:r>
              <a:rPr sz="2100" b="1">
                <a:solidFill>
                  <a:srgbClr val="173B38"/>
                </a:solidFill>
              </a:rPr>
              <a:t>O percurso não é linear: voltamos, revisamos, reparamos e aprendemos.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E0D1535-E56F-4247-A1D0-4B91CA418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8645F"/>
                </a:solidFill>
              </a:defRPr>
            </a:pPr>
            <a:r>
              <a:rPr sz="825" b="1">
                <a:solidFill>
                  <a:srgbClr val="58645F"/>
                </a:solidFill>
              </a:rPr>
              <a:t>TRADUZINDO O SER HUMANO  •  AULA 0.1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55E9994-CD48-40AF-AB06-D42D8DB8A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8645F"/>
                </a:solidFill>
              </a:defRPr>
            </a:pPr>
            <a:r>
              <a:rPr sz="900" b="0">
                <a:solidFill>
                  <a:srgbClr val="58645F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96073512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73B3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96D12EC-C0A1-45C3-B275-CD8DECC00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9D9A7"/>
                </a:solidFill>
              </a:defRPr>
            </a:pPr>
            <a:r>
              <a:rPr sz="1200" b="1">
                <a:solidFill>
                  <a:srgbClr val="E9D9A7"/>
                </a:solidFill>
              </a:rPr>
              <a:t>TRADUÇÃO DA EXPERIÊNCIA HUMANA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76D71C-BB2B-4019-810A-016FA4ADE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62050"/>
            <a:ext cx="105727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</a:defRPr>
            </a:pPr>
            <a:r>
              <a:rPr sz="3450" b="1">
                <a:solidFill>
                  <a:srgbClr val="FFFFFF"/>
                </a:solidFill>
              </a:rPr>
              <a:t>Tornar o vivido progressivamente perceptível, diferenciável e legível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0D0302-F3BE-4AB6-8993-13F8123F4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0987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7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2436DB-2303-471D-BFBF-CB6F18E98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90875"/>
            <a:ext cx="8096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E9D9A7"/>
                </a:solidFill>
              </a:defRPr>
            </a:pPr>
            <a:r>
              <a:rPr sz="2400" b="1">
                <a:solidFill>
                  <a:srgbClr val="E9D9A7"/>
                </a:solidFill>
              </a:rPr>
              <a:t>sem reduzi-lo a uma interpretação única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6DD27C-93FD-4A5B-8032-901014FA7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71950"/>
            <a:ext cx="9525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DCE8E4"/>
                </a:solidFill>
              </a:defRPr>
            </a:pPr>
            <a:r>
              <a:rPr sz="2025" b="0">
                <a:solidFill>
                  <a:srgbClr val="DCE8E4"/>
                </a:solidFill>
              </a:rPr>
              <a:t>Traduzir não é encerrar o mistério. É aproximar-se do que acontece com linguagem suficiente para observar efeitos, distinguir hipóteses e encontrar orientação possível.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0EF55C-1969-4D6F-9AD8-FA6FE2499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8645F"/>
                </a:solidFill>
              </a:defRPr>
            </a:pPr>
            <a:r>
              <a:rPr sz="825" b="1">
                <a:solidFill>
                  <a:srgbClr val="58645F"/>
                </a:solidFill>
              </a:rPr>
              <a:t>TRADUZINDO O SER HUMANO  •  AULA 0.1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720221-C729-4ACE-B159-D0ED3A5CC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8645F"/>
                </a:solidFill>
              </a:defRPr>
            </a:pPr>
            <a:r>
              <a:rPr sz="900" b="0">
                <a:solidFill>
                  <a:srgbClr val="58645F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71086776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D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222400A-6EE5-429C-966E-977E4E610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819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8872B"/>
                </a:solidFill>
              </a:defRPr>
            </a:pPr>
            <a:r>
              <a:rPr sz="1050" b="1">
                <a:solidFill>
                  <a:srgbClr val="B8872B"/>
                </a:solidFill>
              </a:rPr>
              <a:t>A DINÂMICA CENTRAL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8233CC-F416-4761-92D5-78EE78B13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B38"/>
                </a:solidFill>
              </a:defRPr>
            </a:pPr>
            <a:r>
              <a:rPr sz="2850" b="1">
                <a:solidFill>
                  <a:srgbClr val="173B38"/>
                </a:solidFill>
              </a:rPr>
              <a:t>Tradução e EIXO se fortalecem em relação circular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1161CF-0105-4667-97DC-220B5F8C0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192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7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52F6B5-3B98-4515-A69F-58774EC93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86000"/>
            <a:ext cx="33337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D8EC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4036A1-1D89-4BCF-95B1-17869C9C2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57175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73B38"/>
                </a:solidFill>
              </a:defRPr>
            </a:pPr>
            <a:r>
              <a:rPr sz="2100" b="1">
                <a:solidFill>
                  <a:srgbClr val="173B38"/>
                </a:solidFill>
              </a:rPr>
              <a:t>ALGUM EIXO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31F259-D934-411A-9380-0F29760AF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143250"/>
            <a:ext cx="2667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58645F"/>
                </a:solidFill>
              </a:defRPr>
            </a:pPr>
            <a:r>
              <a:rPr sz="1800" b="0">
                <a:solidFill>
                  <a:srgbClr val="58645F"/>
                </a:solidFill>
              </a:rPr>
              <a:t>favorece presença suficiente</a:t>
            </a:r>
          </a:p>
          <a:p xmlns:a="http://schemas.openxmlformats.org/drawingml/2006/main">
            <a:pPr algn="ctr">
              <a:defRPr sz="1800" b="0">
                <a:solidFill>
                  <a:srgbClr val="58645F"/>
                </a:solidFill>
              </a:defRPr>
            </a:pPr>
            <a:r>
              <a:rPr sz="1800" b="0">
                <a:solidFill>
                  <a:srgbClr val="58645F"/>
                </a:solidFill>
              </a:rPr>
              <a:t>para perceber e traduzir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CA8037-9C9B-4D4B-B77C-D91DE4C02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714625"/>
            <a:ext cx="209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300" b="1">
                <a:solidFill>
                  <a:srgbClr val="B8872B"/>
                </a:solidFill>
              </a:defRPr>
            </a:pPr>
            <a:r>
              <a:rPr sz="6300" b="1">
                <a:solidFill>
                  <a:srgbClr val="B8872B"/>
                </a:solidFill>
              </a:rPr>
              <a:t>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45915C-CE6F-4147-9A67-1980F4667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286000"/>
            <a:ext cx="33337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DCE9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9EF2D3-2507-48EB-8345-C2AC40A8E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57175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73B38"/>
                </a:solidFill>
              </a:defRPr>
            </a:pPr>
            <a:r>
              <a:rPr sz="2100" b="1">
                <a:solidFill>
                  <a:srgbClr val="173B38"/>
                </a:solidFill>
              </a:rPr>
              <a:t>TRADUZIR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4F5C05-68C6-40B1-98D5-4D078C675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143250"/>
            <a:ext cx="2667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58645F"/>
                </a:solidFill>
              </a:defRPr>
            </a:pPr>
            <a:r>
              <a:rPr sz="1800" b="0">
                <a:solidFill>
                  <a:srgbClr val="58645F"/>
                </a:solidFill>
              </a:rPr>
              <a:t>pode ampliar legibilidade,</a:t>
            </a:r>
          </a:p>
          <a:p xmlns:a="http://schemas.openxmlformats.org/drawingml/2006/main">
            <a:pPr algn="ctr">
              <a:defRPr sz="1800" b="0">
                <a:solidFill>
                  <a:srgbClr val="58645F"/>
                </a:solidFill>
              </a:defRPr>
            </a:pPr>
            <a:r>
              <a:rPr sz="1800" b="0">
                <a:solidFill>
                  <a:srgbClr val="58645F"/>
                </a:solidFill>
              </a:rPr>
              <a:t>discernimento e orientação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D3E23A-5E4F-49E9-86F5-955A14DC6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048250"/>
            <a:ext cx="895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73B38"/>
                </a:solidFill>
              </a:defRPr>
            </a:pPr>
            <a:r>
              <a:rPr sz="2025" b="1">
                <a:solidFill>
                  <a:srgbClr val="173B38"/>
                </a:solidFill>
              </a:rPr>
              <a:t>O EIXO não é um centro fixo: é capacidade progressiva de reconhecer afastamento e reencontrar orientação.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6D0E70-836C-497C-A979-940164354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8645F"/>
                </a:solidFill>
              </a:defRPr>
            </a:pPr>
            <a:r>
              <a:rPr sz="825" b="1">
                <a:solidFill>
                  <a:srgbClr val="58645F"/>
                </a:solidFill>
              </a:rPr>
              <a:t>TRADUZINDO O SER HUMANO  •  AULA 0.1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F78AD2-3D09-4DF5-9DE4-F34B5261C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8645F"/>
                </a:solidFill>
              </a:defRPr>
            </a:pPr>
            <a:r>
              <a:rPr sz="900" b="0">
                <a:solidFill>
                  <a:srgbClr val="58645F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1782748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D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0A76ADB-9EA7-48D8-B633-0E04BE0DE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819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8872B"/>
                </a:solidFill>
              </a:defRPr>
            </a:pPr>
            <a:r>
              <a:rPr sz="1050" b="1">
                <a:solidFill>
                  <a:srgbClr val="B8872B"/>
                </a:solidFill>
              </a:rPr>
              <a:t>O CAMPO MULTIDIMENSIONAL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6BE07E-6D0E-45AB-9AB2-B7C1FCC68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B38"/>
                </a:solidFill>
              </a:defRPr>
            </a:pPr>
            <a:r>
              <a:rPr sz="2850" b="1">
                <a:solidFill>
                  <a:srgbClr val="173B38"/>
                </a:solidFill>
              </a:rPr>
              <a:t>Toda experiência pode manifestar-se em mais de uma dimensão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53FD53-FC72-4217-AC02-BFAE7D6FB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192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72B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7959ee4a134014"/>
          <a:stretch xmlns:a="http://schemas.openxmlformats.org/drawingml/2006/main"/>
        </p:blipFill>
        <p:spPr>
          <a:xfrm xmlns:a="http://schemas.openxmlformats.org/drawingml/2006/main">
            <a:off x="3714750" y="1562100"/>
            <a:ext cx="4762500" cy="47625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6670A5-33C4-417D-94B4-A8C6D6DBB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8645F"/>
                </a:solidFill>
              </a:defRPr>
            </a:pPr>
            <a:r>
              <a:rPr sz="825" b="1">
                <a:solidFill>
                  <a:srgbClr val="58645F"/>
                </a:solidFill>
              </a:rPr>
              <a:t>TRADUZINDO O SER HUMANO  •  AULA 0.1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ABD979-2987-4633-8D82-1DBB8316F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8645F"/>
                </a:solidFill>
              </a:defRPr>
            </a:pPr>
            <a:r>
              <a:rPr sz="900" b="0">
                <a:solidFill>
                  <a:srgbClr val="58645F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01684906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D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E2237CE-617A-4804-A9CD-5CDF756FE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819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8872B"/>
                </a:solidFill>
              </a:defRPr>
            </a:pPr>
            <a:r>
              <a:rPr sz="1050" b="1">
                <a:solidFill>
                  <a:srgbClr val="B8872B"/>
                </a:solidFill>
              </a:rPr>
              <a:t>UMA CARTOGRAFIA, NÃO UM CHECKLIST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C0796A-F420-4212-A947-7173AC5D3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B38"/>
                </a:solidFill>
              </a:defRPr>
            </a:pPr>
            <a:r>
              <a:rPr sz="2850" b="1">
                <a:solidFill>
                  <a:srgbClr val="173B38"/>
                </a:solidFill>
              </a:rPr>
              <a:t>O mapa abre possibilidades — não exige que tudo apareça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976738-C9C8-4650-A6CC-5FE1AB69C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192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7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F4D105-B176-4405-9DCB-D8C6FA64E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43B481-56F1-4070-969D-BC5D64B3E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6858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B887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EBEB3F-A521-4095-A988-A28A60051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583CAF-90D0-4903-8B1C-35BEB4AB6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790700"/>
            <a:ext cx="4524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3B38"/>
                </a:solidFill>
              </a:defRPr>
            </a:pPr>
            <a:r>
              <a:rPr sz="2100" b="1">
                <a:solidFill>
                  <a:srgbClr val="173B38"/>
                </a:solidFill>
              </a:rPr>
              <a:t>Nenhuma dimensão é obrigatória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8A0647-BA4B-48F3-8C99-422938825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247900"/>
            <a:ext cx="8477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8645F"/>
                </a:solidFill>
              </a:defRPr>
            </a:pPr>
            <a:r>
              <a:rPr sz="1650" b="0">
                <a:solidFill>
                  <a:srgbClr val="58645F"/>
                </a:solidFill>
              </a:rPr>
              <a:t>O participante registra somente o que estiver presente.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8FACBC-ADAE-4561-9B8D-5ADEA15CC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90875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FA988B-881B-4DE4-899D-23A40CBBD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90875"/>
            <a:ext cx="6858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73B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A9CABE-2DE1-4F38-84DD-3306E04BC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90875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1475DD-22EE-49B5-BDD9-A3F137626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171825"/>
            <a:ext cx="4524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3B38"/>
                </a:solidFill>
              </a:defRPr>
            </a:pPr>
            <a:r>
              <a:rPr sz="2100" b="1">
                <a:solidFill>
                  <a:srgbClr val="173B38"/>
                </a:solidFill>
              </a:rPr>
              <a:t>Nenhuma linguagem é superior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BE847B-C857-4531-907D-E03FD2964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629025"/>
            <a:ext cx="8477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8645F"/>
                </a:solidFill>
              </a:defRPr>
            </a:pPr>
            <a:r>
              <a:rPr sz="1650" b="0">
                <a:solidFill>
                  <a:srgbClr val="58645F"/>
                </a:solidFill>
              </a:rPr>
              <a:t>Corpo, símbolo, energia, relação e espiritualidade podem dialogar sem se anularem.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FC579B-6E28-4CBA-B6C8-C2C857438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0D3891-7A77-4636-BAF7-0D70EC552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0"/>
            <a:ext cx="6858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73B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D62215-128D-4C03-A669-C6271C118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E3C1C0-8477-4460-9852-1A6C9D2E5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552950"/>
            <a:ext cx="4524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3B38"/>
                </a:solidFill>
              </a:defRPr>
            </a:pPr>
            <a:r>
              <a:rPr sz="2100" b="1">
                <a:solidFill>
                  <a:srgbClr val="173B38"/>
                </a:solidFill>
              </a:rPr>
              <a:t>Toda nomeação permanece revisável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FFD693-4C79-4460-8EF1-37E6EC542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010150"/>
            <a:ext cx="8477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8645F"/>
                </a:solidFill>
              </a:defRPr>
            </a:pPr>
            <a:r>
              <a:rPr sz="1650" b="0">
                <a:solidFill>
                  <a:srgbClr val="58645F"/>
                </a:solidFill>
              </a:rPr>
              <a:t>Uma palavra pode aproximar-se do vivido sem se tornar conclusão definitiva.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1028F78-CB18-4BA9-8876-6D1EF1BC8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8645F"/>
                </a:solidFill>
              </a:defRPr>
            </a:pPr>
            <a:r>
              <a:rPr sz="825" b="1">
                <a:solidFill>
                  <a:srgbClr val="58645F"/>
                </a:solidFill>
              </a:rPr>
              <a:t>TRADUZINDO O SER HUMANO  •  AULA 0.1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1D755C4-BD79-476F-999D-619BEDDFA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8645F"/>
                </a:solidFill>
              </a:defRPr>
            </a:pPr>
            <a:r>
              <a:rPr sz="900" b="0">
                <a:solidFill>
                  <a:srgbClr val="58645F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82407903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D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CD7C3FD-EFA8-4452-A82D-45CB1311F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819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8872B"/>
                </a:solidFill>
              </a:defRPr>
            </a:pPr>
            <a:r>
              <a:rPr sz="1050" b="1">
                <a:solidFill>
                  <a:srgbClr val="B8872B"/>
                </a:solidFill>
              </a:rPr>
              <a:t>DEMONSTRAÇÃO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8D96D4-F0C1-4275-A2CE-03B65074E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B38"/>
                </a:solidFill>
              </a:defRPr>
            </a:pPr>
            <a:r>
              <a:rPr sz="2850" b="1">
                <a:solidFill>
                  <a:srgbClr val="173B38"/>
                </a:solidFill>
              </a:rPr>
              <a:t>Uma mensagem sem resposta já contém várias camadas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D058EA-0D3F-4A70-B06B-B554472E5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192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7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8EF7AD-AAC0-452E-BB02-F40466735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66875"/>
            <a:ext cx="108585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D8EC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BC1B1F-A89A-4DBE-BF90-846585BBA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752600"/>
            <a:ext cx="3000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B38"/>
                </a:solidFill>
              </a:defRPr>
            </a:pPr>
            <a:r>
              <a:rPr sz="1575" b="1">
                <a:solidFill>
                  <a:srgbClr val="173B38"/>
                </a:solidFill>
              </a:rPr>
              <a:t>1. O que se apresenta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9C9CDD-737A-46ED-BCED-85E4DC650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1752600"/>
            <a:ext cx="714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8645F"/>
                </a:solidFill>
              </a:defRPr>
            </a:pPr>
            <a:r>
              <a:rPr sz="1500" b="0">
                <a:solidFill>
                  <a:srgbClr val="58645F"/>
                </a:solidFill>
              </a:rPr>
              <a:t>Enviei uma mensagem importante e ainda não houve resposta.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6DE27D-E7DA-469E-8B44-74C7CEC1F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0"/>
            <a:ext cx="108585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7F2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B702B0-DBBA-46F7-B35C-EFF657529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657475"/>
            <a:ext cx="3000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B38"/>
                </a:solidFill>
              </a:defRPr>
            </a:pPr>
            <a:r>
              <a:rPr sz="1575" b="1">
                <a:solidFill>
                  <a:srgbClr val="173B38"/>
                </a:solidFill>
              </a:rPr>
              <a:t>2. Como se manifesta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43E588-3232-4B7A-9C56-165110BFE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657475"/>
            <a:ext cx="714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8645F"/>
                </a:solidFill>
              </a:defRPr>
            </a:pPr>
            <a:r>
              <a:rPr sz="1500" b="0">
                <a:solidFill>
                  <a:srgbClr val="58645F"/>
                </a:solidFill>
              </a:rPr>
              <a:t>Aperto no peito, ansiedade, pensamentos repetitivos e impulso de insistir.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1E0CD0-DC1F-4F93-B6D5-A2607E0DF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76625"/>
            <a:ext cx="108585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D8EC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ED08B2-CBA4-46B4-BC01-617ABDB25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562350"/>
            <a:ext cx="3000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B38"/>
                </a:solidFill>
              </a:defRPr>
            </a:pPr>
            <a:r>
              <a:rPr sz="1575" b="1">
                <a:solidFill>
                  <a:srgbClr val="173B38"/>
                </a:solidFill>
              </a:rPr>
              <a:t>3. Como nomeio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48701A-E84A-4963-8CA4-4DF5EB5F0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3562350"/>
            <a:ext cx="714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8645F"/>
                </a:solidFill>
              </a:defRPr>
            </a:pPr>
            <a:r>
              <a:rPr sz="1500" b="0">
                <a:solidFill>
                  <a:srgbClr val="58645F"/>
                </a:solidFill>
              </a:rPr>
              <a:t>“Estou sendo abandonado.”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9BB9CD-C63B-4131-AB44-376F60126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81500"/>
            <a:ext cx="108585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7F2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646461-18FC-4CE6-A5ED-A4D0BEC79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467225"/>
            <a:ext cx="3000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B38"/>
                </a:solidFill>
              </a:defRPr>
            </a:pPr>
            <a:r>
              <a:rPr sz="1575" b="1">
                <a:solidFill>
                  <a:srgbClr val="173B38"/>
                </a:solidFill>
              </a:rPr>
              <a:t>4. Que hipóteses uso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62D85C-7A75-42C1-AC49-A8E1D3284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4467225"/>
            <a:ext cx="714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8645F"/>
                </a:solidFill>
              </a:defRPr>
            </a:pPr>
            <a:r>
              <a:rPr sz="1500" b="0">
                <a:solidFill>
                  <a:srgbClr val="58645F"/>
                </a:solidFill>
              </a:rPr>
              <a:t>Indisponibilidade, conflito, padrão biográfico — ou uma combinação.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9B4BBF-4B71-4E43-B917-9C923A701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86375"/>
            <a:ext cx="108585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D8EC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390DBA-0FD8-4EE4-AD85-F1BFC20D6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372100"/>
            <a:ext cx="3000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B38"/>
                </a:solidFill>
              </a:defRPr>
            </a:pPr>
            <a:r>
              <a:rPr sz="1575" b="1">
                <a:solidFill>
                  <a:srgbClr val="173B38"/>
                </a:solidFill>
              </a:rPr>
              <a:t>5. O que solicita agora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C5062A9-FD35-4B39-89D3-14D89A550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5372100"/>
            <a:ext cx="714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8645F"/>
                </a:solidFill>
              </a:defRPr>
            </a:pPr>
            <a:r>
              <a:rPr sz="1500" b="0">
                <a:solidFill>
                  <a:srgbClr val="58645F"/>
                </a:solidFill>
              </a:rPr>
              <a:t>Pausar, distinguir fato de antecipação e escolher como retomar contato.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82256B2-8451-4ADC-AD60-1062371EE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8645F"/>
                </a:solidFill>
              </a:defRPr>
            </a:pPr>
            <a:r>
              <a:rPr sz="825" b="1">
                <a:solidFill>
                  <a:srgbClr val="58645F"/>
                </a:solidFill>
              </a:rPr>
              <a:t>TRADUZINDO O SER HUMANO  •  AULA 0.1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742612-DF78-4C9E-9AED-702271FAB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8645F"/>
                </a:solidFill>
              </a:defRPr>
            </a:pPr>
            <a:r>
              <a:rPr sz="900" b="0">
                <a:solidFill>
                  <a:srgbClr val="58645F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36766580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D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0F7E7D4-F6F3-4FF1-98BE-F3F5CB757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819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8872B"/>
                </a:solidFill>
              </a:defRPr>
            </a:pPr>
            <a:r>
              <a:rPr sz="1050" b="1">
                <a:solidFill>
                  <a:srgbClr val="B8872B"/>
                </a:solidFill>
              </a:rPr>
              <a:t>QUATRO DISTINÇÕES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4BC288-548A-4385-AF07-29455FBD7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B38"/>
                </a:solidFill>
              </a:defRPr>
            </a:pPr>
            <a:r>
              <a:rPr sz="2850" b="1">
                <a:solidFill>
                  <a:srgbClr val="173B38"/>
                </a:solidFill>
              </a:rPr>
              <a:t>O discernimento começa quando as camadas deixam de parecer a mesma coisa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F6800D-AEFE-4771-ADA7-F40F88CFC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192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7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D0C751-C667-4C1E-93E9-C820034F9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43125"/>
            <a:ext cx="2571750" cy="2571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D8EC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3DA0CE-6C2A-4B88-A818-26B2E6739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57450"/>
            <a:ext cx="219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3B38"/>
                </a:solidFill>
              </a:defRPr>
            </a:pPr>
            <a:r>
              <a:rPr sz="1650" b="1">
                <a:solidFill>
                  <a:srgbClr val="173B38"/>
                </a:solidFill>
              </a:rPr>
              <a:t>FENÔMENO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356A93-258D-4647-8D4D-170271518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43250"/>
            <a:ext cx="2000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8645F"/>
                </a:solidFill>
              </a:defRPr>
            </a:pPr>
            <a:r>
              <a:rPr sz="1725" b="0">
                <a:solidFill>
                  <a:srgbClr val="58645F"/>
                </a:solidFill>
              </a:rPr>
              <a:t>O que aconteceu ou se apresenta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BE0E47-1BC8-4920-AF79-FDDE2E9AB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143125"/>
            <a:ext cx="2571750" cy="2571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DCE9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8A1CA8-BB39-498E-8F44-F738C83B5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457450"/>
            <a:ext cx="219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3B38"/>
                </a:solidFill>
              </a:defRPr>
            </a:pPr>
            <a:r>
              <a:rPr sz="1650" b="1">
                <a:solidFill>
                  <a:srgbClr val="173B38"/>
                </a:solidFill>
              </a:rPr>
              <a:t>MANIFESTAÇÃO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7832F3-8505-4BF1-97CC-6EEE511E4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143250"/>
            <a:ext cx="2000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8645F"/>
                </a:solidFill>
              </a:defRPr>
            </a:pPr>
            <a:r>
              <a:rPr sz="1725" b="0">
                <a:solidFill>
                  <a:srgbClr val="58645F"/>
                </a:solidFill>
              </a:rPr>
              <a:t>O que ocorre no corpo, afetos, mente e relações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E035E2-9385-4DCB-B591-605EE5872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143125"/>
            <a:ext cx="2571750" cy="2571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DCE5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9D5428-6CEA-4DBE-B1C7-CA8C75995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457450"/>
            <a:ext cx="219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3B38"/>
                </a:solidFill>
              </a:defRPr>
            </a:pPr>
            <a:r>
              <a:rPr sz="1650" b="1">
                <a:solidFill>
                  <a:srgbClr val="173B38"/>
                </a:solidFill>
              </a:rPr>
              <a:t>INTERPRETAÇÃO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86ABC1-0486-4835-A30F-5C32865A1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143250"/>
            <a:ext cx="2000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8645F"/>
                </a:solidFill>
              </a:defRPr>
            </a:pPr>
            <a:r>
              <a:rPr sz="1725" b="0">
                <a:solidFill>
                  <a:srgbClr val="58645F"/>
                </a:solidFill>
              </a:rPr>
              <a:t>O significado que comecei a atribuir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9DA14E-1366-42DF-87E0-8B7C41654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143125"/>
            <a:ext cx="2571750" cy="2571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E8DC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877382-9F7A-4637-BBF6-417DC566C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457450"/>
            <a:ext cx="219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3B38"/>
                </a:solidFill>
              </a:defRPr>
            </a:pPr>
            <a:r>
              <a:rPr sz="1650" b="1">
                <a:solidFill>
                  <a:srgbClr val="173B38"/>
                </a:solidFill>
              </a:rPr>
              <a:t>HIPÓTESE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E04B61-5218-43C6-9C99-AE4D9B369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143250"/>
            <a:ext cx="2000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8645F"/>
                </a:solidFill>
              </a:defRPr>
            </a:pPr>
            <a:r>
              <a:rPr sz="1725" b="0">
                <a:solidFill>
                  <a:srgbClr val="58645F"/>
                </a:solidFill>
              </a:rPr>
              <a:t>Uma explicação possível, ainda aberta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228D30-35FD-447B-B0DE-6837E48E9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191125"/>
            <a:ext cx="933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73B38"/>
                </a:solidFill>
              </a:defRPr>
            </a:pPr>
            <a:r>
              <a:rPr sz="2025" b="1">
                <a:solidFill>
                  <a:srgbClr val="173B38"/>
                </a:solidFill>
              </a:rPr>
              <a:t>A experiência pode ser real e transformadora sem que sua origem esteja demonstrada.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A8B10E-31B0-4BB6-8E56-43D49F7D4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8645F"/>
                </a:solidFill>
              </a:defRPr>
            </a:pPr>
            <a:r>
              <a:rPr sz="825" b="1">
                <a:solidFill>
                  <a:srgbClr val="58645F"/>
                </a:solidFill>
              </a:rPr>
              <a:t>TRADUZINDO O SER HUMANO  •  AULA 0.1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8E2BF2-77B3-40B4-89AA-2268AAAA2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8645F"/>
                </a:solidFill>
              </a:defRPr>
            </a:pPr>
            <a:r>
              <a:rPr sz="900" b="0">
                <a:solidFill>
                  <a:srgbClr val="58645F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22031190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2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263BB37-F41A-4B0C-9E15-4D41DA99E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819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8872B"/>
                </a:solidFill>
              </a:defRPr>
            </a:pPr>
            <a:r>
              <a:rPr sz="1050" b="1">
                <a:solidFill>
                  <a:srgbClr val="B8872B"/>
                </a:solidFill>
              </a:rPr>
              <a:t>MICROPRÁTICA INDIVIDUAL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C9F8B2-1F03-498F-ACEA-3C6AA22E3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B38"/>
                </a:solidFill>
              </a:defRPr>
            </a:pPr>
            <a:r>
              <a:rPr sz="2850" b="1">
                <a:solidFill>
                  <a:srgbClr val="173B38"/>
                </a:solidFill>
              </a:rPr>
              <a:t>Agora, observe uma experiência leve ou neutra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22D4B1-002D-41E5-A851-EA36FA8E6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192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7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127829-AFA1-4DC3-B032-61BCB91BD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666875"/>
            <a:ext cx="1009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73B38"/>
                </a:solidFill>
              </a:defRPr>
            </a:pPr>
            <a:r>
              <a:rPr sz="2100" b="1">
                <a:solidFill>
                  <a:srgbClr val="173B38"/>
                </a:solidFill>
              </a:rPr>
              <a:t>Escolha algo que possa ser visitado sem ultrapassar suas condições atuais de presença.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CAE12A-3DCB-441A-B5A7-C29F0F713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571750"/>
            <a:ext cx="8001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CFC6B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54656A-1067-4074-9438-41B42DFCA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638425"/>
            <a:ext cx="457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B8872B"/>
                </a:solidFill>
              </a:defRPr>
            </a:pPr>
            <a:r>
              <a:rPr sz="1800" b="1">
                <a:solidFill>
                  <a:srgbClr val="B8872B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A99C8F-010E-46D1-B813-52A5BCEFF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638425"/>
            <a:ext cx="676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3B38"/>
                </a:solidFill>
              </a:defRPr>
            </a:pPr>
            <a:r>
              <a:rPr sz="1875" b="1">
                <a:solidFill>
                  <a:srgbClr val="173B38"/>
                </a:solidFill>
              </a:rPr>
              <a:t>O que se apresenta?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896492-CCCB-4628-83A9-D464F770C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305175"/>
            <a:ext cx="8001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CFC6B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BAE44E-E5D5-4753-8A38-1F3332783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371850"/>
            <a:ext cx="457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B8872B"/>
                </a:solidFill>
              </a:defRPr>
            </a:pPr>
            <a:r>
              <a:rPr sz="1800" b="1">
                <a:solidFill>
                  <a:srgbClr val="B8872B"/>
                </a:solidFill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033789-010B-430E-A5F8-868E0023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371850"/>
            <a:ext cx="676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3B38"/>
                </a:solidFill>
              </a:defRPr>
            </a:pPr>
            <a:r>
              <a:rPr sz="1875" b="1">
                <a:solidFill>
                  <a:srgbClr val="173B38"/>
                </a:solidFill>
              </a:rPr>
              <a:t>Onde e como isso se manifesta?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AE3292-36D1-4A5D-834E-00D6BA0D5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038600"/>
            <a:ext cx="8001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CFC6B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231F74-E5F3-4CEC-B869-F09552AC8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105275"/>
            <a:ext cx="457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B8872B"/>
                </a:solidFill>
              </a:defRPr>
            </a:pPr>
            <a:r>
              <a:rPr sz="1800" b="1">
                <a:solidFill>
                  <a:srgbClr val="B8872B"/>
                </a:solidFill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F1FE88-847A-4ADA-94DB-D7630B05A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105275"/>
            <a:ext cx="676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3B38"/>
                </a:solidFill>
              </a:defRPr>
            </a:pPr>
            <a:r>
              <a:rPr sz="1875" b="1">
                <a:solidFill>
                  <a:srgbClr val="173B38"/>
                </a:solidFill>
              </a:rPr>
              <a:t>Como você começa a nomear?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D9FC3B-6D35-4E3E-A37B-B323ADFCD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772025"/>
            <a:ext cx="8001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CFC6B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093ECA-C31E-41B3-BD6F-27379578C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838700"/>
            <a:ext cx="457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B8872B"/>
                </a:solidFill>
              </a:defRPr>
            </a:pPr>
            <a:r>
              <a:rPr sz="1800" b="1">
                <a:solidFill>
                  <a:srgbClr val="B8872B"/>
                </a:solidFill>
              </a:rPr>
              <a:t>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85F8BA-8C9B-44F7-AA54-F91A728CE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838700"/>
            <a:ext cx="676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3B38"/>
                </a:solidFill>
              </a:defRPr>
            </a:pPr>
            <a:r>
              <a:rPr sz="1875" b="1">
                <a:solidFill>
                  <a:srgbClr val="173B38"/>
                </a:solidFill>
              </a:rPr>
              <a:t>O que ainda não sabe?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F1A0D2-D5DD-4DFF-A363-63C14ADB6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5762625"/>
            <a:ext cx="847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8645F"/>
                </a:solidFill>
              </a:defRPr>
            </a:pPr>
            <a:r>
              <a:rPr sz="1500" b="0">
                <a:solidFill>
                  <a:srgbClr val="58645F"/>
                </a:solidFill>
              </a:rPr>
              <a:t>Você pode pausar, escolher outra experiência ou apenas observar o ambiente.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FF1299-75E9-487F-9400-9603C36B7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8645F"/>
                </a:solidFill>
              </a:defRPr>
            </a:pPr>
            <a:r>
              <a:rPr sz="825" b="1">
                <a:solidFill>
                  <a:srgbClr val="58645F"/>
                </a:solidFill>
              </a:rPr>
              <a:t>TRADUZINDO O SER HUMANO  •  AULA 0.1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89D19C-72F9-4904-B396-E7B49BAB9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8645F"/>
                </a:solidFill>
              </a:defRPr>
            </a:pPr>
            <a:r>
              <a:rPr sz="900" b="0">
                <a:solidFill>
                  <a:srgbClr val="58645F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60392832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D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3040B6F-A2CC-47A2-957D-2D00FE0B0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819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8872B"/>
                </a:solidFill>
              </a:defRPr>
            </a:pPr>
            <a:r>
              <a:rPr sz="1050" b="1">
                <a:solidFill>
                  <a:srgbClr val="B8872B"/>
                </a:solidFill>
              </a:rPr>
              <a:t>SÍNTESE DA PRÁTICA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C80536-0135-4583-8E60-F54BD0D3C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B38"/>
                </a:solidFill>
              </a:defRPr>
            </a:pPr>
            <a:r>
              <a:rPr sz="2850" b="1">
                <a:solidFill>
                  <a:srgbClr val="173B38"/>
                </a:solidFill>
              </a:rPr>
              <a:t>Uma Tradução provisória organiza sem encerrar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3DD11A-0FF9-4C17-855E-64434BB83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192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7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035692-87A8-4457-B195-5E87812E5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000250"/>
            <a:ext cx="1019175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D8EC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8AE7EF-BADE-4276-BB0A-E93660CC1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343150"/>
            <a:ext cx="9239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3B38"/>
                </a:solidFill>
              </a:defRPr>
            </a:pPr>
            <a:r>
              <a:rPr sz="2250" b="1">
                <a:solidFill>
                  <a:srgbClr val="173B38"/>
                </a:solidFill>
              </a:rPr>
              <a:t>“Neste momento, reconheço que…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2A630D-A3E5-4F27-A312-5D27AF015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952750"/>
            <a:ext cx="8763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8645F"/>
                </a:solidFill>
              </a:defRPr>
            </a:pPr>
            <a:r>
              <a:rPr sz="2025" b="0">
                <a:solidFill>
                  <a:srgbClr val="58645F"/>
                </a:solidFill>
              </a:rPr>
              <a:t>isso se manifesta principalmente em…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58645F"/>
                </a:solidFill>
              </a:defRPr>
            </a:pPr>
            <a:r>
              <a:rPr sz="2025" b="0">
                <a:solidFill>
                  <a:srgbClr val="58645F"/>
                </a:solidFill>
              </a:rPr>
              <a:t>eu o nomeio provisoriamente como…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58645F"/>
                </a:solidFill>
              </a:defRPr>
            </a:pPr>
            <a:r>
              <a:rPr sz="2025" b="0">
                <a:solidFill>
                  <a:srgbClr val="58645F"/>
                </a:solidFill>
              </a:rPr>
              <a:t>sem concluir que…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58645F"/>
                </a:solidFill>
              </a:defRPr>
            </a:pPr>
            <a:r>
              <a:rPr sz="2025" b="0">
                <a:solidFill>
                  <a:srgbClr val="58645F"/>
                </a:solidFill>
              </a:rPr>
              <a:t>agora, parece solicitar…”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A57FAD-347E-4FC3-9AEA-563FEAD3B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429250"/>
            <a:ext cx="876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3B38"/>
                </a:solidFill>
              </a:defRPr>
            </a:pPr>
            <a:r>
              <a:rPr sz="1875" b="1">
                <a:solidFill>
                  <a:srgbClr val="173B38"/>
                </a:solidFill>
              </a:rPr>
              <a:t>Provisório não significa superficial. Significa aberto à experiência e à revisão.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01E003-E52A-4F70-87F8-8ADE81426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8645F"/>
                </a:solidFill>
              </a:defRPr>
            </a:pPr>
            <a:r>
              <a:rPr sz="825" b="1">
                <a:solidFill>
                  <a:srgbClr val="58645F"/>
                </a:solidFill>
              </a:rPr>
              <a:t>TRADUZINDO O SER HUMANO  •  AULA 0.1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4B97C9-BEA7-476B-8F7F-CB46A2C0A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8645F"/>
                </a:solidFill>
              </a:defRPr>
            </a:pPr>
            <a:r>
              <a:rPr sz="900" b="0">
                <a:solidFill>
                  <a:srgbClr val="58645F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91030241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73B3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1D202E2-104F-438F-80A5-A9A02D774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9125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9D9A7"/>
                </a:solidFill>
              </a:defRPr>
            </a:pPr>
            <a:r>
              <a:rPr sz="1200" b="1">
                <a:solidFill>
                  <a:srgbClr val="E9D9A7"/>
                </a:solidFill>
              </a:rPr>
              <a:t>PERGUNTA DE SAÍDA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F106B5-BAF6-49A7-88D9-9040D548D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76375"/>
            <a:ext cx="9906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</a:defRPr>
            </a:pPr>
            <a:r>
              <a:rPr sz="3450" b="1">
                <a:solidFill>
                  <a:srgbClr val="FFFFFF"/>
                </a:solidFill>
              </a:rPr>
              <a:t>O que ficou mais legível</a:t>
            </a:r>
          </a:p>
          <a:p xmlns:a="http://schemas.openxmlformats.org/drawingml/2006/main">
            <a:pPr algn="l">
              <a:defRPr sz="3450" b="1">
                <a:solidFill>
                  <a:srgbClr val="FFFFFF"/>
                </a:solidFill>
              </a:defRPr>
            </a:pPr>
            <a:r>
              <a:rPr sz="3450" b="1">
                <a:solidFill>
                  <a:srgbClr val="FFFFFF"/>
                </a:solidFill>
              </a:rPr>
              <a:t>sem precisar tornar-se definitivo?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340984-F272-48F4-8B6C-222D76BA8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0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7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D3DB66-87AD-41F1-B9B1-E87C87A96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90950"/>
            <a:ext cx="609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DCE8E4"/>
                </a:solidFill>
              </a:defRPr>
            </a:pPr>
            <a:r>
              <a:rPr sz="1875" b="0">
                <a:solidFill>
                  <a:srgbClr val="DCE8E4"/>
                </a:solidFill>
              </a:rPr>
              <a:t>Leve uma observação para a vida: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4CABEF-93B8-4F83-8A6C-DFC33A28D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62450"/>
            <a:ext cx="9525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FFFFF"/>
                </a:solidFill>
              </a:defRPr>
            </a:pPr>
            <a:r>
              <a:rPr sz="2175" b="1">
                <a:solidFill>
                  <a:srgbClr val="FFFFFF"/>
                </a:solidFill>
              </a:rPr>
              <a:t>quando algo mobilizar você, experimente distinguir o que aconteceu, como se manifesta e o que ainda permanece aberto.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E231F4-331E-40D7-9976-95DDC58FF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86450"/>
            <a:ext cx="847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9D9A7"/>
                </a:solidFill>
              </a:defRPr>
            </a:pPr>
            <a:r>
              <a:rPr sz="1350" b="0">
                <a:solidFill>
                  <a:srgbClr val="E9D9A7"/>
                </a:solidFill>
              </a:rPr>
              <a:t>Próxima aula: o percurso do EIXO e o contrato de aprendizagem.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F5D46E-6DE2-4BD8-A968-18D245740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8645F"/>
                </a:solidFill>
              </a:defRPr>
            </a:pPr>
            <a:r>
              <a:rPr sz="825" b="1">
                <a:solidFill>
                  <a:srgbClr val="58645F"/>
                </a:solidFill>
              </a:rPr>
              <a:t>TRADUZINDO O SER HUMANO  •  AULA 0.1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65F4F4-E756-4B01-95B4-6B22180EC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8645F"/>
                </a:solidFill>
              </a:defRPr>
            </a:pPr>
            <a:r>
              <a:rPr sz="900" b="0">
                <a:solidFill>
                  <a:srgbClr val="58645F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75635265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2026-07-20T00:09:15.7840000Z</dcterms:created>
  <dcterms:modified xsi:type="dcterms:W3CDTF">2026-07-20T00:09:15.7840000Z</dcterms:modified>
</coreProperties>
</file>