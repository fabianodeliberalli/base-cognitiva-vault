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01eecbc546447c4" Type="http://schemas.openxmlformats.org/officeDocument/2006/relationships/extended-properties" Target="docProps/app.xml"/><Relationship Id="Rb117bd0f036d4fc5" Type="http://schemas.openxmlformats.org/officeDocument/2006/relationships/officeDocument" Target="ppt/presentation.xml"/><Relationship Id="Re79d6dacdc5d440b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9e0f6714044e89"/>
  </p:sldMasterIdLst>
  <p:notesMasterIdLst>
    <p:notesMasterId xmlns:r="http://schemas.openxmlformats.org/officeDocument/2006/relationships" r:id="Rb3a759af777a4ef8"/>
  </p:notesMasterIdLst>
  <p:sldIdLst>
    <p:sldId xmlns:r="http://schemas.openxmlformats.org/officeDocument/2006/relationships" id="256" r:id="R406f6f5e0ed04ccc"/>
    <p:sldId xmlns:r="http://schemas.openxmlformats.org/officeDocument/2006/relationships" id="257" r:id="R3f66a140ee6c4918"/>
    <p:sldId xmlns:r="http://schemas.openxmlformats.org/officeDocument/2006/relationships" id="258" r:id="Rb16d540314eb4e1e"/>
    <p:sldId xmlns:r="http://schemas.openxmlformats.org/officeDocument/2006/relationships" id="259" r:id="Rdb4aceca474748aa"/>
    <p:sldId xmlns:r="http://schemas.openxmlformats.org/officeDocument/2006/relationships" id="260" r:id="R4788e68e163a4f17"/>
    <p:sldId xmlns:r="http://schemas.openxmlformats.org/officeDocument/2006/relationships" id="261" r:id="R61c57c79a03141ac"/>
    <p:sldId xmlns:r="http://schemas.openxmlformats.org/officeDocument/2006/relationships" id="262" r:id="R839d7564ed1b485d"/>
    <p:sldId xmlns:r="http://schemas.openxmlformats.org/officeDocument/2006/relationships" id="263" r:id="R6f0a9fdacc8d4c04"/>
    <p:sldId xmlns:r="http://schemas.openxmlformats.org/officeDocument/2006/relationships" id="264" r:id="R4a029748b39c4193"/>
    <p:sldId xmlns:r="http://schemas.openxmlformats.org/officeDocument/2006/relationships" id="265" r:id="R4a9e8fc85f774e1f"/>
    <p:sldId xmlns:r="http://schemas.openxmlformats.org/officeDocument/2006/relationships" id="266" r:id="R11b4b7e1fa6b4804"/>
    <p:sldId xmlns:r="http://schemas.openxmlformats.org/officeDocument/2006/relationships" id="267" r:id="R46ef05ec6a864404"/>
    <p:sldId xmlns:r="http://schemas.openxmlformats.org/officeDocument/2006/relationships" id="268" r:id="Rdcf7cd9fb4934406"/>
    <p:sldId xmlns:r="http://schemas.openxmlformats.org/officeDocument/2006/relationships" id="269" r:id="Rde7482a42c9442a8"/>
    <p:sldId xmlns:r="http://schemas.openxmlformats.org/officeDocument/2006/relationships" id="270" r:id="R6a569567952044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1b4b7e1fa6b4804" Type="http://schemas.openxmlformats.org/officeDocument/2006/relationships/slide" Target="slides/slide11.xml"/><Relationship Id="R3f66a140ee6c4918" Type="http://schemas.openxmlformats.org/officeDocument/2006/relationships/slide" Target="slides/slide2.xml"/><Relationship Id="R406f6f5e0ed04ccc" Type="http://schemas.openxmlformats.org/officeDocument/2006/relationships/slide" Target="slides/slide1.xml"/><Relationship Id="R46ef05ec6a864404" Type="http://schemas.openxmlformats.org/officeDocument/2006/relationships/slide" Target="slides/slide12.xml"/><Relationship Id="R4788e68e163a4f17" Type="http://schemas.openxmlformats.org/officeDocument/2006/relationships/slide" Target="slides/slide5.xml"/><Relationship Id="R4a029748b39c4193" Type="http://schemas.openxmlformats.org/officeDocument/2006/relationships/slide" Target="slides/slide9.xml"/><Relationship Id="R4a9e8fc85f774e1f" Type="http://schemas.openxmlformats.org/officeDocument/2006/relationships/slide" Target="slides/slide10.xml"/><Relationship Id="R512507c0b9bd4990" Type="http://schemas.openxmlformats.org/officeDocument/2006/relationships/theme" Target="theme/theme1.xml"/><Relationship Id="R61c57c79a03141ac" Type="http://schemas.openxmlformats.org/officeDocument/2006/relationships/slide" Target="slides/slide6.xml"/><Relationship Id="R6a56956795204418" Type="http://schemas.openxmlformats.org/officeDocument/2006/relationships/slide" Target="slides/slide15.xml"/><Relationship Id="R6f0a9fdacc8d4c04" Type="http://schemas.openxmlformats.org/officeDocument/2006/relationships/slide" Target="slides/slide8.xml"/><Relationship Id="R71a3ded0950840ec" Type="http://schemas.openxmlformats.org/officeDocument/2006/relationships/presProps" Target="presProps.xml"/><Relationship Id="R839d7564ed1b485d" Type="http://schemas.openxmlformats.org/officeDocument/2006/relationships/slide" Target="slides/slide7.xml"/><Relationship Id="Rb16d540314eb4e1e" Type="http://schemas.openxmlformats.org/officeDocument/2006/relationships/slide" Target="slides/slide3.xml"/><Relationship Id="Rb3a759af777a4ef8" Type="http://schemas.openxmlformats.org/officeDocument/2006/relationships/notesMaster" Target="notesMasters/notesMaster1.xml"/><Relationship Id="Rdb4aceca474748aa" Type="http://schemas.openxmlformats.org/officeDocument/2006/relationships/slide" Target="slides/slide4.xml"/><Relationship Id="Rdcf7cd9fb4934406" Type="http://schemas.openxmlformats.org/officeDocument/2006/relationships/slide" Target="slides/slide13.xml"/><Relationship Id="Rde7482a42c9442a8" Type="http://schemas.openxmlformats.org/officeDocument/2006/relationships/slide" Target="slides/slide14.xml"/><Relationship Id="Rf0028b0f769e4ae1" Type="http://schemas.openxmlformats.org/officeDocument/2006/relationships/tableStyles" Target="tableStyles.xml"/><Relationship Id="Rfd9e0f6714044e89" Type="http://schemas.openxmlformats.org/officeDocument/2006/relationships/slideMaster" Target="slideMasters/slideMaster1.xml"/></Relationships>
</file>

<file path=ppt/notesMasters/_rels/notesMaster1.xml.rels><?xml version='1.0' encoding='UTF-8' standalone='yes'?>
<Relationships xmlns="http://schemas.openxmlformats.org/package/2006/relationships"><Relationship Id="Re87c17f93c31486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445509d65154774" Type="http://schemas.openxmlformats.org/officeDocument/2006/relationships/slide" Target="../slides/slide1.xml"/><Relationship Id="R9535781b51154a59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9f73d9ad42de4f7c" Type="http://schemas.openxmlformats.org/officeDocument/2006/relationships/slide" Target="../slides/slide2.xml"/><Relationship Id="Rb4b67404f2444f2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bda43999ca7d4325" Type="http://schemas.openxmlformats.org/officeDocument/2006/relationships/notesMaster" Target="../notesMasters/notesMaster1.xml"/><Relationship Id="Rf8b8cde8403a4a3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3969cb967d14388" Type="http://schemas.openxmlformats.org/officeDocument/2006/relationships/notesMaster" Target="../notesMasters/notesMaster1.xml"/><Relationship Id="R91ea188d5b9845be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ab2384cf1e2844b5" Type="http://schemas.openxmlformats.org/officeDocument/2006/relationships/notesMaster" Target="../notesMasters/notesMaster1.xml"/><Relationship Id="Re4704fceefd04c0f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e2a7a5991a484960" Type="http://schemas.openxmlformats.org/officeDocument/2006/relationships/notesMaster" Target="../notesMasters/notesMaster1.xml"/><Relationship Id="Rf380de31e0964877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597646c858894965" Type="http://schemas.openxmlformats.org/officeDocument/2006/relationships/notesMaster" Target="../notesMasters/notesMaster1.xml"/><Relationship Id="Rb7264b728f53467d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824ce8529e534746" Type="http://schemas.openxmlformats.org/officeDocument/2006/relationships/notesMaster" Target="../notesMasters/notesMaster1.xml"/><Relationship Id="Re2688f8d94b6406a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281ddc6dc754f58" Type="http://schemas.openxmlformats.org/officeDocument/2006/relationships/slide" Target="../slides/slide9.xml"/><Relationship Id="Rb950a0a840e74163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7111ec6a9af540f9" Type="http://schemas.openxmlformats.org/officeDocument/2006/relationships/slide" Target="../slides/slide10.xml"/><Relationship Id="Rc263a914750c4d3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e8d7962585814f9f" Type="http://schemas.openxmlformats.org/officeDocument/2006/relationships/notesMaster" Target="../notesMasters/notesMaster1.xml"/><Relationship Id="Reddd462cebad4f2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26bdfe72eec4cff" Type="http://schemas.openxmlformats.org/officeDocument/2006/relationships/slide" Target="../slides/slide12.xml"/><Relationship Id="R42c18b9240284de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6664a2af5784deb" Type="http://schemas.openxmlformats.org/officeDocument/2006/relationships/slide" Target="../slides/slide13.xml"/><Relationship Id="Re187812a257a410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6f9394dcf74d462d" Type="http://schemas.openxmlformats.org/officeDocument/2006/relationships/notesMaster" Target="../notesMasters/notesMaster1.xml"/><Relationship Id="R7cc55faecb2549cd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15bb34d0eb444c45" Type="http://schemas.openxmlformats.org/officeDocument/2006/relationships/notesMaster" Target="../notesMasters/notesMaster1.xml"/><Relationship Id="Ra7554733d2564afb" Type="http://schemas.openxmlformats.org/officeDocument/2006/relationships/slide" Target="../slides/slide1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01 — Como usar o percurso, os mapas, as práticas e os materiais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CADERNO</a:t>
            </a:r>
          </a:p>
          <a:p xmlns:a="http://schemas.openxmlformats.org/drawingml/2006/main">
            <a:r>
              <a:t>Versão sincronizada 1.4. Um ponto de partida para usar os materiais, parágrafos 1 a 2.</a:t>
            </a:r>
          </a:p>
          <a:p xmlns:a="http://schemas.openxmlformats.org/drawingml/2006/main">
            <a:r>
              <a:t>https://chatgpt.com/library?file_id=libfile_e975faa349748191868e4d7f636b9b84&amp;account_id=personal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Abra com a câmera ou com a capa projetada. Ao mencionar os recursos, confira previamente que os materiais estão publicados junto da aula. Avance após “junto desta aula”.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primeira aula, você conheceu a proposta do Traduzindo o Ser Humano e se localizou no curso. Agora, eu quero mostrar como os materiais podem acompanhar o que você aprende e o que acontece na sua vida.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Vou usar um mapa, uma ficha e uma página do Guia de Palavras e Conceitos. Você encontrará esses recursos junto desta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MATERIAIS</a:t>
            </a:r>
          </a:p>
          <a:p xmlns:a="http://schemas.openxmlformats.org/drawingml/2006/main">
            <a:r>
              <a:t>Caderno e materiais M0.2, versão 1.4. Fundamentação: https://chatgpt.com/library?file_id=libfile_e394381d8b9881919bfc2eee29e70e47&amp;account_id=personal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ALINHAMENTO 01/11/2026</a:t>
            </a:r>
          </a:p>
          <a:p xmlns:a="http://schemas.openxmlformats.org/drawingml/2006/main">
            <a:r>
              <a:t>Síntese Integrativa, Integração ao Percurso e Escada/diálogo ativo, main 8354dc8. Fontes e destinos completos no caderno. Materiais em preparação para gravação.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02 — Um recurso para cada necessidade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CADERNO</a:t>
            </a:r>
          </a:p>
          <a:p xmlns:a="http://schemas.openxmlformats.org/drawingml/2006/main">
            <a:r>
              <a:t>Versão sincronizada 1.4. Um ponto de partida para usar os materiais, parágrafos 3 a 5.</a:t>
            </a:r>
          </a:p>
          <a:p xmlns:a="http://schemas.openxmlformats.org/drawingml/2006/main">
            <a:r>
              <a:t>https://chatgpt.com/library?file_id=libfile_e975faa349748191868e4d7f636b9b84&amp;account_id=personal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Aponte cada recurso conforme fala de sua função. Avance após “aulas correspondentes”. Esta tela tem 3 clique(s) interno(s), marcados como [CLIQUE] na fala.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Cada um ajuda de uma maneira. O mapa amplia o olhar. [CLIQUE] A ficha permite guardar uma percepção e voltar a ela. [CLIQUE] O guia ajuda quando uma palavra ou uma ideia precisa de esclarecimento.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Você pode começar pelo recurso que responde à sua necessidade. Se uma expressão ficou difícil, consulte o guia. Se quer guardar algo que percebeu, use a ficha ou seu caderno. Se sente que está olhando uma situação por um único lado, o mapa pode abrir outras perguntas.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Hoje vamos conhecer esse uso inicial. As práticas serão ensinadas nas aulas correspondentes.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MATERIAIS</a:t>
            </a:r>
          </a:p>
          <a:p xmlns:a="http://schemas.openxmlformats.org/drawingml/2006/main">
            <a:r>
              <a:t>Caderno e materiais M0.2, versão 1.4. Fundamentação: https://chatgpt.com/library?file_id=libfile_e394381d8b9881919bfc2eee29e70e47&amp;account_id=personal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ALINHAMENTO 01/11/2026</a:t>
            </a:r>
          </a:p>
          <a:p xmlns:a="http://schemas.openxmlformats.org/drawingml/2006/main">
            <a:r>
              <a:t>Síntese Integrativa, Integração ao Percurso e Escada/diálogo ativo, main 8354dc8. Fontes e destinos completos no caderno. Materiais em preparação para gravação.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03 — Uma cena cotidiana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CADERNO</a:t>
            </a:r>
          </a:p>
          <a:p xmlns:a="http://schemas.openxmlformats.org/drawingml/2006/main">
            <a:r>
              <a:t>Versão sincronizada 1.4. Uma cena cotidiana, parágrafos 1 a 3.</a:t>
            </a:r>
          </a:p>
          <a:p xmlns:a="http://schemas.openxmlformats.org/drawingml/2006/main">
            <a:r>
              <a:t>https://chatgpt.com/library?file_id=libfile_e975faa349748191868e4d7f636b9b84&amp;account_id=personal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Identifique a cena como fictícia. Leia a sequência e destaque o pensamento. Avance após “com mais atenção”.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Vamos acompanhar uma situação fictícia.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pessoa recebe uma mensagem de um amigo pedindo ajuda para organizar um encontro no sábado. Ela gosta da ideia e responde que sim. Mais tarde, quando olha a agenda, percebe que já tinha outros compromissos e nota cansaço. Vem o pensamento: “Como vou dar conta de tudo?”.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Temos uma cena concreta: um pedido, uma resposta, uma agenda e algo que a pessoa começou a perceber depois. Vamos usar os materiais para olhar essa cena com mais atenção.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MATERIAIS</a:t>
            </a:r>
          </a:p>
          <a:p xmlns:a="http://schemas.openxmlformats.org/drawingml/2006/main">
            <a:r>
              <a:t>Caderno e materiais M0.2, versão 1.4. Fundamentação: https://chatgpt.com/library?file_id=libfile_e394381d8b9881919bfc2eee29e70e47&amp;account_id=personal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ALINHAMENTO 01/11/2026</a:t>
            </a:r>
          </a:p>
          <a:p xmlns:a="http://schemas.openxmlformats.org/drawingml/2006/main">
            <a:r>
              <a:t>Síntese Integrativa, Integração ao Percurso e Escada/diálogo ativo, main 8354dc8. Fontes e destinos completos no caderno. Materiais em preparação para gravação.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04 — Mapa das Dimensões da Experiência Humana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CADERNO</a:t>
            </a:r>
          </a:p>
          <a:p xmlns:a="http://schemas.openxmlformats.org/drawingml/2006/main">
            <a:r>
              <a:t>Versão sincronizada 1.4. O mapa abre perguntas, parágrafos 1 a 2.</a:t>
            </a:r>
          </a:p>
          <a:p xmlns:a="http://schemas.openxmlformats.org/drawingml/2006/main">
            <a:r>
              <a:t>https://chatgpt.com/library?file_id=libfile_e975faa349748191868e4d7f636b9b84&amp;account_id=personal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Exiba o mapa original completo por alguns segundos. Não tente ler todos os rótulos. A próxima tela amplia os aspectos comentados. Avance após “na nossa cena”.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Este é o Mapa das Dimensões da Experiência Humana.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Veja que ele reúne diferentes aspectos do vivido. Vamos começar por alguns que aparecem na nossa cena.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MATERIAIS</a:t>
            </a:r>
          </a:p>
          <a:p xmlns:a="http://schemas.openxmlformats.org/drawingml/2006/main">
            <a:r>
              <a:t>Caderno e materiais M0.2, versão 1.4. Fundamentação: https://chatgpt.com/library?file_id=libfile_e394381d8b9881919bfc2eee29e70e47&amp;account_id=personal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ALINHAMENTO 01/11/2026</a:t>
            </a:r>
          </a:p>
          <a:p xmlns:a="http://schemas.openxmlformats.org/drawingml/2006/main">
            <a:r>
              <a:t>Síntese Integrativa, Integração ao Percurso e Escada/diálogo ativo, main 8354dc8. Fontes e destinos completos no caderno. Materiais em preparação para gravação.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05 — Alguns aspectos da nossa cena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CADERNO</a:t>
            </a:r>
          </a:p>
          <a:p xmlns:a="http://schemas.openxmlformats.org/drawingml/2006/main">
            <a:r>
              <a:t>Versão sincronizada 1.4. O mapa abre perguntas, parágrafos 3 a 4.</a:t>
            </a:r>
          </a:p>
          <a:p xmlns:a="http://schemas.openxmlformats.org/drawingml/2006/main">
            <a:r>
              <a:t>https://chatgpt.com/library?file_id=libfile_e975faa349748191868e4d7f636b9b84&amp;account_id=personal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Aponte corpo, mente, relação e condições concretas na ordem da fala. Avance após “perguntas mais precisas”. Esta tela tem 3 clique(s) interno(s), marcados como [CLIQUE] na fala.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dimensão corporal e sensorial, a pessoa percebe cansaço. [CLIQUE] Na dimensão mental e narrativa, aparece a pergunta sobre conseguir dar conta. [CLIQUE] Na dimensão relacional, existe um amigo, um pedido e uma resposta que também produz uma expectativa. [CLIQUE] E há condições concretas: o tempo disponível e os compromissos que já estavam marcados.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Esses aspectos se relacionam. O mapa nos ajuda a diferenciá-los para fazer perguntas mais precisas.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MATERIAIS</a:t>
            </a:r>
          </a:p>
          <a:p xmlns:a="http://schemas.openxmlformats.org/drawingml/2006/main">
            <a:r>
              <a:t>Caderno e materiais M0.2, versão 1.4. Fundamentação: https://chatgpt.com/library?file_id=libfile_e394381d8b9881919bfc2eee29e70e47&amp;account_id=personal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ALINHAMENTO 01/11/2026</a:t>
            </a:r>
          </a:p>
          <a:p xmlns:a="http://schemas.openxmlformats.org/drawingml/2006/main">
            <a:r>
              <a:t>Síntese Integrativa, Integração ao Percurso e Escada/diálogo ativo, main 8354dc8. Fontes e destinos completos no caderno. Materiais em preparação para gravação.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06 — Perguntas que continuam abertas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CADERNO</a:t>
            </a:r>
          </a:p>
          <a:p xmlns:a="http://schemas.openxmlformats.org/drawingml/2006/main">
            <a:r>
              <a:t>Versão sincronizada 1.4. O mapa abre perguntas, parágrafos 5 a 7.</a:t>
            </a:r>
          </a:p>
          <a:p xmlns:a="http://schemas.openxmlformats.org/drawingml/2006/main">
            <a:r>
              <a:t>https://chatgpt.com/library?file_id=libfile_e975faa349748191868e4d7f636b9b84&amp;account_id=personal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Mantenha as perguntas visíveis enquanto abre espaço para outros aspectos do vivido. Não atribua respostas à pessoa. Avance após “para cada espaço”.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Por exemplo: de quanta ajuda o amigo precisa? A pessoa sabia disso quando aceitou? Ela quer participar de toda a organização ou de uma parte? Ainda não sabemos.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também encontra aqui imagens, história, valores, vitalidade e espiritualidade. Esses aspectos podem participar da compreensão quando aparecem na experiência. Uma relação pode ter um sentido profundo de pertencimento, por exemplo. Isso merece espaço quando é reconhecido pela pessoa. Ao longo do curso, vamos aproximar diferentes linguagens para investigar essas relações, com atenção ao que cada mapa permite perceber.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pode começar por uma dimensão e deixar outras em aberto. O mapa serve para ampliar a investigação; não precisamos produzir uma explicação para cada espaço.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MATERIAIS</a:t>
            </a:r>
          </a:p>
          <a:p xmlns:a="http://schemas.openxmlformats.org/drawingml/2006/main">
            <a:r>
              <a:t>Caderno e materiais M0.2, versão 1.4. Fundamentação: https://chatgpt.com/library?file_id=libfile_e394381d8b9881919bfc2eee29e70e47&amp;account_id=personal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ALINHAMENTO 01/11/2026</a:t>
            </a:r>
          </a:p>
          <a:p xmlns:a="http://schemas.openxmlformats.org/drawingml/2006/main">
            <a:r>
              <a:t>Síntese Integrativa, Integração ao Percurso e Escada/diálogo ativo, main 8354dc8. Fontes e destinos completos no caderno. Materiais em preparação para gravação.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07 — Escrever, observar, distinguir e revisar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CADERNO</a:t>
            </a:r>
          </a:p>
          <a:p xmlns:a="http://schemas.openxmlformats.org/drawingml/2006/main">
            <a:r>
              <a:t>Versão sincronizada 1.4. Exercitar atenção e diferenciação, parágrafos 1 a 6.</a:t>
            </a:r>
          </a:p>
          <a:p xmlns:a="http://schemas.openxmlformats.org/drawingml/2006/main">
            <a:r>
              <a:t>https://chatgpt.com/library?file_id=libfile_e975faa349748191868e4d7f636b9b84&amp;account_id=personal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Apresente os quatro movimentos como possibilidades relacionadas. Não ensinar siglas ao aluno. Avance após “no nosso exemplo”. Esta tela tem 1 clique(s) interno(s), marcados como [CLIQUE] na fala.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Quando você escreve sobre uma situação, pode voltar a atenção para o que percebe e distinguir aspectos que, de início, aparecem misturados. Na nossa cena, há cansaço, vontade de participar e uma preocupação com os compromissos. Observar cada aspecto pode ajudar a encontrar uma expressão mais próxima do que está sendo vivido.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É esse movimento que vamos exercitar: escrever, observar, distinguir e revisar. Você pode escolher onde colocar a atenção, perceber algo que tinha passado despercebido e conferir se a primeira palavra ainda faz sentido. Com a prática, vamos acompanhar o que fica mais claro e o que ainda precisa de tempo ou apoio.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Você pode começar por uma impressão, uma contradição ou uma frase aparentemente banal. Não precisa compreender tudo antes de registrar. Se aparecer “isso é bobagem”, “não sei escrever” ou “deveria sentir outra coisa”, esse julgamento também pode ser observado. Podemos perguntar o que essa cobrança teme e o que procura proteger. Ao escrever, desenhar ou experimentar uma palavra, algo que ainda não estava formulado pode ganhar expressão.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prática de que eu gosto e que adoto de vez em quando são as páginas matinais, propostas por Julia Cameron em O caminho do artista. Na proposta original, são três páginas manuscritas pela manhã. Aqui, elas ficam como leitura ou prática opcional. Você pode escolher um tempo e uma forma de registro possíveis para você, sem precisar seguir esse formato para participar do TSH.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 quando você voltar ao que registrou, pode fazer isso com curiosidade. Talvez aquela palavra ainda sirva; talvez precise mudar. Uma coisa é perceber que a frase ainda não expressa bem o que você vive. Outra é concluir que você não sabe se expressar. Podemos investigar essa cobrança também.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ficha oferece perguntas para apoiar esse trabalho. Você pode usar suas próprias palavras, outra forma de registro ou deixar algo em aberto. Depois, pode retornar e rever. Vamos ver como isso aparece no nosso exemplo.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MATERIAIS</a:t>
            </a:r>
          </a:p>
          <a:p xmlns:a="http://schemas.openxmlformats.org/drawingml/2006/main">
            <a:r>
              <a:t>Caderno e materiais M0.2, versão 1.4. Fundamentação: https://chatgpt.com/library?file_id=libfile_e394381d8b9881919bfc2eee29e70e47&amp;account_id=personal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FUNDAMENTAÇÃO DO EDUCADOR — NÃO LER COMO PARTE DA FALA</a:t>
            </a:r>
          </a:p>
          <a:p xmlns:a="http://schemas.openxmlformats.org/drawingml/2006/main">
            <a:r>
              <a:t>A auto-observação pode envolver coordenação entre elaboração interna, detecção de relevância e controle atencional. DMN, SN e FPN oferecem um modelo parcial dessa coordenação. DMN participa de memória autobiográfica, simulação e autorreferência. SN participa da detecção de relevância e reorganização de recursos. FPN participa da manutenção de objetivos e organização deliberada do processamento. CEN e FPN são denominações próximas nos artigos consultados, sem pressupor identidade entre todas as parcelizações.</a:t>
            </a:r>
          </a:p>
          <a:p xmlns:a="http://schemas.openxmlformats.org/drawingml/2006/main">
            <a:r>
              <a:t>Sridharan, Levitin e Menon (2008) investigaram alternância entre redes por fMRI e análises temporais. Spreng et al. (2010) encontraram cooperação DMN–FPN no planejamento autobiográfico. Hasenkamp et al. (2012), com 14 meditadores, associaram divagação, percepção da divagação e retorno da atenção a componentes dessas redes. São tarefas diferentes da ficha TSH; sua aplicação aqui é inferência pedagógica.</a:t>
            </a:r>
          </a:p>
          <a:p xmlns:a="http://schemas.openxmlformats.org/drawingml/2006/main">
            <a:r>
              <a:t>A FPN não é um observador interno e a SN não é uma passagem obrigatória para acessar a DMN. Não identificar uma rede ativada pelo relato do aluno. Exercitar atenção não comprova alteração neural duradoura. Taren et al. (2017), n=35, observaram mudanças funcionais após treinamento intensivo; Kral et al. (2022), n=218, não encontraram as mudanças estruturais investigadas após MBSR. Conectividade funcional não mede diretamente sinapses novas. Não prometer criação de redes ou recalibração neural pela ficha.</a:t>
            </a:r>
          </a:p>
          <a:p xmlns:a="http://schemas.openxmlformats.org/drawingml/2006/main">
            <a:r>
              <a:t>O TCC de Fabiano, seções 2.2.4, nota metodológica sobre analogias e 4.7, oferece a genealogia autoral. McNamara e Grafman (2024) propõem TPM cycling como hipótese integrativa. Não reduzir Essência, Self ou as dimensões do mapa a redes cerebrais.</a:t>
            </a:r>
          </a:p>
          <a:p xmlns:a="http://schemas.openxmlformats.org/drawingml/2006/main">
            <a:r>
              <a:t>Benetti e Oliveira (2016) contribuem como discussão narrativa sobre expressão e elaboração, com limites individuais. Não transferir protocolos traumáticos nem a orientação de escrever até esgotar o conteúdo. Burton e King (2008) estudaram dois minutos em dois dias; isso não valida a dose nem a ficha TSH.</a:t>
            </a:r>
          </a:p>
          <a:p xmlns:a="http://schemas.openxmlformats.org/drawingml/2006/main">
            <a:r>
              <a:t>Referências: https://doi.org/10.1073/pnas.0800005105 ; https://doi.org/10.1016/j.neuroimage.2010.06.016 ; https://doi.org/10.1016/j.neuroimage.2011.07.008 ; https://doi.org/10.1097/PSY.0000000000000466 ; https://pubmed.ncbi.nlm.nih.gov/35594344/ ; https://doi.org/10.3389/fnhum.2024.1495565 ; https://pubmed.ncbi.nlm.nih.gov/18230223/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EXPRESSÃO E CRIATIVIDADE</a:t>
            </a:r>
          </a:p>
          <a:p xmlns:a="http://schemas.openxmlformats.org/drawingml/2006/main">
            <a:r>
              <a:t>Cameron, Julia. O caminho do artista. Tradução de Leila Couceiro. Sextante, 2017. Leitura dirigida do PDF fornecido, pp. 45–65: páginas matinais e encontro com o artista. Rubin, Rick, com Neil Strauss. The Creative Act: A Way of Being. Penguin Press, 2023. Leitura dirigida do anexo em tradução automática: pp. 50–52, 92–94, 215–216 e 232–234; espiritualidade e discernimento, pp. 25–29. Paginação dos PDFs, não das edições impressas. Fontes de reflexão criativa, não evidência de eficácia clínica ou de mecanismos neurais. Gendlin permanece como fundamentação específica da elaboração experiencial.</a:t>
            </a:r>
          </a:p>
          <a:p xmlns:a="http://schemas.openxmlformats.org/drawingml/2006/main">
            <a:r>
              <a:t>As páginas matinais são opcionais. Formatos flexíveis são adaptações do TSH, não reprodução integral da prática de Cameron. Acolher a função protetiva da autocrítica. Expansão criativa na M5.5; espiritualidade nas M5.6–M5.8.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ALINHAMENTO 01/11/2026</a:t>
            </a:r>
          </a:p>
          <a:p xmlns:a="http://schemas.openxmlformats.org/drawingml/2006/main">
            <a:r>
              <a:t>Síntese Integrativa, Integração ao Percurso e Escada/diálogo ativo, main 8354dc8. Fontes e destinos completos no caderno. Materiais em preparação para gravação.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08 — A ficha de registro inicial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CADERNO</a:t>
            </a:r>
          </a:p>
          <a:p xmlns:a="http://schemas.openxmlformats.org/drawingml/2006/main">
            <a:r>
              <a:t>Versão sincronizada 1.4. A ficha ajuda a registrar e descobrir, parágrafos 1 a 3.</a:t>
            </a:r>
          </a:p>
          <a:p xmlns:a="http://schemas.openxmlformats.org/drawingml/2006/main">
            <a:r>
              <a:t>https://chatgpt.com/library?file_id=libfile_e975faa349748191868e4d7f636b9b84&amp;account_id=personal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Apresente os dois primeiros campos da ficha. O aluno tem a ficha completa no material, página 2, e o exemplo na página 3. Aponte cada resposta enquanto fala. Avance após “Quero participar”.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Vamos passar para a ficha.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primeira pergunta, “Que situação escolhi?”, eu poderia escrever: “Aceitei ajudar um amigo no sábado e depois percebi que já tinha outros compromissos”.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segunda, “O que notei e como posso registrar?”, cabem o cansaço e aquele pensamento: “Como vou dar conta de tudo?”. Também cabe um desenho. A pessoa poderia desenhar uma agenda cheia e escrever ao lado: “Quero participar”.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MATERIAIS</a:t>
            </a:r>
          </a:p>
          <a:p xmlns:a="http://schemas.openxmlformats.org/drawingml/2006/main">
            <a:r>
              <a:t>Caderno e materiais M0.2, versão 1.4. Fundamentação: https://chatgpt.com/library?file_id=libfile_e394381d8b9881919bfc2eee29e70e47&amp;account_id=personal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ALINHAMENTO 01/11/2026</a:t>
            </a:r>
          </a:p>
          <a:p xmlns:a="http://schemas.openxmlformats.org/drawingml/2006/main">
            <a:r>
              <a:t>Síntese Integrativa, Integração ao Percurso e Escada/diálogo ativo, main 8354dc8. Fontes e destinos completos no caderno. Materiais em preparação para gravação.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09 — O registro também pode mudar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CADERNO</a:t>
            </a:r>
          </a:p>
          <a:p xmlns:a="http://schemas.openxmlformats.org/drawingml/2006/main">
            <a:r>
              <a:t>Versão sincronizada 1.4. A ficha ajuda a registrar e descobrir, parágrafos 4 a 5.</a:t>
            </a:r>
          </a:p>
          <a:p xmlns:a="http://schemas.openxmlformats.org/drawingml/2006/main">
            <a:r>
              <a:t>https://chatgpt.com/library?file_id=libfile_e975faa349748191868e4d7f636b9b84&amp;account_id=personal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Leia a primeira expressão e depois a revisão possível. Identifique a passagem como uma possibilidade do exemplo fictício. Avance após “ao longo do caminho”. Esta tela tem 2 clique(s) interno(s), marcados como [CLIQUE] na fala.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Observe o que pode acontecer enquanto ela registra. No começo, talvez diga apenas: “Estou sem vontade”. [CLIQUE] Ao olhar o desenho, pode encontrar uma expressão mais próxima: “Eu quero participar, mas ainda preciso entender quanto posso assumir”.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Esse é um desenvolvimento possível do nosso exemplo fictício. O registro pode ajudar algo a ganhar forma. Você pode começar sem uma explicação pronta e mudar uma palavra ao longo do caminho.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MATERIAIS</a:t>
            </a:r>
          </a:p>
          <a:p xmlns:a="http://schemas.openxmlformats.org/drawingml/2006/main">
            <a:r>
              <a:t>Caderno e materiais M0.2, versão 1.4. Fundamentação: https://chatgpt.com/library?file_id=libfile_e394381d8b9881919bfc2eee29e70e47&amp;account_id=personal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ALINHAMENTO 01/11/2026</a:t>
            </a:r>
          </a:p>
          <a:p xmlns:a="http://schemas.openxmlformats.org/drawingml/2006/main">
            <a:r>
              <a:t>Síntese Integrativa, Integração ao Percurso e Escada/diálogo ativo, main 8354dc8. Fontes e destinos completos no caderno. Materiais em preparação para gravação.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10 — Suposições e próximos passos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CADERNO</a:t>
            </a:r>
          </a:p>
          <a:p xmlns:a="http://schemas.openxmlformats.org/drawingml/2006/main">
            <a:r>
              <a:t>Versão sincronizada 1.4. A ficha ajuda a registrar e descobrir, parágrafos 6 a 10.</a:t>
            </a:r>
          </a:p>
          <a:p xmlns:a="http://schemas.openxmlformats.org/drawingml/2006/main">
            <a:r>
              <a:t>https://chatgpt.com/library?file_id=libfile_e975faa349748191868e4d7f636b9b84&amp;account_id=personal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Percorra os três campos restantes. Ao falar da linguagem própria, aponte a frase inferior e deixe uma pausa breve. Avance após “ponto de retorno”. Esta tela tem 3 clique(s) interno(s), marcados como [CLIQUE] na fala.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Na pergunta seguinte, “O que estou supondo?”, a pessoa poderia escrever: “Talvez meu amigo fique chateado se eu mudar o combinado”. Essa é uma suposição. Ainda não sabemos como ele vai responder. Se ela lembrar de outra situação em que alguém se chateou, essa lembrança é uma associação. Ela ajuda a formular uma pergunta, mas ainda não diz como este amigo vai agir.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Depois, em “O que permanece aberto?”, podemos registrar: “Quanto tempo essa ajuda exige? O que eu consigo oferecer nas condições que tenho?”.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E o próximo passo pode ser verificar a agenda e conversar com o amigo sobre o pedido. Esse passo permite conhecer melhor a situação antes de decidir como participar. [CLIQUE] A necessidade de descanso pode ser legítima, e o amigo pode não conseguir ou não querer ajustar o combinado. A conversa permite conhecer essa disponibilidade. Mudar a própria participação não garante mudar a resposta dele.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eu oferecer uma palavra que não combina com o que você vive, você pode corrigi-la. Pode dizer: “Fabiano, para mim é diferente” ou “Ainda não é isso”. O seu registro pode preservar essa diferença.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Deixe perguntas em branco quando precisar. Uma frase, um traço ou uma dúvida já podem dar um ponto de retorno.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MATERIAIS</a:t>
            </a:r>
          </a:p>
          <a:p xmlns:a="http://schemas.openxmlformats.org/drawingml/2006/main">
            <a:r>
              <a:t>Caderno e materiais M0.2, versão 1.4. Fundamentação: https://chatgpt.com/library?file_id=libfile_e394381d8b9881919bfc2eee29e70e47&amp;account_id=personal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ALINHAMENTO 01/11/2026</a:t>
            </a:r>
          </a:p>
          <a:p xmlns:a="http://schemas.openxmlformats.org/drawingml/2006/main">
            <a:r>
              <a:t>Síntese Integrativa, Integração ao Percurso e Escada/diálogo ativo, main 8354dc8. Fontes e destinos completos no caderno. Materiais em preparação para gravação.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11 — Presença que sustenta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CADERNO</a:t>
            </a:r>
          </a:p>
          <a:p xmlns:a="http://schemas.openxmlformats.org/drawingml/2006/main">
            <a:r>
              <a:t>Versão sincronizada 1.4. Uma página do guia, parágrafos 1 a 5.</a:t>
            </a:r>
          </a:p>
          <a:p xmlns:a="http://schemas.openxmlformats.org/drawingml/2006/main">
            <a:r>
              <a:t>https://chatgpt.com/library?file_id=libfile_e975faa349748191868e4d7f636b9b84&amp;account_id=personal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Identifique a página como demonstrativa. Leia a definição sem exigir memorização e retome a cena. Avance após “para continuar”.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Agora vou mostrar uma página demonstrativa do Guia de Palavras e Conceitos. A expressão aqui é “presença que sustenta”.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TSH, presença que sustenta envolve continuar em contato com o que acontece, diferenciar aspectos da experiência e encontrar orientação para participar. Isso pode ajudar a interromper uma resposta automática, mas também a reconhecer um desejo, experimentar uma forma de expressão e cultivar uma possibilidade ainda pouco desenvolvida.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nossa cena, podemos investigar que condições ajudam a pessoa a considerar a vontade de participar, o cansaço, o tempo disponível e a relação com o amigo. Ela pode reconhecer isso depois de já ter respondido e retomar a conversa.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pode estar desconfortável e ainda encontrar alguma possibilidade de orientação. Pode também perceber que precisa de tempo ou de apoio.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Consulte o guia quando a palavra ajudar. Depois, volte à sua situação. Se a expressão ainda não fizer sentido, guarde a pergunta. Não é necessário memorizar a definição para continuar.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MATERIAIS</a:t>
            </a:r>
          </a:p>
          <a:p xmlns:a="http://schemas.openxmlformats.org/drawingml/2006/main">
            <a:r>
              <a:t>Caderno e materiais M0.2, versão 1.4. Fundamentação: https://chatgpt.com/library?file_id=libfile_e394381d8b9881919bfc2eee29e70e47&amp;account_id=personal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ALINHAMENTO 01/11/2026</a:t>
            </a:r>
          </a:p>
          <a:p xmlns:a="http://schemas.openxmlformats.org/drawingml/2006/main">
            <a:r>
              <a:t>Síntese Integrativa, Integração ao Percurso e Escada/diálogo ativo, main 8354dc8. Fontes e destinos completos no caderno. Materiais em preparação para gravação.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12 — Estudo, dúvida e prática acompanhada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CADERNO</a:t>
            </a:r>
          </a:p>
          <a:p xmlns:a="http://schemas.openxmlformats.org/drawingml/2006/main">
            <a:r>
              <a:t>Versão sincronizada 1.4. Estudar perguntar e praticar, parágrafos 1 a 6.</a:t>
            </a:r>
          </a:p>
          <a:p xmlns:a="http://schemas.openxmlformats.org/drawingml/2006/main">
            <a:r>
              <a:t>https://chatgpt.com/library?file_id=libfile_e975faa349748191868e4d7f636b9b84&amp;account_id=personal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Aponte cada momento. Dê tempo para a distinção entre estudo, dúvida e prática. Preserve na fala a orientação específica para atividades corporais, respiratórias e Qi Gong. Avance após “o que entendemos”. Esta tela tem 3 clique(s) interno(s), marcados como [CLIQUE] na fala.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Quero distinguir também três momentos do percurso.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estudo individual, você assiste, pausa, consulta os materiais e aproxima uma ideia de uma situação cotidiana. Pode fazer um registro breve, sem precisar resolver toda a questão naquele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Quando surge uma dúvida, tente localizar o ponto. Por exemplo: “Não sei se estou descrevendo o que aconteceu ou imaginando o que o outro pensa”. Uma pergunta assim ajuda a orientar nossa conversa. Você pode usar uma situação fictícia e preservar os detalhes pessoais.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Na prática acompanhada, eu apresento a finalidade, mostro como fazer e ofereço alternativas. Há tempo para experimentar e para observar o que aconteceu. Uma ficha pode apoiar esse momento, mas é a orientação da prática que indica como utilizá-la.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[CLIQUE] Nas atividades corporais, respiratórias e de Qi Gong, acompanhe as instruções específicas. Uma imagem ou o nome de uma prática no material não traz, sozinho, toda a sua condução.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Esses momentos se alimentam. O estudo pode abrir uma pergunta; a prática pode mostrar uma dificuldade ou uma possibilidade; a vida cotidiana pode trazer algo que nos faça rever o que entendemos.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MATERIAIS</a:t>
            </a:r>
          </a:p>
          <a:p xmlns:a="http://schemas.openxmlformats.org/drawingml/2006/main">
            <a:r>
              <a:t>Caderno e materiais M0.2, versão 1.4. Fundamentação: https://chatgpt.com/library?file_id=libfile_e394381d8b9881919bfc2eee29e70e47&amp;account_id=personal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ALINHAMENTO 01/11/2026</a:t>
            </a:r>
          </a:p>
          <a:p xmlns:a="http://schemas.openxmlformats.org/drawingml/2006/main">
            <a:r>
              <a:t>Síntese Integrativa, Integração ao Percurso e Escada/diálogo ativo, main 8354dc8. Fontes e destinos completos no caderno. Materiais em preparação para gravação.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13 — Seu primeiro registro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CADERNO</a:t>
            </a:r>
          </a:p>
          <a:p xmlns:a="http://schemas.openxmlformats.org/drawingml/2006/main">
            <a:r>
              <a:t>Versão sincronizada 1.4. Seu primeiro registro, parágrafos 1 a 4.</a:t>
            </a:r>
          </a:p>
          <a:p xmlns:a="http://schemas.openxmlformats.org/drawingml/2006/main">
            <a:r>
              <a:t>https://chatgpt.com/library?file_id=libfile_e975faa349748191868e4d7f636b9b84&amp;account_id=personal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Convite facultativo. Leia as alternativas e as possibilidades de pausa. Mantenha esta tela durante o registro. Na gravação, deixe uma pausa breve para o aluno pausar o vídeo; ao vivo, ofereça 1 a 2 minutos. Avance após “encerrar por hoje”.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Se quiser experimentar agora, reserve um ou dois minutos.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Escolha uma situação cotidiana leve, que você se sinta à vontade para observar. Pode usar a cena fictícia que acabamos de acompanhar. Você também pode apenas observar a demonstração hoje.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Registre qual situação escolheu e uma coisa que consegue perceber. Use palavras, desenho, uma imagem ou um áudio breve, como for mais acessível. Se surgir uma pergunta, guarde-a. Não precisa completar a ficha.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pode pausar o vídeo para fazer isso. Se ficar desconfortável, interrompa o registro, olhe ao redor e volte a perceber o lugar onde está. Pode mudar para o exemplo fictício ou encerrar por hoje.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MATERIAIS</a:t>
            </a:r>
          </a:p>
          <a:p xmlns:a="http://schemas.openxmlformats.org/drawingml/2006/main">
            <a:r>
              <a:t>Caderno e materiais M0.2, versão 1.4. Fundamentação: https://chatgpt.com/library?file_id=libfile_e394381d8b9881919bfc2eee29e70e47&amp;account_id=personal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ALINHAMENTO 01/11/2026</a:t>
            </a:r>
          </a:p>
          <a:p xmlns:a="http://schemas.openxmlformats.org/drawingml/2006/main">
            <a:r>
              <a:t>Síntese Integrativa, Integração ao Percurso e Escada/diálogo ativo, main 8354dc8. Fontes e destinos completos no caderno. Materiais em preparação para gravação.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14 — Um ponto de retorno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CADERNO</a:t>
            </a:r>
          </a:p>
          <a:p xmlns:a="http://schemas.openxmlformats.org/drawingml/2006/main">
            <a:r>
              <a:t>Versão sincronizada 1.4. Seu primeiro registro, parágrafos 5 a 6.</a:t>
            </a:r>
          </a:p>
          <a:p xmlns:a="http://schemas.openxmlformats.org/drawingml/2006/main">
            <a:r>
              <a:t>https://chatgpt.com/library?file_id=libfile_e975faa349748191868e4d7f636b9b84&amp;account_id=personal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Retome após a pausa, sem pedir relatos pessoais. Leia as perguntas e lembre a escolha de compartilhar. Avance após “escolha sua”.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Ao terminar, observe: o que percebi? O que associei ou concluí? O que ainda não sei? Alguma palavra ficou mais próxima da experiência? Você pode experimentar essa formulação, observar o que ela ajuda a perceber e revê-la quando necessário.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Guarde o registro com a data. Quando voltar a ele, você poderá acrescentar algo ou rever o que escreveu. Compartilhar é uma escolha sua.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MATERIAIS</a:t>
            </a:r>
          </a:p>
          <a:p xmlns:a="http://schemas.openxmlformats.org/drawingml/2006/main">
            <a:r>
              <a:t>Caderno e materiais M0.2, versão 1.4. Fundamentação: https://chatgpt.com/library?file_id=libfile_e394381d8b9881919bfc2eee29e70e47&amp;account_id=personal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ALINHAMENTO 01/11/2026</a:t>
            </a:r>
          </a:p>
          <a:p xmlns:a="http://schemas.openxmlformats.org/drawingml/2006/main">
            <a:r>
              <a:t>Síntese Integrativa, Integração ao Percurso e Escada/diálogo ativo, main 8354dc8. Fontes e destinos completos no caderno. Materiais em preparação para gravação.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15 — Condições para continuar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CADERNO</a:t>
            </a:r>
          </a:p>
          <a:p xmlns:a="http://schemas.openxmlformats.org/drawingml/2006/main">
            <a:r>
              <a:t>Versão sincronizada 1.4. Continuidade, parágrafos 1 a 3.</a:t>
            </a:r>
          </a:p>
          <a:p xmlns:a="http://schemas.openxmlformats.org/drawingml/2006/main">
            <a:r>
              <a:t>https://chatgpt.com/library?file_id=libfile_e975faa349748191868e4d7f636b9b84&amp;account_id=personal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</a:t>
            </a:r>
          </a:p>
          <a:p xmlns:a="http://schemas.openxmlformats.org/drawingml/2006/main">
            <a:r>
              <a:t>Encerre mantendo a tela enquanto apresenta a próxima aula. A tarefa imediata é localizar os três materiais e escolher onde guardar o registro.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FALA</a:t>
            </a:r>
          </a:p>
          <a:p xmlns:a="http://schemas.openxmlformats.org/drawingml/2006/main">
            <a:r>
              <a:t>Ao longo do curso, vamos voltar a esses materiais conforme eles forem úteis. Você pode reconhecer algo que já estava presente, perceber uma possibilidade antes desconhecida ou começar a desenvolver algo que ainda encontra pouco espaço. Um registro também pode acompanhar esse cultivo e suas condições.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próxima aula, vamos cuidar das condições para continuar: tempo, espaço, recursos, apoios e formas de participação possíveis para você.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Por enquanto, localize os três materiais e escolha onde guardar seu primeiro registro. Podemos começar por aí.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 E MATERIAIS</a:t>
            </a:r>
          </a:p>
          <a:p xmlns:a="http://schemas.openxmlformats.org/drawingml/2006/main">
            <a:r>
              <a:t>Caderno e materiais M0.2, versão 1.4. Fundamentação: https://chatgpt.com/library?file_id=libfile_e394381d8b9881919bfc2eee29e70e47&amp;account_id=personal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ALINHAMENTO 01/11/2026</a:t>
            </a:r>
          </a:p>
          <a:p xmlns:a="http://schemas.openxmlformats.org/drawingml/2006/main">
            <a:r>
              <a:t>Síntese Integrativa, Integração ao Percurso e Escada/diálogo ativo, main 8354dc8. Fontes e destinos completos no caderno. Materiais em preparação para gravação.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1b4eb238ca1e45fb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95ce0151900c4f49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1801d4af3aa94aa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b662c010692d4c4f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e831eeb1fc69490c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d852c7e7a8d5461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513780-69DB-4D6E-A2C1-EDD20DC312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F7FA68-6F9A-47EA-AE32-63133ABECF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74FC01C-5F1F-45E5-A0C8-C5DF49952E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8ED016-E6C6-4136-B4E5-D0D8EEC3D2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1A66F1B-94F4-4D47-873E-D9ABA28C26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4FC77E-A720-497C-8A66-39CC460149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65EE65-2F5F-4D18-9DD4-C269ECF52C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613636C-8916-4A74-AABE-DBC99D8A71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B53A51-11AC-43D7-97A5-0AA51141A7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C5F348-9FA8-49BB-9ED5-CDA480B085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142efa31d134aa4" Type="http://schemas.openxmlformats.org/officeDocument/2006/relationships/slideLayout" Target="../slideLayouts/slideLayout3.xml"/><Relationship Id="R4d0d539093ec44cc" Type="http://schemas.openxmlformats.org/officeDocument/2006/relationships/slideLayout" Target="../slideLayouts/slideLayout1.xml"/><Relationship Id="R62f7e3c3ac1c44ea" Type="http://schemas.openxmlformats.org/officeDocument/2006/relationships/slideLayout" Target="../slideLayouts/slideLayout4.xml"/><Relationship Id="Ra5666462c1df443f" Type="http://schemas.openxmlformats.org/officeDocument/2006/relationships/theme" Target="theme/theme2.xml"/><Relationship Id="Rc04d2118e32f41e5" Type="http://schemas.openxmlformats.org/officeDocument/2006/relationships/slideLayout" Target="../slideLayouts/slideLayout2.xml"/><Relationship Id="Re171f6bbb3e44fc8" Type="http://schemas.openxmlformats.org/officeDocument/2006/relationships/slideLayout" Target="../slideLayouts/slideLayout5.xml"/><Relationship Id="Re17e0e890f6e48ea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0d539093ec44cc"/>
    <p:sldLayoutId xmlns:r="http://schemas.openxmlformats.org/officeDocument/2006/relationships" id="2147483650" r:id="Rc04d2118e32f41e5"/>
    <p:sldLayoutId xmlns:r="http://schemas.openxmlformats.org/officeDocument/2006/relationships" id="2147483651" r:id="R1142efa31d134aa4"/>
    <p:sldLayoutId xmlns:r="http://schemas.openxmlformats.org/officeDocument/2006/relationships" id="2147483652" r:id="R62f7e3c3ac1c44ea"/>
    <p:sldLayoutId xmlns:r="http://schemas.openxmlformats.org/officeDocument/2006/relationships" id="2147483653" r:id="Re171f6bbb3e44fc8"/>
    <p:sldLayoutId xmlns:r="http://schemas.openxmlformats.org/officeDocument/2006/relationships" id="2147483654" r:id="Re17e0e890f6e48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EB Garamond"/>
        <a:ea typeface=""/>
        <a:cs typeface=""/>
      </a:majorFont>
      <a:minorFont>
        <a:latin typeface="Inter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9484ab03c6f4021" Type="http://schemas.openxmlformats.org/officeDocument/2006/relationships/slideLayout" Target="../slideLayouts/slideLayout6.xml"/><Relationship Id="R42756f8238bc478c" Type="http://schemas.openxmlformats.org/officeDocument/2006/relationships/image" Target="../media/image.png"/><Relationship Id="Rfd87c381d4124624" Type="http://schemas.openxmlformats.org/officeDocument/2006/relationships/notesSlide" Target="../notesSlides/notesSlide1.xml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6a7634f83f6e4067" Type="http://schemas.openxmlformats.org/officeDocument/2006/relationships/slideLayout" Target="../slideLayouts/slideLayout6.xml"/><Relationship Id="R7c4918735f0f421e" Type="http://schemas.openxmlformats.org/officeDocument/2006/relationships/notesSlide" Target="../notesSlides/notesSlide2.xml"/><Relationship Id="Ra91e1441c2194d9a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750e3cc88c5e4638" Type="http://schemas.openxmlformats.org/officeDocument/2006/relationships/notesSlide" Target="../notesSlides/notesSlide3.xml"/><Relationship Id="R89b78d3eb72349ca" Type="http://schemas.openxmlformats.org/officeDocument/2006/relationships/image" Target="../media/image3.png"/><Relationship Id="Rbf3d5c4e86094a6b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05be4b69c1f74a6e" Type="http://schemas.openxmlformats.org/officeDocument/2006/relationships/notesSlide" Target="../notesSlides/notesSlide4.xml"/><Relationship Id="R33176362b965466c" Type="http://schemas.openxmlformats.org/officeDocument/2006/relationships/slideLayout" Target="../slideLayouts/slideLayout6.xml"/><Relationship Id="R5a5b92b9b71c4590" Type="http://schemas.openxmlformats.org/officeDocument/2006/relationships/image" Target="../media/image4.png"/><Relationship Id="Rcabb22204a48407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083a21474700467f" Type="http://schemas.openxmlformats.org/officeDocument/2006/relationships/slideLayout" Target="../slideLayouts/slideLayout6.xml"/><Relationship Id="R110f2e03e594464d" Type="http://schemas.openxmlformats.org/officeDocument/2006/relationships/notesSlide" Target="../notesSlides/notesSlide5.xml"/><Relationship Id="Rd55d418e10e841dc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93e0c9e4c2a14bea" Type="http://schemas.openxmlformats.org/officeDocument/2006/relationships/notesSlide" Target="../notesSlides/notesSlide6.xml"/><Relationship Id="Rdf10445ad13343a0" Type="http://schemas.openxmlformats.org/officeDocument/2006/relationships/image" Target="../media/image7.png"/><Relationship Id="Rfee1b6b4807e465a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29358ffc9c284b01" Type="http://schemas.openxmlformats.org/officeDocument/2006/relationships/slideLayout" Target="../slideLayouts/slideLayout6.xml"/><Relationship Id="Rb1c58cabd87f44ac" Type="http://schemas.openxmlformats.org/officeDocument/2006/relationships/image" Target="../media/image8.png"/><Relationship Id="Rf0d460b8e467446e" Type="http://schemas.openxmlformats.org/officeDocument/2006/relationships/notesSlide" Target="../notesSlides/notesSlide7.xml"/><Relationship Id="rId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5f6715199252447c" Type="http://schemas.openxmlformats.org/officeDocument/2006/relationships/slideLayout" Target="../slideLayouts/slideLayout6.xml"/><Relationship Id="Rc1bf551f209a46da" Type="http://schemas.openxmlformats.org/officeDocument/2006/relationships/notesSlide" Target="../notesSlides/notesSlide8.xml"/><Relationship Id="Rcda03de119a145a0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3c12911be2a24f80" Type="http://schemas.openxmlformats.org/officeDocument/2006/relationships/notesSlide" Target="../notesSlides/notesSlide9.xml"/><Relationship Id="Re44022c5cbeb400f" Type="http://schemas.openxmlformats.org/officeDocument/2006/relationships/image" Target="../media/image10.png"/><Relationship Id="Rede612c274cd4aea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4f97364bf50a44de" Type="http://schemas.openxmlformats.org/officeDocument/2006/relationships/image" Target="../media/image11.png"/><Relationship Id="Raa5fabd31f034798" Type="http://schemas.openxmlformats.org/officeDocument/2006/relationships/notesSlide" Target="../notesSlides/notesSlide10.xml"/><Relationship Id="Rabec0339929f4b4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1f60004a007645e6" Type="http://schemas.openxmlformats.org/officeDocument/2006/relationships/image" Target="../media/image12.png"/><Relationship Id="R258e41e21c5d48aa" Type="http://schemas.openxmlformats.org/officeDocument/2006/relationships/slideLayout" Target="../slideLayouts/slideLayout6.xml"/><Relationship Id="Raa3b051a9c7f4e7f" Type="http://schemas.openxmlformats.org/officeDocument/2006/relationships/notesSlide" Target="../notesSlides/notesSlide11.xml"/><Relationship Id="rId4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06f084ced2d14968" Type="http://schemas.openxmlformats.org/officeDocument/2006/relationships/slideLayout" Target="../slideLayouts/slideLayout6.xml"/><Relationship Id="R15a2aeef0209405c" Type="http://schemas.openxmlformats.org/officeDocument/2006/relationships/notesSlide" Target="../notesSlides/notesSlide12.xml"/><Relationship Id="R3ede4d34318e499d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4201d919b1a34b20" Type="http://schemas.openxmlformats.org/officeDocument/2006/relationships/notesSlide" Target="../notesSlides/notesSlide13.xml"/><Relationship Id="R9da538139bae40ce" Type="http://schemas.openxmlformats.org/officeDocument/2006/relationships/image" Target="../media/image14.png"/><Relationship Id="Rb86c63093dba420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bcd14dfe45334211" Type="http://schemas.openxmlformats.org/officeDocument/2006/relationships/image" Target="../media/image15.png"/><Relationship Id="Rc7a78366f7e242b1" Type="http://schemas.openxmlformats.org/officeDocument/2006/relationships/notesSlide" Target="../notesSlides/notesSlide14.xml"/><Relationship Id="Rfd276d3198f843c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5540d56b55cf47ae" Type="http://schemas.openxmlformats.org/officeDocument/2006/relationships/slideLayout" Target="../slideLayouts/slideLayout6.xml"/><Relationship Id="Ra3c12321191e49b5" Type="http://schemas.openxmlformats.org/officeDocument/2006/relationships/notesSlide" Target="../notesSlides/notesSlide15.xml"/><Relationship Id="Re25afd2da6ff4a61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slide1.xml><?xml version="1.0" encoding="utf-8"?>
<p:sld xmlns:p="http://schemas.openxmlformats.org/presentationml/2006/main">
  <p:cSld>
    <p:bg xmlns:a="http://schemas.openxmlformats.org/drawingml/2006/main">
      <p:bgPr>
        <a:gradFill rotWithShape="1">
          <a:gsLst>
            <a:gs pos="0">
              <a:srgbClr val="245E78"/>
            </a:gs>
            <a:gs pos="45000">
              <a:srgbClr val="173F52"/>
            </a:gs>
            <a:gs pos="100000">
              <a:srgbClr val="082A4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6" name="Picture 5" descr="mark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822960"/>
            <a:ext cx="3665726" cy="3794760"/>
          </a:xfrm>
          <a:prstGeom prst="rect">
            <a:avLst/>
          </a:prstGeom>
        </p:spPr>
      </p:pic>
      <p:sp xmlns:a="http://schemas.openxmlformats.org/drawingml/2006/main">
        <p:nvSpPr>
          <p:cNvPr id="7" name="TextBox 6"/>
          <p:cNvSpPr txBox="1"/>
          <p:nvPr/>
        </p:nvSpPr>
        <p:spPr>
          <a:xfrm>
            <a:off x="7498079" y="48006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100" b="0" spc="120">
                <a:solidFill>
                  <a:srgbClr val="E9E2D8"/>
                </a:solidFill>
                <a:latin typeface="Inter"/>
                <a:cs typeface="Inter"/>
              </a:rPr>
              <a:t>DA COMPREENSÃO ACUMULADA À MUDANÇA VIVIDA</a:t>
            </a:r>
            <a:endParaRPr sz="1100"/>
          </a:p>
        </p:txBody>
      </p:sp>
      <p:sp>
        <p:nvSpPr>
          <p:cNvPr id="2" name="course">
            <a:extLst xmlns:a="http://schemas.openxmlformats.org/drawingml/2006/main">
              <a:ext uri="{FF2B5EF4-FFF2-40B4-BE49-F238E27FC236}">
                <a16:creationId xmlns:a16="http://schemas.microsoft.com/office/drawing/2014/main" id="{6428B3B3-D69C-4572-939C-C28DDB63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31520"/>
            <a:ext cx="64008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defPPr>
            <a:lvl1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1pPr>
            <a:lvl2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2pPr>
            <a:lvl3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3pPr>
            <a:lvl4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4pPr>
            <a:lvl5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5pPr>
            <a:lvl6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6pPr>
            <a:lvl7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7pPr>
            <a:lvl8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8pPr>
            <a:lvl9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pPr>
            <a:r>
              <a:rPr sz="1400" b="1" spc="250">
                <a:solidFill>
                  <a:srgbClr val="C99A64"/>
                </a:solidFill>
                <a:latin typeface="Inter"/>
                <a:cs typeface="Inter"/>
              </a:rPr>
              <a:t>TRADUZINDO O SER HUMANO</a:t>
            </a:r>
            <a:endParaRPr sz="14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88A62B-9B08-4A3A-8359-6017C9F9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280160"/>
            <a:ext cx="6766560" cy="3108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>
              <a:defRPr sz="3610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defPPr>
            <a:lvl1pPr>
              <a:defRPr sz="3610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1pPr>
            <a:lvl2pPr>
              <a:defRPr sz="3610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2pPr>
            <a:lvl3pPr>
              <a:defRPr sz="3610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3pPr>
            <a:lvl4pPr>
              <a:defRPr sz="3610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4pPr>
            <a:lvl5pPr>
              <a:defRPr sz="3610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5pPr>
            <a:lvl6pPr>
              <a:defRPr sz="3610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6pPr>
            <a:lvl7pPr>
              <a:defRPr sz="3610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7pPr>
            <a:lvl8pPr>
              <a:defRPr sz="3610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8pPr>
            <a:lvl9pPr>
              <a:defRPr sz="3610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2000"/>
              </a:lnSpc>
              <a:defRPr sz="3610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pPr>
            <a:r>
              <a:rPr sz="5400" b="0">
                <a:solidFill>
                  <a:srgbClr val="FFFFFF"/>
                </a:solidFill>
                <a:latin typeface="EB Garamond"/>
                <a:cs typeface="EB Garamond"/>
              </a:rPr>
              <a:t>Como usar o percurso, os mapas, as práticas e os materiais</a:t>
            </a:r>
            <a:endParaRPr sz="5400"/>
          </a:p>
        </p:txBody>
      </p:sp>
      <p:sp>
        <p:nvSpPr>
          <p:cNvPr id="4" name="author">
            <a:extLst xmlns:a="http://schemas.openxmlformats.org/drawingml/2006/main">
              <a:ext uri="{FF2B5EF4-FFF2-40B4-BE49-F238E27FC236}">
                <a16:creationId xmlns:a16="http://schemas.microsoft.com/office/drawing/2014/main" id="{FA40155F-2296-44BE-BD1A-93F1AA03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20640"/>
            <a:ext cx="64008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81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defPPr>
            <a:lvl1pPr>
              <a:defRPr sz="1681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1pPr>
            <a:lvl2pPr>
              <a:defRPr sz="1681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2pPr>
            <a:lvl3pPr>
              <a:defRPr sz="1681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3pPr>
            <a:lvl4pPr>
              <a:defRPr sz="1681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4pPr>
            <a:lvl5pPr>
              <a:defRPr sz="1681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5pPr>
            <a:lvl6pPr>
              <a:defRPr sz="1681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6pPr>
            <a:lvl7pPr>
              <a:defRPr sz="1681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7pPr>
            <a:lvl8pPr>
              <a:defRPr sz="1681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8pPr>
            <a:lvl9pPr>
              <a:defRPr sz="1681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defRPr sz="1681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pPr>
            <a:r>
              <a:rPr sz="1600" b="1">
                <a:solidFill>
                  <a:srgbClr val="C99A64"/>
                </a:solidFill>
                <a:latin typeface="Inter"/>
                <a:cs typeface="Inter"/>
              </a:rPr>
              <a:t>Módulo 0 · Aula 2</a:t>
            </a:r>
            <a:endParaRPr sz="1600"/>
          </a:p>
          <a:p xmlns:a="http://schemas.openxmlformats.org/drawingml/2006/main">
            <a:pPr algn="l">
              <a:lnSpc>
                <a:spcPct val="125000"/>
              </a:lnSpc>
              <a:defRPr sz="1681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pPr>
            <a:r>
              <a:rPr sz="1600" b="0">
                <a:solidFill>
                  <a:srgbClr val="E9E2D8"/>
                </a:solidFill>
                <a:latin typeface="Inter"/>
                <a:cs typeface="Inter"/>
              </a:rPr>
              <a:t>Fabiano Deliberalli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451285656"/>
      </p:ext>
    </p:extLst>
  </p:cSld>
  <p:transition spd="med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" name="Rounded Rectangle 10"/>
          <p:cNvSpPr/>
          <p:nvPr/>
        </p:nvSpPr>
        <p:spPr>
          <a:xfrm>
            <a:off x="841248" y="2194560"/>
            <a:ext cx="3255264" cy="301752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Oval 11"/>
          <p:cNvSpPr/>
          <p:nvPr/>
        </p:nvSpPr>
        <p:spPr>
          <a:xfrm>
            <a:off x="1165860" y="2528316"/>
            <a:ext cx="118872" cy="118872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4471416" y="2194560"/>
            <a:ext cx="3255264" cy="301752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4" name="Oval 13"/>
          <p:cNvSpPr/>
          <p:nvPr/>
        </p:nvSpPr>
        <p:spPr>
          <a:xfrm>
            <a:off x="4796027" y="2528316"/>
            <a:ext cx="118872" cy="118872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5" name="Rounded Rectangle 14"/>
          <p:cNvSpPr/>
          <p:nvPr/>
        </p:nvSpPr>
        <p:spPr>
          <a:xfrm>
            <a:off x="8101583" y="2194560"/>
            <a:ext cx="3255264" cy="301752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6" name="Oval 15"/>
          <p:cNvSpPr/>
          <p:nvPr/>
        </p:nvSpPr>
        <p:spPr>
          <a:xfrm>
            <a:off x="8426196" y="2528316"/>
            <a:ext cx="118872" cy="118872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 xmlns:a="http://schemas.openxmlformats.org/drawingml/2006/main" xmlns:r="http://schemas.openxmlformats.org/officeDocument/2006/relationships">
        <p:nvPicPr>
          <p:cNvPr id="17" name="Picture 16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1FF0917-10FE-4D53-9C3C-244590FA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40080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Um recurso para cada necessidade</a:t>
            </a:r>
            <a:endParaRPr sz="4000"/>
          </a:p>
        </p:txBody>
      </p:sp>
      <p:sp>
        <p:nvSpPr>
          <p:cNvPr id="3" name="resource-0">
            <a:extLst xmlns:a="http://schemas.openxmlformats.org/drawingml/2006/main">
              <a:ext uri="{FF2B5EF4-FFF2-40B4-BE49-F238E27FC236}">
                <a16:creationId xmlns:a16="http://schemas.microsoft.com/office/drawing/2014/main" id="{E03FAD8C-173C-426A-AB68-28BCFA48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788920"/>
            <a:ext cx="2706624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400" b="0">
                <a:solidFill>
                  <a:srgbClr val="082A45"/>
                </a:solidFill>
                <a:latin typeface="EB Garamond"/>
                <a:cs typeface="EB Garamond"/>
              </a:rPr>
              <a:t>Mapa</a:t>
            </a:r>
            <a:endParaRPr sz="4400"/>
          </a:p>
        </p:txBody>
      </p:sp>
      <p:sp>
        <p:nvSpPr>
          <p:cNvPr id="4" name="function-0">
            <a:extLst xmlns:a="http://schemas.openxmlformats.org/drawingml/2006/main">
              <a:ext uri="{FF2B5EF4-FFF2-40B4-BE49-F238E27FC236}">
                <a16:creationId xmlns:a16="http://schemas.microsoft.com/office/drawing/2014/main" id="{61A9B8F4-D0A6-4CB7-9470-0EF4E5D7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703320"/>
            <a:ext cx="2706624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3F52"/>
                </a:solidFill>
                <a:latin typeface="Inter"/>
                <a:cs typeface="Inter"/>
              </a:rPr>
              <a:t>Amplia o olhar.</a:t>
            </a:r>
            <a:endParaRPr sz="2100"/>
          </a:p>
        </p:txBody>
      </p:sp>
      <p:sp>
        <p:nvSpPr>
          <p:cNvPr id="5" name="resource-1">
            <a:extLst xmlns:a="http://schemas.openxmlformats.org/drawingml/2006/main">
              <a:ext uri="{FF2B5EF4-FFF2-40B4-BE49-F238E27FC236}">
                <a16:creationId xmlns:a16="http://schemas.microsoft.com/office/drawing/2014/main" id="{F46AA5E3-C554-409F-854F-9A1176F5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2788920"/>
            <a:ext cx="2706624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400" b="0">
                <a:solidFill>
                  <a:srgbClr val="082A45"/>
                </a:solidFill>
                <a:latin typeface="EB Garamond"/>
                <a:cs typeface="EB Garamond"/>
              </a:rPr>
              <a:t>Ficha</a:t>
            </a:r>
            <a:endParaRPr sz="4400"/>
          </a:p>
        </p:txBody>
      </p:sp>
      <p:sp>
        <p:nvSpPr>
          <p:cNvPr id="6" name="function-1">
            <a:extLst xmlns:a="http://schemas.openxmlformats.org/drawingml/2006/main">
              <a:ext uri="{FF2B5EF4-FFF2-40B4-BE49-F238E27FC236}">
                <a16:creationId xmlns:a16="http://schemas.microsoft.com/office/drawing/2014/main" id="{319F0DDF-5CA8-4CD8-A9C1-1225F80A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3703320"/>
            <a:ext cx="2706624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3F52"/>
                </a:solidFill>
                <a:latin typeface="Inter"/>
                <a:cs typeface="Inter"/>
              </a:rPr>
              <a:t>Guarda uma percepção e permite voltar a ela.</a:t>
            </a:r>
            <a:endParaRPr sz="2100"/>
          </a:p>
        </p:txBody>
      </p:sp>
      <p:sp>
        <p:nvSpPr>
          <p:cNvPr id="7" name="resource-2">
            <a:extLst xmlns:a="http://schemas.openxmlformats.org/drawingml/2006/main">
              <a:ext uri="{FF2B5EF4-FFF2-40B4-BE49-F238E27FC236}">
                <a16:creationId xmlns:a16="http://schemas.microsoft.com/office/drawing/2014/main" id="{CDD93404-14FF-4A25-9109-A67E85A3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788920"/>
            <a:ext cx="2706624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400" b="0">
                <a:solidFill>
                  <a:srgbClr val="082A45"/>
                </a:solidFill>
                <a:latin typeface="EB Garamond"/>
                <a:cs typeface="EB Garamond"/>
              </a:rPr>
              <a:t>Guia</a:t>
            </a:r>
            <a:endParaRPr sz="4400"/>
          </a:p>
        </p:txBody>
      </p:sp>
      <p:sp>
        <p:nvSpPr>
          <p:cNvPr id="8" name="function-2">
            <a:extLst xmlns:a="http://schemas.openxmlformats.org/drawingml/2006/main">
              <a:ext uri="{FF2B5EF4-FFF2-40B4-BE49-F238E27FC236}">
                <a16:creationId xmlns:a16="http://schemas.microsoft.com/office/drawing/2014/main" id="{D86E2E25-E2E6-45F1-86BC-FF587193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703320"/>
            <a:ext cx="2706624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100" b="0">
                <a:solidFill>
                  <a:srgbClr val="173F52"/>
                </a:solidFill>
                <a:latin typeface="Inter"/>
                <a:cs typeface="Inter"/>
              </a:rPr>
              <a:t>Esclarece uma palavra ou uma ideia.</a:t>
            </a:r>
            <a:endParaRPr sz="2100"/>
          </a:p>
        </p:txBody>
      </p:sp>
      <p:sp>
        <p:nvSpPr>
          <p:cNvPr id="9" name="choice">
            <a:extLst xmlns:a="http://schemas.openxmlformats.org/drawingml/2006/main">
              <a:ext uri="{FF2B5EF4-FFF2-40B4-BE49-F238E27FC236}">
                <a16:creationId xmlns:a16="http://schemas.microsoft.com/office/drawing/2014/main" id="{808135F3-530E-4887-A8E1-AA7643FE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486400"/>
            <a:ext cx="10515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2200" b="0" i="1">
                <a:solidFill>
                  <a:srgbClr val="245E78"/>
                </a:solidFill>
                <a:latin typeface="EB Garamond"/>
                <a:cs typeface="EB Garamond"/>
              </a:rPr>
              <a:t>Você pode começar pela sua necessidade.</a:t>
            </a:r>
            <a:endParaRPr sz="2200"/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B93860-C104-4BB6-8B27-B9124DAA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02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1389606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7" name="Rounded Rectangle 6"/>
          <p:cNvSpPr/>
          <p:nvPr/>
        </p:nvSpPr>
        <p:spPr>
          <a:xfrm>
            <a:off x="6355080" y="2194560"/>
            <a:ext cx="5001768" cy="3657600"/>
          </a:xfrm>
          <a:prstGeom prst="roundRect">
            <a:avLst>
              <a:gd name="adj" fmla="val 5000"/>
            </a:avLst>
          </a:prstGeom>
          <a:solidFill>
            <a:srgbClr val="0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 xmlns:a="http://schemas.openxmlformats.org/drawingml/2006/main" xmlns:r="http://schemas.openxmlformats.org/officeDocument/2006/relationships">
        <p:nvPicPr>
          <p:cNvPr id="8" name="Picture 7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936C419-F350-4325-B1CA-451FF851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40080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Uma cena cotidiana</a:t>
            </a:r>
            <a:endParaRPr sz="4000"/>
          </a:p>
        </p:txBody>
      </p:sp>
      <p:sp>
        <p:nvSpPr>
          <p:cNvPr id="3" name="fiction">
            <a:extLst xmlns:a="http://schemas.openxmlformats.org/drawingml/2006/main">
              <a:ext uri="{FF2B5EF4-FFF2-40B4-BE49-F238E27FC236}">
                <a16:creationId xmlns:a16="http://schemas.microsoft.com/office/drawing/2014/main" id="{DAB5C4FC-325A-4923-AEFC-BFD86D60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94560"/>
            <a:ext cx="5029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56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556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556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556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556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556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556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556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556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556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556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300" b="1" spc="200">
                <a:solidFill>
                  <a:srgbClr val="245E78"/>
                </a:solidFill>
                <a:latin typeface="Inter"/>
                <a:cs typeface="Inter"/>
              </a:rPr>
              <a:t>SITUAÇÃO FICTÍCIA</a:t>
            </a:r>
            <a:endParaRPr sz="1300"/>
          </a:p>
        </p:txBody>
      </p:sp>
      <p:sp>
        <p:nvSpPr>
          <p:cNvPr id="4" name="scene">
            <a:extLst xmlns:a="http://schemas.openxmlformats.org/drawingml/2006/main">
              <a:ext uri="{FF2B5EF4-FFF2-40B4-BE49-F238E27FC236}">
                <a16:creationId xmlns:a16="http://schemas.microsoft.com/office/drawing/2014/main" id="{799B31A1-753E-4F19-9C4A-F18D68C5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651760"/>
            <a:ext cx="512064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300" b="0">
                <a:solidFill>
                  <a:srgbClr val="173F52"/>
                </a:solidFill>
                <a:latin typeface="Inter"/>
                <a:cs typeface="Inter"/>
              </a:rPr>
              <a:t>Um amigo pede ajuda para organizar um encontro no sábado.</a:t>
            </a:r>
            <a:endParaRPr sz="2300"/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defRPr sz="2400" b="0">
                <a:solidFill>
                  <a:srgbClr val="173A39"/>
                </a:solidFill>
                <a:latin typeface="DejaVu Sans"/>
                <a:ea typeface="DejaVu Sans"/>
                <a:cs typeface="DejaVu Sans"/>
              </a:defRPr>
            </a:pPr>
            <a:r>
              <a:rPr sz="2300" b="0">
                <a:solidFill>
                  <a:srgbClr val="173F52"/>
                </a:solidFill>
                <a:latin typeface="Inter"/>
                <a:cs typeface="Inter"/>
              </a:rPr>
              <a:t/>
            </a:r>
            <a:endParaRPr sz="2300"/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300" b="0">
                <a:solidFill>
                  <a:srgbClr val="173F52"/>
                </a:solidFill>
                <a:latin typeface="Inter"/>
                <a:cs typeface="Inter"/>
              </a:rPr>
              <a:t>A pessoa gosta da ideia e aceita.</a:t>
            </a:r>
            <a:endParaRPr sz="2300"/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defRPr sz="2400" b="0">
                <a:solidFill>
                  <a:srgbClr val="173A39"/>
                </a:solidFill>
                <a:latin typeface="DejaVu Sans"/>
                <a:ea typeface="DejaVu Sans"/>
                <a:cs typeface="DejaVu Sans"/>
              </a:defRPr>
            </a:pPr>
            <a:r>
              <a:rPr sz="2300" b="0">
                <a:solidFill>
                  <a:srgbClr val="173F52"/>
                </a:solidFill>
                <a:latin typeface="Inter"/>
                <a:cs typeface="Inter"/>
              </a:rPr>
              <a:t/>
            </a:r>
            <a:endParaRPr sz="2300"/>
          </a:p>
          <a:p xmlns:a="http://schemas.openxmlformats.org/drawingml/2006/main">
            <a:pPr algn="l">
              <a:lnSpc>
                <a:spcPct val="118000"/>
              </a:lnSpc>
              <a:spcAft>
                <a:spcPts val="0"/>
              </a:spcAft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300" b="0">
                <a:solidFill>
                  <a:srgbClr val="173F52"/>
                </a:solidFill>
                <a:latin typeface="Inter"/>
                <a:cs typeface="Inter"/>
              </a:rPr>
              <a:t>Depois, percebe os compromissos na agenda e o cansaço.</a:t>
            </a:r>
            <a:endParaRPr sz="2300"/>
          </a:p>
        </p:txBody>
      </p:sp>
      <p:sp>
        <p:nvSpPr>
          <p:cNvPr id="5" name="thought">
            <a:extLst xmlns:a="http://schemas.openxmlformats.org/drawingml/2006/main">
              <a:ext uri="{FF2B5EF4-FFF2-40B4-BE49-F238E27FC236}">
                <a16:creationId xmlns:a16="http://schemas.microsoft.com/office/drawing/2014/main" id="{D98B118C-8642-4D85-8859-18343523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43200"/>
            <a:ext cx="420624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988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988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988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988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988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988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988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988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988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988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988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400" b="0" i="1">
                <a:solidFill>
                  <a:srgbClr val="F4EFEA"/>
                </a:solidFill>
                <a:latin typeface="EB Garamond"/>
                <a:cs typeface="EB Garamond"/>
              </a:rPr>
              <a:t>“Como vou dar conta de tudo?”</a:t>
            </a:r>
            <a:endParaRPr sz="4400"/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4EA82FC-0084-4E81-80B9-34986A40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03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9929487"/>
      </p:ext>
    </p:extLst>
  </p:cSld>
  <p:transition spd="med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7" name="Rectangle 6"/>
          <p:cNvSpPr/>
          <p:nvPr/>
        </p:nvSpPr>
        <p:spPr>
          <a:xfrm>
            <a:off x="6949440" y="3246120"/>
            <a:ext cx="548640" cy="18288"/>
          </a:xfrm>
          <a:prstGeom prst="rect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5A825-711B-4254-B1D8-4813F33FF5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b92b9b71c4590"/>
          <a:stretch xmlns:a="http://schemas.openxmlformats.org/drawingml/2006/main"/>
        </p:blipFill>
        <p:spPr>
          <a:xfrm xmlns:a="http://schemas.openxmlformats.org/drawingml/2006/main">
            <a:off x="411480" y="411480"/>
            <a:ext cx="6035040" cy="6035040"/>
          </a:xfrm>
          <a:prstGeom xmlns:a="http://schemas.openxmlformats.org/drawingml/2006/main" prst="rect">
            <a:avLst/>
          </a:prstGeom>
        </p:spPr>
      </p:pic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6428DB-86CA-4087-8AAE-3FD29BB8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822960"/>
            <a:ext cx="4599432" cy="219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400" b="0">
                <a:solidFill>
                  <a:srgbClr val="082A45"/>
                </a:solidFill>
                <a:latin typeface="EB Garamond"/>
                <a:cs typeface="EB Garamond"/>
              </a:rPr>
              <a:t>Mapa das Dimensões da Experiência Humana</a:t>
            </a:r>
            <a:endParaRPr sz="3400"/>
          </a:p>
        </p:txBody>
      </p:sp>
      <p:sp>
        <p:nvSpPr>
          <p:cNvPr id="4" name="purpose">
            <a:extLst xmlns:a="http://schemas.openxmlformats.org/drawingml/2006/main">
              <a:ext uri="{FF2B5EF4-FFF2-40B4-BE49-F238E27FC236}">
                <a16:creationId xmlns:a16="http://schemas.microsoft.com/office/drawing/2014/main" id="{E4DC2443-2FA0-4D6D-9E0B-439253F4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474720"/>
            <a:ext cx="4599432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300" b="0">
                <a:solidFill>
                  <a:srgbClr val="173F52"/>
                </a:solidFill>
                <a:latin typeface="Inter"/>
                <a:cs typeface="Inter"/>
              </a:rPr>
              <a:t>Diferentes aspectos do vivido</a:t>
            </a:r>
            <a:endParaRPr sz="2300"/>
          </a:p>
        </p:txBody>
      </p:sp>
      <p:sp>
        <p:nvSpPr>
          <p:cNvPr id="5" name="focus">
            <a:extLst xmlns:a="http://schemas.openxmlformats.org/drawingml/2006/main">
              <a:ext uri="{FF2B5EF4-FFF2-40B4-BE49-F238E27FC236}">
                <a16:creationId xmlns:a16="http://schemas.microsoft.com/office/drawing/2014/main" id="{DB74E983-589F-468F-8D5E-0E527D28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754880"/>
            <a:ext cx="4599432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900" b="1">
                <a:solidFill>
                  <a:srgbClr val="245E78"/>
                </a:solidFill>
                <a:latin typeface="Inter"/>
                <a:cs typeface="Inter"/>
              </a:rPr>
              <a:t>Vamos começar pelos que aparecem na cena.</a:t>
            </a:r>
            <a:endParaRPr sz="1900"/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B3ABE44-8AFE-47A8-8409-66FE6E20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62910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04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52882762"/>
      </p:ext>
    </p:extLst>
  </p:cSld>
  <p:transition spd="med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" name="Rounded Rectangle 11"/>
          <p:cNvSpPr/>
          <p:nvPr/>
        </p:nvSpPr>
        <p:spPr>
          <a:xfrm>
            <a:off x="841248" y="2103120"/>
            <a:ext cx="10515600" cy="3886200"/>
          </a:xfrm>
          <a:prstGeom prst="roundRect">
            <a:avLst>
              <a:gd name="adj" fmla="val 3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3" name="Oval 12"/>
          <p:cNvSpPr/>
          <p:nvPr/>
        </p:nvSpPr>
        <p:spPr>
          <a:xfrm>
            <a:off x="1225295" y="2624328"/>
            <a:ext cx="109728" cy="109728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1188720" y="3136392"/>
            <a:ext cx="9820656" cy="13716"/>
          </a:xfrm>
          <a:prstGeom prst="rect">
            <a:avLst/>
          </a:prstGeom>
          <a:solidFill>
            <a:srgbClr val="E2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5" name="Oval 14"/>
          <p:cNvSpPr/>
          <p:nvPr/>
        </p:nvSpPr>
        <p:spPr>
          <a:xfrm>
            <a:off x="1225295" y="3538728"/>
            <a:ext cx="109728" cy="109728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188720" y="4050792"/>
            <a:ext cx="9820656" cy="13716"/>
          </a:xfrm>
          <a:prstGeom prst="rect">
            <a:avLst/>
          </a:prstGeom>
          <a:solidFill>
            <a:srgbClr val="E2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7" name="Oval 16"/>
          <p:cNvSpPr/>
          <p:nvPr/>
        </p:nvSpPr>
        <p:spPr>
          <a:xfrm>
            <a:off x="1225295" y="4453128"/>
            <a:ext cx="109728" cy="109728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188720" y="4965192"/>
            <a:ext cx="9820656" cy="13716"/>
          </a:xfrm>
          <a:prstGeom prst="rect">
            <a:avLst/>
          </a:prstGeom>
          <a:solidFill>
            <a:srgbClr val="E2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9" name="Oval 18"/>
          <p:cNvSpPr/>
          <p:nvPr/>
        </p:nvSpPr>
        <p:spPr>
          <a:xfrm>
            <a:off x="1225295" y="5367528"/>
            <a:ext cx="109728" cy="109728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 xmlns:a="http://schemas.openxmlformats.org/drawingml/2006/main" xmlns:r="http://schemas.openxmlformats.org/officeDocument/2006/relationships">
        <p:nvPicPr>
          <p:cNvPr id="20" name="Picture 19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97A2A61-7C4A-4698-87C9-E1AFB9D2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40080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Alguns aspectos da nossa cena</a:t>
            </a:r>
            <a:endParaRPr sz="4000"/>
          </a:p>
        </p:txBody>
      </p:sp>
      <p:sp>
        <p:nvSpPr>
          <p:cNvPr id="3" name="dimension-0">
            <a:extLst xmlns:a="http://schemas.openxmlformats.org/drawingml/2006/main">
              <a:ext uri="{FF2B5EF4-FFF2-40B4-BE49-F238E27FC236}">
                <a16:creationId xmlns:a16="http://schemas.microsoft.com/office/drawing/2014/main" id="{1B24FBD2-C6E1-489E-9DB9-E41B4495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423160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500" b="1" spc="120">
                <a:solidFill>
                  <a:srgbClr val="245E78"/>
                </a:solidFill>
                <a:latin typeface="Inter"/>
                <a:cs typeface="Inter"/>
              </a:rPr>
              <a:t>CORPORAL E SENSORIAL</a:t>
            </a:r>
            <a:endParaRPr sz="1500"/>
          </a:p>
        </p:txBody>
      </p:sp>
      <p:sp>
        <p:nvSpPr>
          <p:cNvPr id="4" name="example-0">
            <a:extLst xmlns:a="http://schemas.openxmlformats.org/drawingml/2006/main">
              <a:ext uri="{FF2B5EF4-FFF2-40B4-BE49-F238E27FC236}">
                <a16:creationId xmlns:a16="http://schemas.microsoft.com/office/drawing/2014/main" id="{ADF013BD-D500-4837-8041-7E66D0C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77440"/>
            <a:ext cx="6217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Cansaço</a:t>
            </a:r>
            <a:endParaRPr sz="3000"/>
          </a:p>
        </p:txBody>
      </p:sp>
      <p:sp>
        <p:nvSpPr>
          <p:cNvPr id="5" name="dimension-1">
            <a:extLst xmlns:a="http://schemas.openxmlformats.org/drawingml/2006/main">
              <a:ext uri="{FF2B5EF4-FFF2-40B4-BE49-F238E27FC236}">
                <a16:creationId xmlns:a16="http://schemas.microsoft.com/office/drawing/2014/main" id="{FE07F295-677C-443C-A82D-A3923745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337560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500" b="1" spc="120">
                <a:solidFill>
                  <a:srgbClr val="245E78"/>
                </a:solidFill>
                <a:latin typeface="Inter"/>
                <a:cs typeface="Inter"/>
              </a:rPr>
              <a:t>MENTAL E NARRATIVA</a:t>
            </a:r>
            <a:endParaRPr sz="1500"/>
          </a:p>
        </p:txBody>
      </p:sp>
      <p:sp>
        <p:nvSpPr>
          <p:cNvPr id="6" name="example-1">
            <a:extLst xmlns:a="http://schemas.openxmlformats.org/drawingml/2006/main">
              <a:ext uri="{FF2B5EF4-FFF2-40B4-BE49-F238E27FC236}">
                <a16:creationId xmlns:a16="http://schemas.microsoft.com/office/drawing/2014/main" id="{AEFA48FC-DA17-4D53-856A-03DA7921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91840"/>
            <a:ext cx="6217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“Como vou dar conta?”</a:t>
            </a:r>
            <a:endParaRPr sz="3000"/>
          </a:p>
        </p:txBody>
      </p:sp>
      <p:sp>
        <p:nvSpPr>
          <p:cNvPr id="7" name="dimension-2">
            <a:extLst xmlns:a="http://schemas.openxmlformats.org/drawingml/2006/main">
              <a:ext uri="{FF2B5EF4-FFF2-40B4-BE49-F238E27FC236}">
                <a16:creationId xmlns:a16="http://schemas.microsoft.com/office/drawing/2014/main" id="{692A3D86-7F37-4F64-BF07-8081745D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251960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500" b="1" spc="120">
                <a:solidFill>
                  <a:srgbClr val="245E78"/>
                </a:solidFill>
                <a:latin typeface="Inter"/>
                <a:cs typeface="Inter"/>
              </a:rPr>
              <a:t>RELACIONAL</a:t>
            </a:r>
            <a:endParaRPr sz="1500"/>
          </a:p>
        </p:txBody>
      </p:sp>
      <p:sp>
        <p:nvSpPr>
          <p:cNvPr id="8" name="example-2">
            <a:extLst xmlns:a="http://schemas.openxmlformats.org/drawingml/2006/main">
              <a:ext uri="{FF2B5EF4-FFF2-40B4-BE49-F238E27FC236}">
                <a16:creationId xmlns:a16="http://schemas.microsoft.com/office/drawing/2014/main" id="{AC96B188-FC28-4F71-BE0F-580EF504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206240"/>
            <a:ext cx="6217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Um amigo, um pedido, uma resposta</a:t>
            </a:r>
            <a:endParaRPr sz="3000"/>
          </a:p>
        </p:txBody>
      </p:sp>
      <p:sp>
        <p:nvSpPr>
          <p:cNvPr id="9" name="dimension-3">
            <a:extLst xmlns:a="http://schemas.openxmlformats.org/drawingml/2006/main">
              <a:ext uri="{FF2B5EF4-FFF2-40B4-BE49-F238E27FC236}">
                <a16:creationId xmlns:a16="http://schemas.microsoft.com/office/drawing/2014/main" id="{B1B8A0FD-8265-4E73-8F80-4DD0D032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166360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500" b="1" spc="120">
                <a:solidFill>
                  <a:srgbClr val="245E78"/>
                </a:solidFill>
                <a:latin typeface="Inter"/>
                <a:cs typeface="Inter"/>
              </a:rPr>
              <a:t>CONDIÇÕES CONCRETAS</a:t>
            </a:r>
            <a:endParaRPr sz="1500"/>
          </a:p>
        </p:txBody>
      </p:sp>
      <p:sp>
        <p:nvSpPr>
          <p:cNvPr id="10" name="example-3">
            <a:extLst xmlns:a="http://schemas.openxmlformats.org/drawingml/2006/main">
              <a:ext uri="{FF2B5EF4-FFF2-40B4-BE49-F238E27FC236}">
                <a16:creationId xmlns:a16="http://schemas.microsoft.com/office/drawing/2014/main" id="{82FB36A5-0643-426A-8139-53D11E3B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5120640"/>
            <a:ext cx="621792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Tempo disponível e compromissos</a:t>
            </a:r>
            <a:endParaRPr sz="3000"/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CD19646-0330-4997-B6A7-6C7575AF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05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5093457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 xmlns:a="http://schemas.openxmlformats.org/drawingml/2006/main">
        <p:nvCxnSpPr>
          <p:cNvPr id="6" name="Connector 5"/>
          <p:cNvCxnSpPr/>
          <p:nvPr/>
        </p:nvCxnSpPr>
        <p:spPr>
          <a:xfrm>
            <a:off x="5532120" y="1801368"/>
            <a:ext cx="0" cy="3044952"/>
          </a:xfrm>
          <a:prstGeom prst="line">
            <a:avLst/>
          </a:prstGeom>
          <a:ln w="12700">
            <a:solidFill>
              <a:srgbClr val="C99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7" name="Oval 6"/>
          <p:cNvSpPr/>
          <p:nvPr/>
        </p:nvSpPr>
        <p:spPr>
          <a:xfrm>
            <a:off x="5500116" y="1257300"/>
            <a:ext cx="64008" cy="64008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8" name="Oval 7"/>
          <p:cNvSpPr/>
          <p:nvPr/>
        </p:nvSpPr>
        <p:spPr>
          <a:xfrm>
            <a:off x="5472683" y="1449324"/>
            <a:ext cx="118872" cy="118872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 xmlns:a="http://schemas.openxmlformats.org/drawingml/2006/main" xmlns:r="http://schemas.openxmlformats.org/officeDocument/2006/relationships">
        <p:nvPicPr>
          <p:cNvPr id="9" name="Picture 8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C0EAAA-E13C-43DA-A0DA-2427904E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822960"/>
            <a:ext cx="43434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Perguntas que continuam abertas</a:t>
            </a:r>
            <a:endParaRPr sz="4000"/>
          </a:p>
        </p:txBody>
      </p:sp>
      <p:sp>
        <p:nvSpPr>
          <p:cNvPr id="3" name="questions">
            <a:extLst xmlns:a="http://schemas.openxmlformats.org/drawingml/2006/main">
              <a:ext uri="{FF2B5EF4-FFF2-40B4-BE49-F238E27FC236}">
                <a16:creationId xmlns:a16="http://schemas.microsoft.com/office/drawing/2014/main" id="{8045E46D-C3F0-4343-9C98-07FC9BA4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822960"/>
            <a:ext cx="5349240" cy="420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30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30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30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30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30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30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30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30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30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30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defRPr sz="230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De quanta ajuda o amigo precisa?</a:t>
            </a:r>
            <a:endParaRPr sz="3000"/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defRPr sz="2775" b="0">
                <a:solidFill>
                  <a:srgbClr val="173A39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/>
            </a:r>
            <a:endParaRPr sz="3000"/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defRPr sz="230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A pessoa sabia disso quando aceitou?</a:t>
            </a:r>
            <a:endParaRPr sz="3000"/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defRPr sz="2775" b="0">
                <a:solidFill>
                  <a:srgbClr val="173A39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/>
            </a:r>
            <a:endParaRPr sz="3000"/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defRPr sz="230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82A45"/>
                </a:solidFill>
                <a:latin typeface="EB Garamond"/>
                <a:cs typeface="EB Garamond"/>
              </a:rPr>
              <a:t>Quer participar de toda a organização ou de uma parte?</a:t>
            </a:r>
            <a:endParaRPr sz="3000"/>
          </a:p>
        </p:txBody>
      </p:sp>
      <p:sp>
        <p:nvSpPr>
          <p:cNvPr id="4" name="openness">
            <a:extLst xmlns:a="http://schemas.openxmlformats.org/drawingml/2006/main">
              <a:ext uri="{FF2B5EF4-FFF2-40B4-BE49-F238E27FC236}">
                <a16:creationId xmlns:a16="http://schemas.microsoft.com/office/drawing/2014/main" id="{720FB351-AAA7-4BE5-A29F-BEEEAB82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5257800"/>
            <a:ext cx="53492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defRPr sz="186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2200" b="0" i="1">
                <a:solidFill>
                  <a:srgbClr val="245E78"/>
                </a:solidFill>
                <a:latin typeface="EB Garamond"/>
                <a:cs typeface="EB Garamond"/>
              </a:rPr>
              <a:t>Você pode começar por uma dimensão e deixar outras em aberto.</a:t>
            </a:r>
            <a:endParaRPr sz="2200"/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7A11BA6-76B1-4076-A3B4-F42DA52D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06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31463676"/>
      </p:ext>
    </p:extLst>
  </p:cSld>
  <p:transition spd="med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4" name="Rounded Rectangle 13"/>
          <p:cNvSpPr/>
          <p:nvPr/>
        </p:nvSpPr>
        <p:spPr>
          <a:xfrm>
            <a:off x="841248" y="2194560"/>
            <a:ext cx="2432304" cy="310896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1097280" y="23774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150">
                <a:solidFill>
                  <a:srgbClr val="C99A64"/>
                </a:solidFill>
                <a:latin typeface="Inter"/>
                <a:cs typeface="Inter"/>
              </a:rPr>
              <a:t>01</a:t>
            </a:r>
            <a:endParaRPr sz="1300"/>
          </a:p>
        </p:txBody>
      </p:sp>
      <p:sp xmlns:a="http://schemas.openxmlformats.org/drawingml/2006/main">
        <p:nvSpPr>
          <p:cNvPr id="16" name="Rounded Rectangle 15"/>
          <p:cNvSpPr/>
          <p:nvPr/>
        </p:nvSpPr>
        <p:spPr>
          <a:xfrm>
            <a:off x="3529584" y="2194560"/>
            <a:ext cx="2432304" cy="310896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7" name="TextBox 16"/>
          <p:cNvSpPr txBox="1"/>
          <p:nvPr/>
        </p:nvSpPr>
        <p:spPr>
          <a:xfrm>
            <a:off x="3785616" y="23774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150">
                <a:solidFill>
                  <a:srgbClr val="C99A64"/>
                </a:solidFill>
                <a:latin typeface="Inter"/>
                <a:cs typeface="Inter"/>
              </a:rPr>
              <a:t>02</a:t>
            </a:r>
            <a:endParaRPr sz="1300"/>
          </a:p>
        </p:txBody>
      </p:sp>
      <p:sp xmlns:a="http://schemas.openxmlformats.org/drawingml/2006/main">
        <p:nvSpPr>
          <p:cNvPr id="18" name="Rounded Rectangle 17"/>
          <p:cNvSpPr/>
          <p:nvPr/>
        </p:nvSpPr>
        <p:spPr>
          <a:xfrm>
            <a:off x="6217920" y="2194560"/>
            <a:ext cx="2432304" cy="310896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9" name="TextBox 18"/>
          <p:cNvSpPr txBox="1"/>
          <p:nvPr/>
        </p:nvSpPr>
        <p:spPr>
          <a:xfrm>
            <a:off x="6473952" y="23774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150">
                <a:solidFill>
                  <a:srgbClr val="C99A64"/>
                </a:solidFill>
                <a:latin typeface="Inter"/>
                <a:cs typeface="Inter"/>
              </a:rPr>
              <a:t>03</a:t>
            </a:r>
            <a:endParaRPr sz="1300"/>
          </a:p>
        </p:txBody>
      </p:sp>
      <p:sp xmlns:a="http://schemas.openxmlformats.org/drawingml/2006/main">
        <p:nvSpPr>
          <p:cNvPr id="20" name="Rounded Rectangle 19"/>
          <p:cNvSpPr/>
          <p:nvPr/>
        </p:nvSpPr>
        <p:spPr>
          <a:xfrm>
            <a:off x="8906256" y="2194560"/>
            <a:ext cx="2432304" cy="310896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21" name="TextBox 20"/>
          <p:cNvSpPr txBox="1"/>
          <p:nvPr/>
        </p:nvSpPr>
        <p:spPr>
          <a:xfrm>
            <a:off x="9162288" y="237744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150">
                <a:solidFill>
                  <a:srgbClr val="C99A64"/>
                </a:solidFill>
                <a:latin typeface="Inter"/>
                <a:cs typeface="Inter"/>
              </a:rPr>
              <a:t>04</a:t>
            </a:r>
            <a:endParaRPr sz="1300"/>
          </a:p>
        </p:txBody>
      </p:sp>
      <p:pic xmlns:a="http://schemas.openxmlformats.org/drawingml/2006/main" xmlns:r="http://schemas.openxmlformats.org/officeDocument/2006/relationships">
        <p:nvPicPr>
          <p:cNvPr id="22" name="Picture 21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17F3ADE-9299-4E1A-B809-43E6A93B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40080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Escrever, observar, distinguir e revisar</a:t>
            </a:r>
            <a:endParaRPr sz="4000"/>
          </a:p>
        </p:txBody>
      </p:sp>
      <p:sp>
        <p:nvSpPr>
          <p:cNvPr id="3" name="verb-0">
            <a:extLst xmlns:a="http://schemas.openxmlformats.org/drawingml/2006/main">
              <a:ext uri="{FF2B5EF4-FFF2-40B4-BE49-F238E27FC236}">
                <a16:creationId xmlns:a16="http://schemas.microsoft.com/office/drawing/2014/main" id="{88497CA4-793C-45EA-9387-C1E39D63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43200"/>
            <a:ext cx="1975104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400" b="0">
                <a:solidFill>
                  <a:srgbClr val="082A45"/>
                </a:solidFill>
                <a:latin typeface="EB Garamond"/>
                <a:cs typeface="EB Garamond"/>
              </a:rPr>
              <a:t>Escrever</a:t>
            </a:r>
            <a:endParaRPr sz="3400"/>
          </a:p>
        </p:txBody>
      </p:sp>
      <p:sp>
        <p:nvSpPr>
          <p:cNvPr id="4" name="meaning-0">
            <a:extLst xmlns:a="http://schemas.openxmlformats.org/drawingml/2006/main">
              <a:ext uri="{FF2B5EF4-FFF2-40B4-BE49-F238E27FC236}">
                <a16:creationId xmlns:a16="http://schemas.microsoft.com/office/drawing/2014/main" id="{FE16F0A2-D6B2-45EA-905C-21C4E0BF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66160"/>
            <a:ext cx="1975104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000" b="0">
                <a:solidFill>
                  <a:srgbClr val="173F52"/>
                </a:solidFill>
                <a:latin typeface="Inter"/>
                <a:cs typeface="Inter"/>
              </a:rPr>
              <a:t>Dar uma forma ao que aparece.</a:t>
            </a:r>
            <a:endParaRPr sz="2000"/>
          </a:p>
        </p:txBody>
      </p:sp>
      <p:sp>
        <p:nvSpPr>
          <p:cNvPr id="5" name="verb-1">
            <a:extLst xmlns:a="http://schemas.openxmlformats.org/drawingml/2006/main">
              <a:ext uri="{FF2B5EF4-FFF2-40B4-BE49-F238E27FC236}">
                <a16:creationId xmlns:a16="http://schemas.microsoft.com/office/drawing/2014/main" id="{EE96A8C9-383E-42CF-91FC-AC87DBAA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2743200"/>
            <a:ext cx="1975104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400" b="0">
                <a:solidFill>
                  <a:srgbClr val="082A45"/>
                </a:solidFill>
                <a:latin typeface="EB Garamond"/>
                <a:cs typeface="EB Garamond"/>
              </a:rPr>
              <a:t>Observar</a:t>
            </a:r>
            <a:endParaRPr sz="3400"/>
          </a:p>
        </p:txBody>
      </p:sp>
      <p:sp>
        <p:nvSpPr>
          <p:cNvPr id="6" name="meaning-1">
            <a:extLst xmlns:a="http://schemas.openxmlformats.org/drawingml/2006/main">
              <a:ext uri="{FF2B5EF4-FFF2-40B4-BE49-F238E27FC236}">
                <a16:creationId xmlns:a16="http://schemas.microsoft.com/office/drawing/2014/main" id="{9D4CE998-11D7-4998-ABE2-70EB18CD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6" y="3566160"/>
            <a:ext cx="1975104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000" b="0">
                <a:solidFill>
                  <a:srgbClr val="173F52"/>
                </a:solidFill>
                <a:latin typeface="Inter"/>
                <a:cs typeface="Inter"/>
              </a:rPr>
              <a:t>Voltar a atenção à experiência.</a:t>
            </a:r>
            <a:endParaRPr sz="2000"/>
          </a:p>
        </p:txBody>
      </p:sp>
      <p:sp>
        <p:nvSpPr>
          <p:cNvPr id="7" name="verb-2">
            <a:extLst xmlns:a="http://schemas.openxmlformats.org/drawingml/2006/main">
              <a:ext uri="{FF2B5EF4-FFF2-40B4-BE49-F238E27FC236}">
                <a16:creationId xmlns:a16="http://schemas.microsoft.com/office/drawing/2014/main" id="{DA28F0AD-69FB-4A1F-8FAD-4E02E2A7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743200"/>
            <a:ext cx="1975104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400" b="0">
                <a:solidFill>
                  <a:srgbClr val="082A45"/>
                </a:solidFill>
                <a:latin typeface="EB Garamond"/>
                <a:cs typeface="EB Garamond"/>
              </a:rPr>
              <a:t>Distinguir</a:t>
            </a:r>
            <a:endParaRPr sz="3400"/>
          </a:p>
        </p:txBody>
      </p:sp>
      <p:sp>
        <p:nvSpPr>
          <p:cNvPr id="8" name="meaning-2">
            <a:extLst xmlns:a="http://schemas.openxmlformats.org/drawingml/2006/main">
              <a:ext uri="{FF2B5EF4-FFF2-40B4-BE49-F238E27FC236}">
                <a16:creationId xmlns:a16="http://schemas.microsoft.com/office/drawing/2014/main" id="{8D6C8EA7-4DDB-422B-BE81-E88AACE3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566160"/>
            <a:ext cx="1975104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000" b="0">
                <a:solidFill>
                  <a:srgbClr val="173F52"/>
                </a:solidFill>
                <a:latin typeface="Inter"/>
                <a:cs typeface="Inter"/>
              </a:rPr>
              <a:t>Perceber diferenças e relações.</a:t>
            </a:r>
            <a:endParaRPr sz="2000"/>
          </a:p>
        </p:txBody>
      </p:sp>
      <p:sp>
        <p:nvSpPr>
          <p:cNvPr id="9" name="verb-3">
            <a:extLst xmlns:a="http://schemas.openxmlformats.org/drawingml/2006/main">
              <a:ext uri="{FF2B5EF4-FFF2-40B4-BE49-F238E27FC236}">
                <a16:creationId xmlns:a16="http://schemas.microsoft.com/office/drawing/2014/main" id="{3D613EFB-4C14-4A6D-ADA3-63AD3399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2743200"/>
            <a:ext cx="1975104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366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400" b="0">
                <a:solidFill>
                  <a:srgbClr val="082A45"/>
                </a:solidFill>
                <a:latin typeface="EB Garamond"/>
                <a:cs typeface="EB Garamond"/>
              </a:rPr>
              <a:t>Revisar</a:t>
            </a:r>
            <a:endParaRPr sz="3400"/>
          </a:p>
        </p:txBody>
      </p:sp>
      <p:sp>
        <p:nvSpPr>
          <p:cNvPr id="10" name="meaning-3">
            <a:extLst xmlns:a="http://schemas.openxmlformats.org/drawingml/2006/main">
              <a:ext uri="{FF2B5EF4-FFF2-40B4-BE49-F238E27FC236}">
                <a16:creationId xmlns:a16="http://schemas.microsoft.com/office/drawing/2014/main" id="{530BF37A-E1F7-48D8-BC19-0DFE1203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2288" y="3566160"/>
            <a:ext cx="1975104" cy="164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defRPr sz="1992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000" b="0">
                <a:solidFill>
                  <a:srgbClr val="173F52"/>
                </a:solidFill>
                <a:latin typeface="Inter"/>
                <a:cs typeface="Inter"/>
              </a:rPr>
              <a:t>Conferir a expressão sem se desqualificar.</a:t>
            </a:r>
            <a:endParaRPr sz="2000"/>
          </a:p>
        </p:txBody>
      </p:sp>
      <p:sp>
        <p:nvSpPr>
          <p:cNvPr id="11" name="open">
            <a:extLst xmlns:a="http://schemas.openxmlformats.org/drawingml/2006/main">
              <a:ext uri="{FF2B5EF4-FFF2-40B4-BE49-F238E27FC236}">
                <a16:creationId xmlns:a16="http://schemas.microsoft.com/office/drawing/2014/main" id="{B025EE1F-7B4B-447D-900B-508AC4E7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532120"/>
            <a:ext cx="105156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2200" b="0" i="1">
                <a:solidFill>
                  <a:srgbClr val="245E78"/>
                </a:solidFill>
                <a:latin typeface="EB Garamond"/>
                <a:cs typeface="EB Garamond"/>
              </a:rPr>
              <a:t>Uma palavra, uma imagem ou uma pergunta podem ser um começo.</a:t>
            </a:r>
            <a:endParaRPr sz="2200"/>
          </a:p>
        </p:txBody>
      </p:sp>
      <p:sp>
        <p:nvSpPr>
          <p:cNvPr id="1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9F0DD26-541F-4E8D-A3AE-F2A4E7EC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07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49084463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8" name="Rounded Rectangle 7"/>
          <p:cNvSpPr/>
          <p:nvPr/>
        </p:nvSpPr>
        <p:spPr>
          <a:xfrm>
            <a:off x="841248" y="2057400"/>
            <a:ext cx="10515600" cy="397763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1280160" y="22860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spc="200">
                <a:solidFill>
                  <a:srgbClr val="C99A64"/>
                </a:solidFill>
                <a:latin typeface="Inter"/>
                <a:cs typeface="Inter"/>
              </a:rPr>
              <a:t>FICHA DE REGISTRO INICIAL · EXEMPLO</a:t>
            </a:r>
            <a:endParaRPr sz="1200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1280160" y="4251960"/>
            <a:ext cx="9601200" cy="13716"/>
          </a:xfrm>
          <a:prstGeom prst="rect">
            <a:avLst/>
          </a:prstGeom>
          <a:solidFill>
            <a:srgbClr val="E2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1280160" y="5806440"/>
            <a:ext cx="9601200" cy="13716"/>
          </a:xfrm>
          <a:prstGeom prst="rect">
            <a:avLst/>
          </a:prstGeom>
          <a:solidFill>
            <a:srgbClr val="E2D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 xmlns:a="http://schemas.openxmlformats.org/drawingml/2006/main" xmlns:r="http://schemas.openxmlformats.org/officeDocument/2006/relationships">
        <p:nvPicPr>
          <p:cNvPr id="12" name="Picture 11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157F6B-0D4C-41BC-BA03-BBDBEA8A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40080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A ficha de registro inicial</a:t>
            </a:r>
            <a:endParaRPr sz="4000"/>
          </a:p>
        </p:txBody>
      </p:sp>
      <p:sp>
        <p:nvSpPr>
          <p:cNvPr id="3" name="field-1">
            <a:extLst xmlns:a="http://schemas.openxmlformats.org/drawingml/2006/main">
              <a:ext uri="{FF2B5EF4-FFF2-40B4-BE49-F238E27FC236}">
                <a16:creationId xmlns:a16="http://schemas.microsoft.com/office/drawing/2014/main" id="{15BDA027-8BB2-46F2-B669-C6F6B223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78892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700" b="1">
                <a:solidFill>
                  <a:srgbClr val="245E78"/>
                </a:solidFill>
                <a:latin typeface="Inter"/>
                <a:cs typeface="Inter"/>
              </a:rPr>
              <a:t>Que situação escolhi?</a:t>
            </a:r>
            <a:endParaRPr sz="1700"/>
          </a:p>
        </p:txBody>
      </p:sp>
      <p:sp>
        <p:nvSpPr>
          <p:cNvPr id="4" name="answer-1">
            <a:extLst xmlns:a="http://schemas.openxmlformats.org/drawingml/2006/main">
              <a:ext uri="{FF2B5EF4-FFF2-40B4-BE49-F238E27FC236}">
                <a16:creationId xmlns:a16="http://schemas.microsoft.com/office/drawing/2014/main" id="{18F2DACE-B49B-40C5-A78B-AD112EB0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154680"/>
            <a:ext cx="960120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66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366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366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366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366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366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366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366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366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366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defRPr sz="2366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700" b="0" i="1">
                <a:solidFill>
                  <a:srgbClr val="082A45"/>
                </a:solidFill>
                <a:latin typeface="EB Garamond"/>
                <a:cs typeface="EB Garamond"/>
              </a:rPr>
              <a:t>Aceitei ajudar no sábado e depois percebi que já tinha outros compromissos.</a:t>
            </a:r>
            <a:endParaRPr sz="2700"/>
          </a:p>
        </p:txBody>
      </p:sp>
      <p:sp>
        <p:nvSpPr>
          <p:cNvPr id="5" name="field-2">
            <a:extLst xmlns:a="http://schemas.openxmlformats.org/drawingml/2006/main">
              <a:ext uri="{FF2B5EF4-FFF2-40B4-BE49-F238E27FC236}">
                <a16:creationId xmlns:a16="http://schemas.microsoft.com/office/drawing/2014/main" id="{7C2F4B62-16B2-4819-B510-CFC0479D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34340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930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700" b="1">
                <a:solidFill>
                  <a:srgbClr val="245E78"/>
                </a:solidFill>
                <a:latin typeface="Inter"/>
                <a:cs typeface="Inter"/>
              </a:rPr>
              <a:t>O que notei e como posso registrar?</a:t>
            </a:r>
            <a:endParaRPr sz="1700"/>
          </a:p>
        </p:txBody>
      </p:sp>
      <p:sp>
        <p:nvSpPr>
          <p:cNvPr id="6" name="answer-2">
            <a:extLst xmlns:a="http://schemas.openxmlformats.org/drawingml/2006/main">
              <a:ext uri="{FF2B5EF4-FFF2-40B4-BE49-F238E27FC236}">
                <a16:creationId xmlns:a16="http://schemas.microsoft.com/office/drawing/2014/main" id="{5A81BAB4-660C-4927-AF4B-FBDDB019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09160"/>
            <a:ext cx="960120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41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241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241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241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241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241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241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241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241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241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defRPr sz="2241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700" b="0" i="1">
                <a:solidFill>
                  <a:srgbClr val="082A45"/>
                </a:solidFill>
                <a:latin typeface="EB Garamond"/>
                <a:cs typeface="EB Garamond"/>
              </a:rPr>
              <a:t>Cansaço. “Como vou dar conta de tudo?”</a:t>
            </a:r>
            <a:endParaRPr sz="2700"/>
          </a:p>
          <a:p xmlns:a="http://schemas.openxmlformats.org/drawingml/2006/main">
            <a:pPr algn="l">
              <a:lnSpc>
                <a:spcPct val="105000"/>
              </a:lnSpc>
              <a:defRPr sz="2241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700" b="0" i="1">
                <a:solidFill>
                  <a:srgbClr val="082A45"/>
                </a:solidFill>
                <a:latin typeface="EB Garamond"/>
                <a:cs typeface="EB Garamond"/>
              </a:rPr>
              <a:t>Um desenho da agenda e “Quero participar”.</a:t>
            </a:r>
            <a:endParaRPr sz="2700"/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0A3E472-BB39-4D26-8825-AB55B3B4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08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41176711"/>
      </p:ext>
    </p:extLst>
  </p:cSld>
  <p:transition spd="med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9" name="Rounded Rectangle 8"/>
          <p:cNvSpPr/>
          <p:nvPr/>
        </p:nvSpPr>
        <p:spPr>
          <a:xfrm>
            <a:off x="841248" y="2057400"/>
            <a:ext cx="10515600" cy="1325880"/>
          </a:xfrm>
          <a:prstGeom prst="roundRect">
            <a:avLst>
              <a:gd name="adj" fmla="val 5000"/>
            </a:avLst>
          </a:prstGeom>
          <a:solidFill>
            <a:srgbClr val="EC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0" name="Rounded Rectangle 9"/>
          <p:cNvSpPr/>
          <p:nvPr/>
        </p:nvSpPr>
        <p:spPr>
          <a:xfrm>
            <a:off x="841248" y="3611880"/>
            <a:ext cx="10515600" cy="2240280"/>
          </a:xfrm>
          <a:prstGeom prst="roundRect">
            <a:avLst>
              <a:gd name="adj" fmla="val 4000"/>
            </a:avLst>
          </a:prstGeom>
          <a:solidFill>
            <a:srgbClr val="0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1" name="Oval 10"/>
          <p:cNvSpPr/>
          <p:nvPr/>
        </p:nvSpPr>
        <p:spPr>
          <a:xfrm>
            <a:off x="5907024" y="3300984"/>
            <a:ext cx="384048" cy="384048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Down Arrow 11"/>
          <p:cNvSpPr/>
          <p:nvPr/>
        </p:nvSpPr>
        <p:spPr>
          <a:xfrm>
            <a:off x="5980176" y="3401568"/>
            <a:ext cx="237744" cy="182880"/>
          </a:xfrm>
          <a:prstGeom prst="downArrow">
            <a:avLst/>
          </a:prstGeom>
          <a:solidFill>
            <a:srgbClr val="08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 xmlns:a="http://schemas.openxmlformats.org/drawingml/2006/main" xmlns:r="http://schemas.openxmlformats.org/officeDocument/2006/relationships">
        <p:nvPicPr>
          <p:cNvPr id="13" name="Picture 12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C623EC5-B84F-469D-ADA3-1C2D0732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40080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O registro também pode mudar</a:t>
            </a:r>
            <a:endParaRPr sz="4000"/>
          </a:p>
        </p:txBody>
      </p:sp>
      <p:sp>
        <p:nvSpPr>
          <p:cNvPr id="3" name="first-label">
            <a:extLst xmlns:a="http://schemas.openxmlformats.org/drawingml/2006/main">
              <a:ext uri="{FF2B5EF4-FFF2-40B4-BE49-F238E27FC236}">
                <a16:creationId xmlns:a16="http://schemas.microsoft.com/office/drawing/2014/main" id="{1764FE48-B573-4031-AAEF-FF23B048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212848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300" b="1" spc="200">
                <a:solidFill>
                  <a:srgbClr val="5A6B74"/>
                </a:solidFill>
                <a:latin typeface="Inter"/>
                <a:cs typeface="Inter"/>
              </a:rPr>
              <a:t>UMA PRIMEIRA EXPRESSÃO</a:t>
            </a:r>
            <a:endParaRPr sz="1300"/>
          </a:p>
        </p:txBody>
      </p:sp>
      <p:sp>
        <p:nvSpPr>
          <p:cNvPr id="4" name="first-expression">
            <a:extLst xmlns:a="http://schemas.openxmlformats.org/drawingml/2006/main">
              <a:ext uri="{FF2B5EF4-FFF2-40B4-BE49-F238E27FC236}">
                <a16:creationId xmlns:a16="http://schemas.microsoft.com/office/drawing/2014/main" id="{4B46C8D8-4FBA-4EE1-9BBB-3EFA46C4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560320"/>
            <a:ext cx="9601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39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739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739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739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739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739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739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739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739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739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2739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200" b="0" i="1">
                <a:solidFill>
                  <a:srgbClr val="5A6B74"/>
                </a:solidFill>
                <a:latin typeface="EB Garamond"/>
                <a:cs typeface="EB Garamond"/>
              </a:rPr>
              <a:t>“Estou sem vontade.”</a:t>
            </a:r>
            <a:endParaRPr sz="3200"/>
          </a:p>
        </p:txBody>
      </p:sp>
      <p:sp>
        <p:nvSpPr>
          <p:cNvPr id="5" name="second-label">
            <a:extLst xmlns:a="http://schemas.openxmlformats.org/drawingml/2006/main">
              <a:ext uri="{FF2B5EF4-FFF2-40B4-BE49-F238E27FC236}">
                <a16:creationId xmlns:a16="http://schemas.microsoft.com/office/drawing/2014/main" id="{41DBB987-9818-4C2B-BE80-BDAA517F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40480"/>
            <a:ext cx="9601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68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300" b="1" spc="200">
                <a:solidFill>
                  <a:srgbClr val="C99A64"/>
                </a:solidFill>
                <a:latin typeface="Inter"/>
                <a:cs typeface="Inter"/>
              </a:rPr>
              <a:t>UMA FORMULAÇÃO POSSÍVEL</a:t>
            </a:r>
            <a:endParaRPr sz="1300"/>
          </a:p>
        </p:txBody>
      </p:sp>
      <p:sp>
        <p:nvSpPr>
          <p:cNvPr id="6" name="second-expression">
            <a:extLst xmlns:a="http://schemas.openxmlformats.org/drawingml/2006/main">
              <a:ext uri="{FF2B5EF4-FFF2-40B4-BE49-F238E27FC236}">
                <a16:creationId xmlns:a16="http://schemas.microsoft.com/office/drawing/2014/main" id="{62450805-3688-4A9A-B28A-DC6ED9CB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251960"/>
            <a:ext cx="960120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defRPr sz="2739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800" b="0" i="1">
                <a:solidFill>
                  <a:srgbClr val="F4EFEA"/>
                </a:solidFill>
                <a:latin typeface="EB Garamond"/>
                <a:cs typeface="EB Garamond"/>
              </a:rPr>
              <a:t>“Eu quero participar, mas ainda preciso entender quanto posso assumir.”</a:t>
            </a:r>
            <a:endParaRPr sz="3800"/>
          </a:p>
        </p:txBody>
      </p:sp>
      <p:sp>
        <p:nvSpPr>
          <p:cNvPr id="7" name="qualification">
            <a:extLst xmlns:a="http://schemas.openxmlformats.org/drawingml/2006/main">
              <a:ext uri="{FF2B5EF4-FFF2-40B4-BE49-F238E27FC236}">
                <a16:creationId xmlns:a16="http://schemas.microsoft.com/office/drawing/2014/main" id="{D4869911-DA68-4748-BAE6-8130EA48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9436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32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432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432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432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432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432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432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432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432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432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432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300" b="0" i="1">
                <a:solidFill>
                  <a:srgbClr val="5A6B74"/>
                </a:solidFill>
                <a:latin typeface="Inter"/>
                <a:cs typeface="Inter"/>
              </a:rPr>
              <a:t>Possibilidade do exemplo fictício.</a:t>
            </a:r>
            <a:endParaRPr sz="1300"/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7C56753-43E5-42E5-838F-64F7B866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09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146348128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" name="Rounded Rectangle 10"/>
          <p:cNvSpPr/>
          <p:nvPr/>
        </p:nvSpPr>
        <p:spPr>
          <a:xfrm>
            <a:off x="841248" y="2103120"/>
            <a:ext cx="3255264" cy="315468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Rounded Rectangle 11"/>
          <p:cNvSpPr/>
          <p:nvPr/>
        </p:nvSpPr>
        <p:spPr>
          <a:xfrm>
            <a:off x="4471416" y="2103120"/>
            <a:ext cx="3255264" cy="315468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8101583" y="2103120"/>
            <a:ext cx="3255264" cy="315468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 xmlns:a="http://schemas.openxmlformats.org/drawingml/2006/main" xmlns:r="http://schemas.openxmlformats.org/officeDocument/2006/relationships">
        <p:nvPicPr>
          <p:cNvPr id="14" name="Picture 13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E50B090-F680-4A26-AE66-358C0170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40080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Suposições e próximos passos</a:t>
            </a:r>
            <a:endParaRPr sz="4000"/>
          </a:p>
        </p:txBody>
      </p:sp>
      <p:sp>
        <p:nvSpPr>
          <p:cNvPr id="3" name="field-0">
            <a:extLst xmlns:a="http://schemas.openxmlformats.org/drawingml/2006/main">
              <a:ext uri="{FF2B5EF4-FFF2-40B4-BE49-F238E27FC236}">
                <a16:creationId xmlns:a16="http://schemas.microsoft.com/office/drawing/2014/main" id="{42648107-8FF9-4429-830D-164A8C5B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331720"/>
            <a:ext cx="2706624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45E78"/>
                </a:solidFill>
                <a:latin typeface="Inter"/>
                <a:cs typeface="Inter"/>
              </a:rPr>
              <a:t>O que estou supondo?</a:t>
            </a:r>
            <a:endParaRPr sz="1800"/>
          </a:p>
        </p:txBody>
      </p:sp>
      <p:sp>
        <p:nvSpPr>
          <p:cNvPr id="4" name="answer-0">
            <a:extLst xmlns:a="http://schemas.openxmlformats.org/drawingml/2006/main">
              <a:ext uri="{FF2B5EF4-FFF2-40B4-BE49-F238E27FC236}">
                <a16:creationId xmlns:a16="http://schemas.microsoft.com/office/drawing/2014/main" id="{0AFCDE9B-1180-4018-B6E8-B738D025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291840"/>
            <a:ext cx="2706624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500" b="0" i="1">
                <a:solidFill>
                  <a:srgbClr val="082A45"/>
                </a:solidFill>
                <a:latin typeface="EB Garamond"/>
                <a:cs typeface="EB Garamond"/>
              </a:rPr>
              <a:t>“Talvez meu amigo fique chateado.”</a:t>
            </a:r>
            <a:endParaRPr sz="2500"/>
          </a:p>
        </p:txBody>
      </p:sp>
      <p:sp>
        <p:nvSpPr>
          <p:cNvPr id="5" name="field-1">
            <a:extLst xmlns:a="http://schemas.openxmlformats.org/drawingml/2006/main">
              <a:ext uri="{FF2B5EF4-FFF2-40B4-BE49-F238E27FC236}">
                <a16:creationId xmlns:a16="http://schemas.microsoft.com/office/drawing/2014/main" id="{153C3CB8-702D-4858-ABA9-36DA1C04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2331720"/>
            <a:ext cx="2706624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45E78"/>
                </a:solidFill>
                <a:latin typeface="Inter"/>
                <a:cs typeface="Inter"/>
              </a:rPr>
              <a:t>O que permanece aberto?</a:t>
            </a:r>
            <a:endParaRPr sz="1800"/>
          </a:p>
        </p:txBody>
      </p:sp>
      <p:sp>
        <p:nvSpPr>
          <p:cNvPr id="6" name="answer-1">
            <a:extLst xmlns:a="http://schemas.openxmlformats.org/drawingml/2006/main">
              <a:ext uri="{FF2B5EF4-FFF2-40B4-BE49-F238E27FC236}">
                <a16:creationId xmlns:a16="http://schemas.microsoft.com/office/drawing/2014/main" id="{A36C5E5C-20F0-4A9A-8220-C91FB148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3291840"/>
            <a:ext cx="2706624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500" b="0" i="1">
                <a:solidFill>
                  <a:srgbClr val="082A45"/>
                </a:solidFill>
                <a:latin typeface="EB Garamond"/>
                <a:cs typeface="EB Garamond"/>
              </a:rPr>
              <a:t>Quanto tempo exige? O que consigo oferecer?</a:t>
            </a:r>
            <a:endParaRPr sz="2500"/>
          </a:p>
        </p:txBody>
      </p:sp>
      <p:sp>
        <p:nvSpPr>
          <p:cNvPr id="7" name="field-2">
            <a:extLst xmlns:a="http://schemas.openxmlformats.org/drawingml/2006/main">
              <a:ext uri="{FF2B5EF4-FFF2-40B4-BE49-F238E27FC236}">
                <a16:creationId xmlns:a16="http://schemas.microsoft.com/office/drawing/2014/main" id="{0A6C2C29-BC13-4335-9444-82E81292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331720"/>
            <a:ext cx="2706624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defRPr sz="1805" b="1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45E78"/>
                </a:solidFill>
                <a:latin typeface="Inter"/>
                <a:cs typeface="Inter"/>
              </a:rPr>
              <a:t>Qual apoio ou próximo passo pode ajudar?</a:t>
            </a:r>
            <a:endParaRPr sz="1800"/>
          </a:p>
        </p:txBody>
      </p:sp>
      <p:sp>
        <p:nvSpPr>
          <p:cNvPr id="8" name="answer-2">
            <a:extLst xmlns:a="http://schemas.openxmlformats.org/drawingml/2006/main">
              <a:ext uri="{FF2B5EF4-FFF2-40B4-BE49-F238E27FC236}">
                <a16:creationId xmlns:a16="http://schemas.microsoft.com/office/drawing/2014/main" id="{36E3671E-0F9E-420D-8197-A6BFA93E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291840"/>
            <a:ext cx="2706624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defRPr sz="2117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500" b="0" i="1">
                <a:solidFill>
                  <a:srgbClr val="082A45"/>
                </a:solidFill>
                <a:latin typeface="EB Garamond"/>
                <a:cs typeface="EB Garamond"/>
              </a:rPr>
              <a:t>Verificar a agenda e conversar sobre o pedido.</a:t>
            </a:r>
            <a:endParaRPr sz="2500"/>
          </a:p>
        </p:txBody>
      </p:sp>
      <p:sp>
        <p:nvSpPr>
          <p:cNvPr id="9" name="permission">
            <a:extLst xmlns:a="http://schemas.openxmlformats.org/drawingml/2006/main">
              <a:ext uri="{FF2B5EF4-FFF2-40B4-BE49-F238E27FC236}">
                <a16:creationId xmlns:a16="http://schemas.microsoft.com/office/drawing/2014/main" id="{C08E2DB2-B78A-43BD-8537-952FCDFA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440680"/>
            <a:ext cx="105156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defRPr sz="1618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2300" b="0" i="1">
                <a:solidFill>
                  <a:srgbClr val="245E78"/>
                </a:solidFill>
                <a:latin typeface="EB Garamond"/>
                <a:cs typeface="EB Garamond"/>
              </a:rPr>
              <a:t>Reconhecer uma necessidade não garante a disponibilidade do outro.</a:t>
            </a:r>
            <a:endParaRPr sz="2300"/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8663CF6-DD7E-4897-8997-15EE1E60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10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61655308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2A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7" name="Rectangle 6"/>
          <p:cNvSpPr/>
          <p:nvPr/>
        </p:nvSpPr>
        <p:spPr>
          <a:xfrm>
            <a:off x="841248" y="3154680"/>
            <a:ext cx="548640" cy="18288"/>
          </a:xfrm>
          <a:prstGeom prst="rect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 xmlns:a="http://schemas.openxmlformats.org/drawingml/2006/main" xmlns:r="http://schemas.openxmlformats.org/officeDocument/2006/relationships">
        <p:nvPicPr>
          <p:cNvPr id="8" name="Picture 7" descr="sym_gold.png"/>
          <p:cNvPicPr>
            <a:picLocks noChangeAspect="1"/>
          </p:cNvPicPr>
          <p:nvPr/>
        </p:nvPicPr>
        <p:blipFill>
          <a:blip r:embed="rId4">
            <a:alphaModFix amt="16000"/>
          </a:blip>
          <a:stretch>
            <a:fillRect/>
          </a:stretch>
        </p:blipFill>
        <p:spPr>
          <a:xfrm>
            <a:off x="7818120" y="777240"/>
            <a:ext cx="4832364" cy="5303520"/>
          </a:xfrm>
          <a:prstGeom prst="rect">
            <a:avLst/>
          </a:prstGeom>
        </p:spPr>
      </p:pic>
      <p:sp>
        <p:nvSpPr>
          <p:cNvPr id="2" name="guide">
            <a:extLst xmlns:a="http://schemas.openxmlformats.org/drawingml/2006/main">
              <a:ext uri="{FF2B5EF4-FFF2-40B4-BE49-F238E27FC236}">
                <a16:creationId xmlns:a16="http://schemas.microsoft.com/office/drawing/2014/main" id="{5A9228C9-4AA7-4A4D-84C1-F1F25103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777240"/>
            <a:ext cx="73152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5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defPPr>
            <a:lvl1pPr>
              <a:defRPr sz="155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1pPr>
            <a:lvl2pPr>
              <a:defRPr sz="155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2pPr>
            <a:lvl3pPr>
              <a:defRPr sz="155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3pPr>
            <a:lvl4pPr>
              <a:defRPr sz="155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4pPr>
            <a:lvl5pPr>
              <a:defRPr sz="155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5pPr>
            <a:lvl6pPr>
              <a:defRPr sz="155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6pPr>
            <a:lvl7pPr>
              <a:defRPr sz="155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7pPr>
            <a:lvl8pPr>
              <a:defRPr sz="155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8pPr>
            <a:lvl9pPr>
              <a:defRPr sz="155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defRPr sz="155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pPr>
            <a:r>
              <a:rPr sz="1300" b="1" spc="200">
                <a:solidFill>
                  <a:srgbClr val="C99A64"/>
                </a:solidFill>
                <a:latin typeface="Inter"/>
                <a:cs typeface="Inter"/>
              </a:rPr>
              <a:t>GUIA DE PALAVRAS E CONCEITOS</a:t>
            </a:r>
            <a:endParaRPr sz="1300"/>
          </a:p>
          <a:p xmlns:a="http://schemas.openxmlformats.org/drawingml/2006/main">
            <a:pPr algn="l">
              <a:lnSpc>
                <a:spcPct val="140000"/>
              </a:lnSpc>
              <a:defRPr sz="155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pPr>
            <a:r>
              <a:rPr sz="1300" b="1" spc="200">
                <a:solidFill>
                  <a:srgbClr val="C99A64"/>
                </a:solidFill>
                <a:latin typeface="Inter"/>
                <a:cs typeface="Inter"/>
              </a:rPr>
              <a:t>PÁGINA DEMONSTRATIVA</a:t>
            </a:r>
            <a:endParaRPr sz="1300"/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320890-5BC1-444C-89FD-4F0D255E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45920"/>
            <a:ext cx="758952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>
              <a:defRPr sz="3486" b="1">
                <a:solidFill>
                  <a:srgbClr val="C99A64"/>
                </a:solidFill>
                <a:latin typeface="Inter"/>
                <a:ea typeface="Inter"/>
                <a:cs typeface="Inter"/>
              </a:defRPr>
            </a:defPPr>
            <a:lvl1pPr>
              <a:defRPr sz="3486" b="1">
                <a:solidFill>
                  <a:srgbClr val="C99A64"/>
                </a:solidFill>
                <a:latin typeface="Inter"/>
                <a:ea typeface="Inter"/>
                <a:cs typeface="Inter"/>
              </a:defRPr>
            </a:lvl1pPr>
            <a:lvl2pPr>
              <a:defRPr sz="3486" b="1">
                <a:solidFill>
                  <a:srgbClr val="C99A64"/>
                </a:solidFill>
                <a:latin typeface="Inter"/>
                <a:ea typeface="Inter"/>
                <a:cs typeface="Inter"/>
              </a:defRPr>
            </a:lvl2pPr>
            <a:lvl3pPr>
              <a:defRPr sz="3486" b="1">
                <a:solidFill>
                  <a:srgbClr val="C99A64"/>
                </a:solidFill>
                <a:latin typeface="Inter"/>
                <a:ea typeface="Inter"/>
                <a:cs typeface="Inter"/>
              </a:defRPr>
            </a:lvl3pPr>
            <a:lvl4pPr>
              <a:defRPr sz="3486" b="1">
                <a:solidFill>
                  <a:srgbClr val="C99A64"/>
                </a:solidFill>
                <a:latin typeface="Inter"/>
                <a:ea typeface="Inter"/>
                <a:cs typeface="Inter"/>
              </a:defRPr>
            </a:lvl4pPr>
            <a:lvl5pPr>
              <a:defRPr sz="3486" b="1">
                <a:solidFill>
                  <a:srgbClr val="C99A64"/>
                </a:solidFill>
                <a:latin typeface="Inter"/>
                <a:ea typeface="Inter"/>
                <a:cs typeface="Inter"/>
              </a:defRPr>
            </a:lvl5pPr>
            <a:lvl6pPr>
              <a:defRPr sz="3486" b="1">
                <a:solidFill>
                  <a:srgbClr val="C99A64"/>
                </a:solidFill>
                <a:latin typeface="Inter"/>
                <a:ea typeface="Inter"/>
                <a:cs typeface="Inter"/>
              </a:defRPr>
            </a:lvl6pPr>
            <a:lvl7pPr>
              <a:defRPr sz="3486" b="1">
                <a:solidFill>
                  <a:srgbClr val="C99A64"/>
                </a:solidFill>
                <a:latin typeface="Inter"/>
                <a:ea typeface="Inter"/>
                <a:cs typeface="Inter"/>
              </a:defRPr>
            </a:lvl7pPr>
            <a:lvl8pPr>
              <a:defRPr sz="3486" b="1">
                <a:solidFill>
                  <a:srgbClr val="C99A64"/>
                </a:solidFill>
                <a:latin typeface="Inter"/>
                <a:ea typeface="Inter"/>
                <a:cs typeface="Inter"/>
              </a:defRPr>
            </a:lvl8pPr>
            <a:lvl9pPr>
              <a:defRPr sz="3486" b="1">
                <a:solidFill>
                  <a:srgbClr val="C99A64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3486" b="1">
                <a:solidFill>
                  <a:srgbClr val="C99A64"/>
                </a:solidFill>
                <a:latin typeface="Inter"/>
                <a:ea typeface="Inter"/>
                <a:cs typeface="Inter"/>
              </a:defRPr>
            </a:pPr>
            <a:r>
              <a:rPr sz="6000" b="0">
                <a:solidFill>
                  <a:srgbClr val="FFFFFF"/>
                </a:solidFill>
                <a:latin typeface="EB Garamond"/>
                <a:cs typeface="EB Garamond"/>
              </a:rPr>
              <a:t>Presença que sustenta</a:t>
            </a:r>
            <a:endParaRPr sz="6000"/>
          </a:p>
        </p:txBody>
      </p:sp>
      <p:sp>
        <p:nvSpPr>
          <p:cNvPr id="4" name="definition">
            <a:extLst xmlns:a="http://schemas.openxmlformats.org/drawingml/2006/main">
              <a:ext uri="{FF2B5EF4-FFF2-40B4-BE49-F238E27FC236}">
                <a16:creationId xmlns:a16="http://schemas.microsoft.com/office/drawing/2014/main" id="{E7839BFD-3500-4F82-86C3-8EC30782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383280"/>
            <a:ext cx="7132320" cy="219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6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defPPr>
            <a:lvl1pPr>
              <a:defRPr sz="236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1pPr>
            <a:lvl2pPr>
              <a:defRPr sz="236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2pPr>
            <a:lvl3pPr>
              <a:defRPr sz="236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3pPr>
            <a:lvl4pPr>
              <a:defRPr sz="236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4pPr>
            <a:lvl5pPr>
              <a:defRPr sz="236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5pPr>
            <a:lvl6pPr>
              <a:defRPr sz="236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6pPr>
            <a:lvl7pPr>
              <a:defRPr sz="236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7pPr>
            <a:lvl8pPr>
              <a:defRPr sz="236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8pPr>
            <a:lvl9pPr>
              <a:defRPr sz="236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defRPr sz="2366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pPr>
            <a:r>
              <a:rPr sz="2500" b="0">
                <a:solidFill>
                  <a:srgbClr val="E9E2D8"/>
                </a:solidFill>
                <a:latin typeface="Inter"/>
                <a:cs typeface="Inter"/>
              </a:rPr>
              <a:t>Continuar em contato com a experiência, encontrar orientação e cultivar possibilidades de participação e expressão.</a:t>
            </a:r>
            <a:endParaRPr sz="2500"/>
          </a:p>
        </p:txBody>
      </p:sp>
      <p:sp>
        <p:nvSpPr>
          <p:cNvPr id="5" name="use">
            <a:extLst xmlns:a="http://schemas.openxmlformats.org/drawingml/2006/main">
              <a:ext uri="{FF2B5EF4-FFF2-40B4-BE49-F238E27FC236}">
                <a16:creationId xmlns:a16="http://schemas.microsoft.com/office/drawing/2014/main" id="{77095B36-C4CC-4911-8B6E-D6BF83B3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715000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5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defPPr>
            <a:lvl1pPr>
              <a:defRPr sz="1805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1pPr>
            <a:lvl2pPr>
              <a:defRPr sz="1805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2pPr>
            <a:lvl3pPr>
              <a:defRPr sz="1805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3pPr>
            <a:lvl4pPr>
              <a:defRPr sz="1805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4pPr>
            <a:lvl5pPr>
              <a:defRPr sz="1805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5pPr>
            <a:lvl6pPr>
              <a:defRPr sz="1805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6pPr>
            <a:lvl7pPr>
              <a:defRPr sz="1805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7pPr>
            <a:lvl8pPr>
              <a:defRPr sz="1805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8pPr>
            <a:lvl9pPr>
              <a:defRPr sz="1805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05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pPr>
            <a:r>
              <a:rPr sz="2300" b="0" i="1">
                <a:solidFill>
                  <a:srgbClr val="C99A64"/>
                </a:solidFill>
                <a:latin typeface="EB Garamond"/>
                <a:cs typeface="EB Garamond"/>
              </a:rPr>
              <a:t>Consulte a palavra. Depois, volte à sua situação.</a:t>
            </a:r>
            <a:endParaRPr sz="2300"/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8097224-8941-4858-9F6E-4F39E662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defPPr>
            <a:lvl1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1pPr>
            <a:lvl2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2pPr>
            <a:lvl3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3pPr>
            <a:lvl4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4pPr>
            <a:lvl5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5pPr>
            <a:lvl6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6pPr>
            <a:lvl7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7pPr>
            <a:lvl8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8pPr>
            <a:lvl9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8FA0AC"/>
                </a:solidFill>
                <a:latin typeface="Inter"/>
                <a:cs typeface="Inter"/>
              </a:rPr>
              <a:t>11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492309251"/>
      </p:ext>
    </p:extLst>
  </p:cSld>
  <p:transition spd="med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1" name="Rounded Rectangle 10"/>
          <p:cNvSpPr/>
          <p:nvPr/>
        </p:nvSpPr>
        <p:spPr>
          <a:xfrm>
            <a:off x="841248" y="2103120"/>
            <a:ext cx="3255264" cy="320040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2" name="Oval 11"/>
          <p:cNvSpPr/>
          <p:nvPr/>
        </p:nvSpPr>
        <p:spPr>
          <a:xfrm>
            <a:off x="1165860" y="2427732"/>
            <a:ext cx="118872" cy="118872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3" name="Rounded Rectangle 12"/>
          <p:cNvSpPr/>
          <p:nvPr/>
        </p:nvSpPr>
        <p:spPr>
          <a:xfrm>
            <a:off x="4471416" y="2103120"/>
            <a:ext cx="3255264" cy="320040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4" name="Oval 13"/>
          <p:cNvSpPr/>
          <p:nvPr/>
        </p:nvSpPr>
        <p:spPr>
          <a:xfrm>
            <a:off x="4796027" y="2427732"/>
            <a:ext cx="118872" cy="118872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5" name="Rounded Rectangle 14"/>
          <p:cNvSpPr/>
          <p:nvPr/>
        </p:nvSpPr>
        <p:spPr>
          <a:xfrm>
            <a:off x="8101583" y="2103120"/>
            <a:ext cx="3255264" cy="3200400"/>
          </a:xfrm>
          <a:prstGeom prst="roundRect">
            <a:avLst>
              <a:gd name="adj" fmla="val 5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6" name="Oval 15"/>
          <p:cNvSpPr/>
          <p:nvPr/>
        </p:nvSpPr>
        <p:spPr>
          <a:xfrm>
            <a:off x="8426196" y="2427732"/>
            <a:ext cx="118872" cy="118872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17" name="Oval 16"/>
          <p:cNvSpPr/>
          <p:nvPr/>
        </p:nvSpPr>
        <p:spPr>
          <a:xfrm>
            <a:off x="896112" y="5605272"/>
            <a:ext cx="128016" cy="128016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 xmlns:a="http://schemas.openxmlformats.org/drawingml/2006/main" xmlns:r="http://schemas.openxmlformats.org/officeDocument/2006/relationships">
        <p:nvPicPr>
          <p:cNvPr id="18" name="Picture 17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35DF4D-4672-439F-BA74-1B049234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40080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Estudo, dúvida e prática acompanhada</a:t>
            </a:r>
            <a:endParaRPr sz="4000"/>
          </a:p>
        </p:txBody>
      </p:sp>
      <p:sp>
        <p:nvSpPr>
          <p:cNvPr id="3" name="mode-0">
            <a:extLst xmlns:a="http://schemas.openxmlformats.org/drawingml/2006/main">
              <a:ext uri="{FF2B5EF4-FFF2-40B4-BE49-F238E27FC236}">
                <a16:creationId xmlns:a16="http://schemas.microsoft.com/office/drawing/2014/main" id="{E0DD80C2-2CBD-4D44-BCAF-4E6476AA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697480"/>
            <a:ext cx="2706624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200" b="1">
                <a:solidFill>
                  <a:srgbClr val="245E78"/>
                </a:solidFill>
                <a:latin typeface="Inter"/>
                <a:cs typeface="Inter"/>
              </a:rPr>
              <a:t>Estudo individual</a:t>
            </a:r>
            <a:endParaRPr sz="2200"/>
          </a:p>
        </p:txBody>
      </p:sp>
      <p:sp>
        <p:nvSpPr>
          <p:cNvPr id="4" name="use-0">
            <a:extLst xmlns:a="http://schemas.openxmlformats.org/drawingml/2006/main">
              <a:ext uri="{FF2B5EF4-FFF2-40B4-BE49-F238E27FC236}">
                <a16:creationId xmlns:a16="http://schemas.microsoft.com/office/drawing/2014/main" id="{25B58FC1-E71D-4637-B630-DD99B19A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611880"/>
            <a:ext cx="2706624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spcAft>
                <a:spcPts val="400"/>
              </a:spcAft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1900" b="0">
                <a:solidFill>
                  <a:srgbClr val="173F52"/>
                </a:solidFill>
                <a:latin typeface="Inter"/>
                <a:cs typeface="Inter"/>
              </a:rPr>
              <a:t>Assistir, pausar e consultar.</a:t>
            </a:r>
            <a:endParaRPr sz="1900"/>
          </a:p>
          <a:p xmlns:a="http://schemas.openxmlformats.org/drawingml/2006/main">
            <a:pPr algn="l">
              <a:lnSpc>
                <a:spcPct val="118000"/>
              </a:lnSpc>
              <a:spcAft>
                <a:spcPts val="400"/>
              </a:spcAft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1900" b="0">
                <a:solidFill>
                  <a:srgbClr val="173F52"/>
                </a:solidFill>
                <a:latin typeface="Inter"/>
                <a:cs typeface="Inter"/>
              </a:rPr>
              <a:t>Aproximar uma ideia de uma situação cotidiana.</a:t>
            </a:r>
            <a:endParaRPr sz="1900"/>
          </a:p>
        </p:txBody>
      </p:sp>
      <p:sp>
        <p:nvSpPr>
          <p:cNvPr id="5" name="mode-1">
            <a:extLst xmlns:a="http://schemas.openxmlformats.org/drawingml/2006/main">
              <a:ext uri="{FF2B5EF4-FFF2-40B4-BE49-F238E27FC236}">
                <a16:creationId xmlns:a16="http://schemas.microsoft.com/office/drawing/2014/main" id="{957A9443-1637-4E67-8BA6-AFDEFB76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2697480"/>
            <a:ext cx="2706624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200" b="1">
                <a:solidFill>
                  <a:srgbClr val="245E78"/>
                </a:solidFill>
                <a:latin typeface="Inter"/>
                <a:cs typeface="Inter"/>
              </a:rPr>
              <a:t>Esclarecer uma dúvida</a:t>
            </a:r>
            <a:endParaRPr sz="2200"/>
          </a:p>
        </p:txBody>
      </p:sp>
      <p:sp>
        <p:nvSpPr>
          <p:cNvPr id="6" name="use-1">
            <a:extLst xmlns:a="http://schemas.openxmlformats.org/drawingml/2006/main">
              <a:ext uri="{FF2B5EF4-FFF2-40B4-BE49-F238E27FC236}">
                <a16:creationId xmlns:a16="http://schemas.microsoft.com/office/drawing/2014/main" id="{3E087232-D61A-4E17-8263-FD075676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3611880"/>
            <a:ext cx="2706624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spcAft>
                <a:spcPts val="400"/>
              </a:spcAft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1900" b="0">
                <a:solidFill>
                  <a:srgbClr val="173F52"/>
                </a:solidFill>
                <a:latin typeface="Inter"/>
                <a:cs typeface="Inter"/>
              </a:rPr>
              <a:t>Localizar o ponto que precisa de ajuda.</a:t>
            </a:r>
            <a:endParaRPr sz="1900"/>
          </a:p>
          <a:p xmlns:a="http://schemas.openxmlformats.org/drawingml/2006/main">
            <a:pPr algn="l">
              <a:lnSpc>
                <a:spcPct val="118000"/>
              </a:lnSpc>
              <a:spcAft>
                <a:spcPts val="400"/>
              </a:spcAft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1900" b="0">
                <a:solidFill>
                  <a:srgbClr val="173F52"/>
                </a:solidFill>
                <a:latin typeface="Inter"/>
                <a:cs typeface="Inter"/>
              </a:rPr>
              <a:t>Pode usar uma cena fictícia.</a:t>
            </a:r>
            <a:endParaRPr sz="1900"/>
          </a:p>
        </p:txBody>
      </p:sp>
      <p:sp>
        <p:nvSpPr>
          <p:cNvPr id="7" name="mode-2">
            <a:extLst xmlns:a="http://schemas.openxmlformats.org/drawingml/2006/main">
              <a:ext uri="{FF2B5EF4-FFF2-40B4-BE49-F238E27FC236}">
                <a16:creationId xmlns:a16="http://schemas.microsoft.com/office/drawing/2014/main" id="{43F6B995-9246-4033-8790-074E8B9C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697480"/>
            <a:ext cx="2706624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defRPr sz="2117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200" b="1">
                <a:solidFill>
                  <a:srgbClr val="245E78"/>
                </a:solidFill>
                <a:latin typeface="Inter"/>
                <a:cs typeface="Inter"/>
              </a:rPr>
              <a:t>Prática acompanhada</a:t>
            </a:r>
            <a:endParaRPr sz="2200"/>
          </a:p>
        </p:txBody>
      </p:sp>
      <p:sp>
        <p:nvSpPr>
          <p:cNvPr id="8" name="use-2">
            <a:extLst xmlns:a="http://schemas.openxmlformats.org/drawingml/2006/main">
              <a:ext uri="{FF2B5EF4-FFF2-40B4-BE49-F238E27FC236}">
                <a16:creationId xmlns:a16="http://schemas.microsoft.com/office/drawing/2014/main" id="{21F80EA5-DFAC-4E19-A424-EA381E09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3611880"/>
            <a:ext cx="2706624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spcAft>
                <a:spcPts val="400"/>
              </a:spcAft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1900" b="0">
                <a:solidFill>
                  <a:srgbClr val="173F52"/>
                </a:solidFill>
                <a:latin typeface="Inter"/>
                <a:cs typeface="Inter"/>
              </a:rPr>
              <a:t>Conhecer a finalidade.</a:t>
            </a:r>
            <a:endParaRPr sz="1900"/>
          </a:p>
          <a:p xmlns:a="http://schemas.openxmlformats.org/drawingml/2006/main">
            <a:pPr algn="l">
              <a:lnSpc>
                <a:spcPct val="118000"/>
              </a:lnSpc>
              <a:spcAft>
                <a:spcPts val="400"/>
              </a:spcAft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1900" b="0">
                <a:solidFill>
                  <a:srgbClr val="173F52"/>
                </a:solidFill>
                <a:latin typeface="Inter"/>
                <a:cs typeface="Inter"/>
              </a:rPr>
              <a:t>Experimentar com orientação e observar o que aconteceu.</a:t>
            </a:r>
            <a:endParaRPr sz="1900"/>
          </a:p>
        </p:txBody>
      </p:sp>
      <p:sp>
        <p:nvSpPr>
          <p:cNvPr id="9" name="specific-guidance">
            <a:extLst xmlns:a="http://schemas.openxmlformats.org/drawingml/2006/main">
              <a:ext uri="{FF2B5EF4-FFF2-40B4-BE49-F238E27FC236}">
                <a16:creationId xmlns:a16="http://schemas.microsoft.com/office/drawing/2014/main" id="{D88E43A3-76F3-4222-A1AB-81A28C57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486400"/>
            <a:ext cx="100584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082A45"/>
                </a:solidFill>
                <a:latin typeface="Inter"/>
                <a:cs typeface="Inter"/>
              </a:rPr>
              <a:t>Nas atividades corporais, respiratórias e de Qi Gong, acompanhe as instruções específicas.</a:t>
            </a:r>
            <a:endParaRPr sz="1800"/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FEF1515-7E58-4D54-81B5-E4C58F06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12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23762284"/>
      </p:ext>
    </p:extLst>
  </p:cSld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8" name="Rounded Rectangle 7"/>
          <p:cNvSpPr/>
          <p:nvPr/>
        </p:nvSpPr>
        <p:spPr>
          <a:xfrm>
            <a:off x="5806440" y="822960"/>
            <a:ext cx="5550408" cy="5120640"/>
          </a:xfrm>
          <a:prstGeom prst="roundRect">
            <a:avLst>
              <a:gd name="adj" fmla="val 3000"/>
            </a:avLst>
          </a:prstGeom>
          <a:solidFill>
            <a:srgbClr val="FBF8F4"/>
          </a:solidFill>
          <a:ln w="9525">
            <a:solidFill>
              <a:srgbClr val="E2D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 xmlns:a="http://schemas.openxmlformats.org/drawingml/2006/main" xmlns:r="http://schemas.openxmlformats.org/officeDocument/2006/relationships">
        <p:nvPicPr>
          <p:cNvPr id="9" name="Picture 8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AA7691-51F8-4A27-AD4F-A90FDFAE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822960"/>
            <a:ext cx="457200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Seu primeiro registro</a:t>
            </a:r>
            <a:endParaRPr sz="4000"/>
          </a:p>
        </p:txBody>
      </p:sp>
      <p:sp>
        <p:nvSpPr>
          <p:cNvPr id="3" name="optional">
            <a:extLst xmlns:a="http://schemas.openxmlformats.org/drawingml/2006/main">
              <a:ext uri="{FF2B5EF4-FFF2-40B4-BE49-F238E27FC236}">
                <a16:creationId xmlns:a16="http://schemas.microsoft.com/office/drawing/2014/main" id="{025961D9-5735-4F61-9148-8819AA5D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1945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743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300" b="1" spc="150">
                <a:solidFill>
                  <a:srgbClr val="245E78"/>
                </a:solidFill>
                <a:latin typeface="Inter"/>
                <a:cs typeface="Inter"/>
              </a:rPr>
              <a:t>1 A 2 MINUTOS, SE QUISER EXPERIMENTAR</a:t>
            </a:r>
            <a:endParaRPr sz="1300"/>
          </a:p>
        </p:txBody>
      </p:sp>
      <p:sp>
        <p:nvSpPr>
          <p:cNvPr id="4" name="prompts">
            <a:extLst xmlns:a="http://schemas.openxmlformats.org/drawingml/2006/main">
              <a:ext uri="{FF2B5EF4-FFF2-40B4-BE49-F238E27FC236}">
                <a16:creationId xmlns:a16="http://schemas.microsoft.com/office/drawing/2014/main" id="{2C045367-F3A6-4DDC-ACDF-F4388D00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097280"/>
            <a:ext cx="484632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 marL="502920" indent="-502920">
              <a:lnSpc>
                <a:spcPct val="105000"/>
              </a:lnSpc>
              <a:spcAft>
                <a:spcPts val="2600"/>
              </a:spcAft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  <a:buClr>
                <a:srgbClr val="C99A64"/>
              </a:buClr>
              <a:buFont typeface="EB Garamond"/>
              <a:buAutoNum type="arabicPeriod"/>
            </a:pPr>
            <a:r>
              <a:rPr sz="3200" b="0">
                <a:solidFill>
                  <a:srgbClr val="082A45"/>
                </a:solidFill>
                <a:latin typeface="EB Garamond"/>
                <a:cs typeface="EB Garamond"/>
              </a:rPr>
              <a:t>Que situação escolhi?</a:t>
            </a:r>
            <a:endParaRPr sz="3200"/>
          </a:p>
          <a:p xmlns:a="http://schemas.openxmlformats.org/drawingml/2006/main">
            <a:pPr algn="l" marL="502920" indent="-502920">
              <a:lnSpc>
                <a:spcPct val="105000"/>
              </a:lnSpc>
              <a:spcAft>
                <a:spcPts val="2600"/>
              </a:spcAft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  <a:buClr>
                <a:srgbClr val="C99A64"/>
              </a:buClr>
              <a:buFont typeface="EB Garamond"/>
              <a:buAutoNum type="arabicPeriod"/>
            </a:pPr>
            <a:r>
              <a:rPr sz="3200" b="0">
                <a:solidFill>
                  <a:srgbClr val="082A45"/>
                </a:solidFill>
                <a:latin typeface="EB Garamond"/>
                <a:cs typeface="EB Garamond"/>
              </a:rPr>
              <a:t>O que consigo perceber?</a:t>
            </a:r>
            <a:endParaRPr sz="3200"/>
          </a:p>
          <a:p xmlns:a="http://schemas.openxmlformats.org/drawingml/2006/main">
            <a:pPr algn="l" marL="502920" indent="-502920">
              <a:lnSpc>
                <a:spcPct val="105000"/>
              </a:lnSpc>
              <a:spcAft>
                <a:spcPts val="2600"/>
              </a:spcAft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  <a:buClr>
                <a:srgbClr val="C99A64"/>
              </a:buClr>
              <a:buFont typeface="EB Garamond"/>
              <a:buAutoNum type="arabicPeriod"/>
            </a:pPr>
            <a:r>
              <a:rPr sz="3200" b="0">
                <a:solidFill>
                  <a:srgbClr val="082A45"/>
                </a:solidFill>
                <a:latin typeface="EB Garamond"/>
                <a:cs typeface="EB Garamond"/>
              </a:rPr>
              <a:t>Que pergunta quero guardar?</a:t>
            </a:r>
            <a:endParaRPr sz="3200"/>
          </a:p>
        </p:txBody>
      </p:sp>
      <p:sp>
        <p:nvSpPr>
          <p:cNvPr id="5" name="alternatives">
            <a:extLst xmlns:a="http://schemas.openxmlformats.org/drawingml/2006/main">
              <a:ext uri="{FF2B5EF4-FFF2-40B4-BE49-F238E27FC236}">
                <a16:creationId xmlns:a16="http://schemas.microsoft.com/office/drawing/2014/main" id="{3679BB0F-920F-4C1C-9D83-CFF8FF04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788920"/>
            <a:ext cx="448056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spcAft>
                <a:spcPts val="800"/>
              </a:spcAft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000" b="0">
                <a:solidFill>
                  <a:srgbClr val="173F52"/>
                </a:solidFill>
                <a:latin typeface="Inter"/>
                <a:cs typeface="Inter"/>
              </a:rPr>
              <a:t>Palavras, desenho, imagem ou áudio.</a:t>
            </a:r>
            <a:endParaRPr sz="2000"/>
          </a:p>
          <a:p xmlns:a="http://schemas.openxmlformats.org/drawingml/2006/main">
            <a:pPr algn="l">
              <a:lnSpc>
                <a:spcPct val="120000"/>
              </a:lnSpc>
              <a:spcAft>
                <a:spcPts val="800"/>
              </a:spcAft>
              <a:defRPr sz="1743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2000" b="0">
                <a:solidFill>
                  <a:srgbClr val="173F52"/>
                </a:solidFill>
                <a:latin typeface="Inter"/>
                <a:cs typeface="Inter"/>
              </a:rPr>
              <a:t>Você também pode apenas observar ou usar a cena fictícia.</a:t>
            </a:r>
            <a:endParaRPr sz="2000"/>
          </a:p>
        </p:txBody>
      </p:sp>
      <p:sp>
        <p:nvSpPr>
          <p:cNvPr id="6" name="pause">
            <a:extLst xmlns:a="http://schemas.openxmlformats.org/drawingml/2006/main">
              <a:ext uri="{FF2B5EF4-FFF2-40B4-BE49-F238E27FC236}">
                <a16:creationId xmlns:a16="http://schemas.microsoft.com/office/drawing/2014/main" id="{1C480D31-E2BE-4E77-86A2-41D7FB5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074920"/>
            <a:ext cx="448056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69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369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369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369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369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369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369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369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369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369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defRPr sz="1369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600" b="0" i="1">
                <a:solidFill>
                  <a:srgbClr val="5A6B74"/>
                </a:solidFill>
                <a:latin typeface="Inter"/>
                <a:cs typeface="Inter"/>
              </a:rPr>
              <a:t>Se precisar, pause, perceba o ambiente, troque de cena ou encerre.</a:t>
            </a:r>
            <a:endParaRPr sz="1600"/>
          </a:p>
        </p:txBody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B97398-D697-4987-97CF-D00C07F4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13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94244333"/>
      </p:ext>
    </p:extLst>
  </p:cSld>
  <p:transition spd="med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EF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 xmlns:a="http://schemas.openxmlformats.org/drawingml/2006/main">
        <p:nvCxnSpPr>
          <p:cNvPr id="6" name="Connector 5"/>
          <p:cNvCxnSpPr/>
          <p:nvPr/>
        </p:nvCxnSpPr>
        <p:spPr>
          <a:xfrm>
            <a:off x="5532120" y="1801368"/>
            <a:ext cx="0" cy="2953512"/>
          </a:xfrm>
          <a:prstGeom prst="line">
            <a:avLst/>
          </a:prstGeom>
          <a:ln w="12700">
            <a:solidFill>
              <a:srgbClr val="C99A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7" name="Oval 6"/>
          <p:cNvSpPr/>
          <p:nvPr/>
        </p:nvSpPr>
        <p:spPr>
          <a:xfrm>
            <a:off x="5500116" y="1257300"/>
            <a:ext cx="64008" cy="64008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 xmlns:a="http://schemas.openxmlformats.org/drawingml/2006/main">
        <p:nvSpPr>
          <p:cNvPr id="8" name="Oval 7"/>
          <p:cNvSpPr/>
          <p:nvPr/>
        </p:nvSpPr>
        <p:spPr>
          <a:xfrm>
            <a:off x="5472683" y="1449324"/>
            <a:ext cx="118872" cy="118872"/>
          </a:xfrm>
          <a:prstGeom prst="ellipse">
            <a:avLst/>
          </a:prstGeom>
          <a:solidFill>
            <a:srgbClr val="C99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 xmlns:a="http://schemas.openxmlformats.org/drawingml/2006/main" xmlns:r="http://schemas.openxmlformats.org/officeDocument/2006/relationships">
        <p:nvPicPr>
          <p:cNvPr id="9" name="Picture 8" descr="sym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1984" y="6144768"/>
            <a:ext cx="415447" cy="457200"/>
          </a:xfrm>
          <a:prstGeom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DD3977-45AC-4307-95BC-F3286EDF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822960"/>
            <a:ext cx="43434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5000"/>
              </a:lnSpc>
              <a:defRPr sz="2864" b="1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82A45"/>
                </a:solidFill>
                <a:latin typeface="EB Garamond"/>
                <a:cs typeface="EB Garamond"/>
              </a:rPr>
              <a:t>Um ponto de retorno</a:t>
            </a:r>
            <a:endParaRPr sz="4000"/>
          </a:p>
        </p:txBody>
      </p:sp>
      <p:sp>
        <p:nvSpPr>
          <p:cNvPr id="3" name="reflection">
            <a:extLst xmlns:a="http://schemas.openxmlformats.org/drawingml/2006/main">
              <a:ext uri="{FF2B5EF4-FFF2-40B4-BE49-F238E27FC236}">
                <a16:creationId xmlns:a16="http://schemas.microsoft.com/office/drawing/2014/main" id="{5A790669-FD31-4732-BB60-7F9A513A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822960"/>
            <a:ext cx="5349240" cy="402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defPPr>
            <a:lvl1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1pPr>
            <a:lvl2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2pPr>
            <a:lvl3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3pPr>
            <a:lvl4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4pPr>
            <a:lvl5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5pPr>
            <a:lvl6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6pPr>
            <a:lvl7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7pPr>
            <a:lvl8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8pPr>
            <a:lvl9pPr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spcAft>
                <a:spcPts val="1800"/>
              </a:spcAft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200" b="0">
                <a:solidFill>
                  <a:srgbClr val="082A45"/>
                </a:solidFill>
                <a:latin typeface="EB Garamond"/>
                <a:cs typeface="EB Garamond"/>
              </a:rPr>
              <a:t>O que percebi?</a:t>
            </a:r>
            <a:endParaRPr sz="3200"/>
          </a:p>
          <a:p xmlns:a="http://schemas.openxmlformats.org/drawingml/2006/main">
            <a:pPr algn="l">
              <a:lnSpc>
                <a:spcPct val="105000"/>
              </a:lnSpc>
              <a:spcAft>
                <a:spcPts val="1800"/>
              </a:spcAft>
              <a:defRPr sz="3000" b="0">
                <a:solidFill>
                  <a:srgbClr val="173A39"/>
                </a:solidFill>
                <a:latin typeface="DejaVu Sans"/>
                <a:ea typeface="DejaVu Sans"/>
                <a:cs typeface="DejaVu Sans"/>
              </a:defRPr>
            </a:pPr>
            <a:r>
              <a:rPr sz="3200" b="0">
                <a:solidFill>
                  <a:srgbClr val="082A45"/>
                </a:solidFill>
                <a:latin typeface="EB Garamond"/>
                <a:cs typeface="EB Garamond"/>
              </a:rPr>
              <a:t>O que associei ou concluí?</a:t>
            </a:r>
            <a:endParaRPr sz="3200"/>
          </a:p>
          <a:p xmlns:a="http://schemas.openxmlformats.org/drawingml/2006/main">
            <a:pPr algn="l">
              <a:lnSpc>
                <a:spcPct val="105000"/>
              </a:lnSpc>
              <a:spcAft>
                <a:spcPts val="1800"/>
              </a:spcAft>
              <a:defRPr sz="2490" b="0">
                <a:solidFill>
                  <a:srgbClr val="082A45"/>
                </a:solidFill>
                <a:latin typeface="Inter"/>
                <a:ea typeface="Inter"/>
                <a:cs typeface="Inter"/>
              </a:defRPr>
            </a:pPr>
            <a:r>
              <a:rPr sz="3200" b="0">
                <a:solidFill>
                  <a:srgbClr val="082A45"/>
                </a:solidFill>
                <a:latin typeface="EB Garamond"/>
                <a:cs typeface="EB Garamond"/>
              </a:rPr>
              <a:t>O que ainda não sei?</a:t>
            </a:r>
            <a:endParaRPr sz="3200"/>
          </a:p>
        </p:txBody>
      </p:sp>
      <p:sp>
        <p:nvSpPr>
          <p:cNvPr id="4" name="record">
            <a:extLst xmlns:a="http://schemas.openxmlformats.org/drawingml/2006/main">
              <a:ext uri="{FF2B5EF4-FFF2-40B4-BE49-F238E27FC236}">
                <a16:creationId xmlns:a16="http://schemas.microsoft.com/office/drawing/2014/main" id="{E38AB070-478E-4C4F-B983-B128F391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983480"/>
            <a:ext cx="5349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5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805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805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805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805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805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805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805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805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805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defRPr sz="1805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45E78"/>
                </a:solidFill>
                <a:latin typeface="Inter"/>
                <a:cs typeface="Inter"/>
              </a:rPr>
              <a:t>Experimente a formulação e observe seus efeitos.</a:t>
            </a:r>
            <a:endParaRPr sz="1800"/>
          </a:p>
          <a:p xmlns:a="http://schemas.openxmlformats.org/drawingml/2006/main">
            <a:pPr algn="l">
              <a:lnSpc>
                <a:spcPct val="120000"/>
              </a:lnSpc>
              <a:spcAft>
                <a:spcPts val="400"/>
              </a:spcAft>
              <a:defRPr sz="1805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245E78"/>
                </a:solidFill>
                <a:latin typeface="Inter"/>
                <a:cs typeface="Inter"/>
              </a:rPr>
              <a:t>Guarde com a data. Você pode rever. Compartilhar é opcional.</a:t>
            </a:r>
            <a:endParaRPr sz="1800"/>
          </a:p>
        </p:txBody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861DC5A-44ED-410B-A3FB-8B17506E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defPPr>
            <a:lvl1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1pPr>
            <a:lvl2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2pPr>
            <a:lvl3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3pPr>
            <a:lvl4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4pPr>
            <a:lvl5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5pPr>
            <a:lvl6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6pPr>
            <a:lvl7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7pPr>
            <a:lvl8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8pPr>
            <a:lvl9pPr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1" b="0">
                <a:solidFill>
                  <a:srgbClr val="173F52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5A6B74"/>
                </a:solidFill>
                <a:latin typeface="Inter"/>
                <a:cs typeface="Inter"/>
              </a:rPr>
              <a:t>14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85187673"/>
      </p:ext>
    </p:extLst>
  </p:cSld>
  <p:transition spd="med">
    <p:fade/>
  </p:transition>
</p:sld>
</file>

<file path=ppt/slides/slide15.xml><?xml version="1.0" encoding="utf-8"?>
<p:sld xmlns:p="http://schemas.openxmlformats.org/presentationml/2006/main">
  <p:cSld>
    <p:bg xmlns:a="http://schemas.openxmlformats.org/drawingml/2006/main">
      <p:bgPr>
        <a:gradFill rotWithShape="1">
          <a:gsLst>
            <a:gs pos="0">
              <a:srgbClr val="245E78"/>
            </a:gs>
            <a:gs pos="45000">
              <a:srgbClr val="173F52"/>
            </a:gs>
            <a:gs pos="100000">
              <a:srgbClr val="082A4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 xmlns:a="http://schemas.openxmlformats.org/drawingml/2006/main" xmlns:r="http://schemas.openxmlformats.org/officeDocument/2006/relationships">
        <p:nvPicPr>
          <p:cNvPr id="7" name="Picture 6" descr="sym_gold.png"/>
          <p:cNvPicPr>
            <a:picLocks noChangeAspect="1"/>
          </p:cNvPicPr>
          <p:nvPr/>
        </p:nvPicPr>
        <p:blipFill>
          <a:blip r:embed="rId4">
            <a:alphaModFix amt="22000"/>
          </a:blip>
          <a:stretch>
            <a:fillRect/>
          </a:stretch>
        </p:blipFill>
        <p:spPr>
          <a:xfrm>
            <a:off x="7818120" y="777240"/>
            <a:ext cx="4832364" cy="5303520"/>
          </a:xfrm>
          <a:prstGeom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523156-D4E0-4034-A09B-3B08C69E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822960"/>
            <a:ext cx="694944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>
              <a:defRPr sz="3486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defPPr>
            <a:lvl1pPr>
              <a:defRPr sz="3486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1pPr>
            <a:lvl2pPr>
              <a:defRPr sz="3486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2pPr>
            <a:lvl3pPr>
              <a:defRPr sz="3486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3pPr>
            <a:lvl4pPr>
              <a:defRPr sz="3486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4pPr>
            <a:lvl5pPr>
              <a:defRPr sz="3486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5pPr>
            <a:lvl6pPr>
              <a:defRPr sz="3486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6pPr>
            <a:lvl7pPr>
              <a:defRPr sz="3486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7pPr>
            <a:lvl8pPr>
              <a:defRPr sz="3486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8pPr>
            <a:lvl9pPr>
              <a:defRPr sz="3486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92000"/>
              </a:lnSpc>
              <a:defRPr sz="3486" b="1">
                <a:solidFill>
                  <a:srgbClr val="F4EFEA"/>
                </a:solidFill>
                <a:latin typeface="Inter"/>
                <a:ea typeface="Inter"/>
                <a:cs typeface="Inter"/>
              </a:defRPr>
            </a:pPr>
            <a:r>
              <a:rPr sz="5200" b="0">
                <a:solidFill>
                  <a:srgbClr val="FFFFFF"/>
                </a:solidFill>
                <a:latin typeface="EB Garamond"/>
                <a:cs typeface="EB Garamond"/>
              </a:rPr>
              <a:t>Condições para continuar</a:t>
            </a:r>
            <a:endParaRPr sz="5200"/>
          </a:p>
        </p:txBody>
      </p:sp>
      <p:sp>
        <p:nvSpPr>
          <p:cNvPr id="3" name="next">
            <a:extLst xmlns:a="http://schemas.openxmlformats.org/drawingml/2006/main">
              <a:ext uri="{FF2B5EF4-FFF2-40B4-BE49-F238E27FC236}">
                <a16:creationId xmlns:a16="http://schemas.microsoft.com/office/drawing/2014/main" id="{73DC6014-B84D-4B46-B5E8-F69482EB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26517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5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defPPr>
            <a:lvl1pPr>
              <a:defRPr sz="1805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1pPr>
            <a:lvl2pPr>
              <a:defRPr sz="1805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2pPr>
            <a:lvl3pPr>
              <a:defRPr sz="1805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3pPr>
            <a:lvl4pPr>
              <a:defRPr sz="1805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4pPr>
            <a:lvl5pPr>
              <a:defRPr sz="1805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5pPr>
            <a:lvl6pPr>
              <a:defRPr sz="1805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6pPr>
            <a:lvl7pPr>
              <a:defRPr sz="1805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7pPr>
            <a:lvl8pPr>
              <a:defRPr sz="1805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8pPr>
            <a:lvl9pPr>
              <a:defRPr sz="1805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805" b="0">
                <a:solidFill>
                  <a:srgbClr val="C99A64"/>
                </a:solidFill>
                <a:latin typeface="Inter"/>
                <a:ea typeface="Inter"/>
                <a:cs typeface="Inter"/>
              </a:defRPr>
            </a:pPr>
            <a:r>
              <a:rPr sz="1400" b="1" spc="250">
                <a:solidFill>
                  <a:srgbClr val="C99A64"/>
                </a:solidFill>
                <a:latin typeface="Inter"/>
                <a:cs typeface="Inter"/>
              </a:rPr>
              <a:t>NA PRÓXIMA AULA</a:t>
            </a:r>
            <a:endParaRPr sz="1400"/>
          </a:p>
        </p:txBody>
      </p:sp>
      <p:sp>
        <p:nvSpPr>
          <p:cNvPr id="4" name="conditions">
            <a:extLst xmlns:a="http://schemas.openxmlformats.org/drawingml/2006/main">
              <a:ext uri="{FF2B5EF4-FFF2-40B4-BE49-F238E27FC236}">
                <a16:creationId xmlns:a16="http://schemas.microsoft.com/office/drawing/2014/main" id="{58FDCC40-62F0-4A36-8968-4545E9A9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108960"/>
            <a:ext cx="676656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77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defPPr>
            <a:lvl1pPr>
              <a:defRPr sz="2677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1pPr>
            <a:lvl2pPr>
              <a:defRPr sz="2677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2pPr>
            <a:lvl3pPr>
              <a:defRPr sz="2677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3pPr>
            <a:lvl4pPr>
              <a:defRPr sz="2677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4pPr>
            <a:lvl5pPr>
              <a:defRPr sz="2677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5pPr>
            <a:lvl6pPr>
              <a:defRPr sz="2677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6pPr>
            <a:lvl7pPr>
              <a:defRPr sz="2677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7pPr>
            <a:lvl8pPr>
              <a:defRPr sz="2677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8pPr>
            <a:lvl9pPr>
              <a:defRPr sz="2677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defRPr sz="2677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pPr>
            <a:r>
              <a:rPr sz="3200" b="0" i="1">
                <a:solidFill>
                  <a:srgbClr val="F4EFEA"/>
                </a:solidFill>
                <a:latin typeface="EB Garamond"/>
                <a:cs typeface="EB Garamond"/>
              </a:rPr>
              <a:t>Tempo, espaço, recursos, apoios e formas possíveis de participação.</a:t>
            </a:r>
            <a:endParaRPr sz="3200"/>
          </a:p>
        </p:txBody>
      </p:sp>
      <p:sp>
        <p:nvSpPr>
          <p:cNvPr id="5" name="now">
            <a:extLst xmlns:a="http://schemas.openxmlformats.org/drawingml/2006/main">
              <a:ext uri="{FF2B5EF4-FFF2-40B4-BE49-F238E27FC236}">
                <a16:creationId xmlns:a16="http://schemas.microsoft.com/office/drawing/2014/main" id="{7680576D-01FF-4428-9B9C-84595F2E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937760"/>
            <a:ext cx="67665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defPPr>
            <a:lvl1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1pPr>
            <a:lvl2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2pPr>
            <a:lvl3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3pPr>
            <a:lvl4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4pPr>
            <a:lvl5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5pPr>
            <a:lvl6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6pPr>
            <a:lvl7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7pPr>
            <a:lvl8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8pPr>
            <a:lvl9pPr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defRPr sz="1868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pPr>
            <a:r>
              <a:rPr sz="1900" b="0">
                <a:solidFill>
                  <a:srgbClr val="E9E2D8"/>
                </a:solidFill>
                <a:latin typeface="Inter"/>
                <a:cs typeface="Inter"/>
              </a:rPr>
              <a:t>Por enquanto, localize os três materiais e escolha onde guardar seu primeiro registro.</a:t>
            </a:r>
            <a:endParaRPr sz="1900"/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DD54EF9-4CE5-4D85-8529-30348E48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6291072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defPPr>
            <a:lvl1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1pPr>
            <a:lvl2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2pPr>
            <a:lvl3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3pPr>
            <a:lvl4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4pPr>
            <a:lvl5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5pPr>
            <a:lvl6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6pPr>
            <a:lvl7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7pPr>
            <a:lvl8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8pPr>
            <a:lvl9pPr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lvl9pPr>
          </a:lstStyle>
          <a:p xmlns:a="http://schemas.openxmlformats.org/drawingml/2006/main">
            <a:pPr algn="l">
              <a:defRPr sz="1121" b="0">
                <a:solidFill>
                  <a:srgbClr val="F4EFEA"/>
                </a:solidFill>
                <a:latin typeface="Inter"/>
                <a:ea typeface="Inter"/>
                <a:cs typeface="Inter"/>
              </a:defRPr>
            </a:pPr>
            <a:r>
              <a:rPr sz="1100" b="0" spc="100">
                <a:solidFill>
                  <a:srgbClr val="8FA0AC"/>
                </a:solidFill>
                <a:latin typeface="Inter"/>
                <a:cs typeface="Inter"/>
              </a:rPr>
              <a:t>15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36973979"/>
      </p:ext>
    </p:extLst>
  </p:cSld>
  <p:transition spd="med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2026-11-01T22:14:27.5070000Z</dcterms:created>
  <dcterms:modified xsi:type="dcterms:W3CDTF">2026-11-01T22:14:27.5070000Z</dcterms:modified>
</coreProperties>
</file>