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699943684ee4716" Type="http://schemas.openxmlformats.org/officeDocument/2006/relationships/extended-properties" Target="docProps/app.xml"/><Relationship Id="R46c4393ea1124382" Type="http://schemas.openxmlformats.org/package/2006/relationships/metadata/core-properties" Target="docProps/core.xml"/><Relationship Id="Rf342ab4922f04fd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13052c48ee414f"/>
  </p:sldMasterIdLst>
  <p:notesMasterIdLst>
    <p:notesMasterId xmlns:r="http://schemas.openxmlformats.org/officeDocument/2006/relationships" r:id="R27762bd219314af5"/>
  </p:notesMasterIdLst>
  <p:sldIdLst>
    <p:sldId xmlns:r="http://schemas.openxmlformats.org/officeDocument/2006/relationships" id="256" r:id="R38008821b7c941bc"/>
    <p:sldId xmlns:r="http://schemas.openxmlformats.org/officeDocument/2006/relationships" id="257" r:id="R1395ccd9b47e4c5f"/>
    <p:sldId xmlns:r="http://schemas.openxmlformats.org/officeDocument/2006/relationships" id="258" r:id="R3e87447790ca4f9a"/>
    <p:sldId xmlns:r="http://schemas.openxmlformats.org/officeDocument/2006/relationships" id="259" r:id="R601f837090604dc2"/>
    <p:sldId xmlns:r="http://schemas.openxmlformats.org/officeDocument/2006/relationships" id="260" r:id="Rcd2b887c575941aa"/>
    <p:sldId xmlns:r="http://schemas.openxmlformats.org/officeDocument/2006/relationships" id="261" r:id="Rc878a05252304c1b"/>
    <p:sldId xmlns:r="http://schemas.openxmlformats.org/officeDocument/2006/relationships" id="262" r:id="Rc7f4ea3b7c3f4dc9"/>
    <p:sldId xmlns:r="http://schemas.openxmlformats.org/officeDocument/2006/relationships" id="263" r:id="Ra162255357284eaf"/>
    <p:sldId xmlns:r="http://schemas.openxmlformats.org/officeDocument/2006/relationships" id="264" r:id="R6eb64d79b0e94b79"/>
    <p:sldId xmlns:r="http://schemas.openxmlformats.org/officeDocument/2006/relationships" id="265" r:id="Rd0740930309e4514"/>
    <p:sldId xmlns:r="http://schemas.openxmlformats.org/officeDocument/2006/relationships" id="266" r:id="Rb3df470d17054586"/>
    <p:sldId xmlns:r="http://schemas.openxmlformats.org/officeDocument/2006/relationships" id="267" r:id="R3c5d9afac6264e3c"/>
    <p:sldId xmlns:r="http://schemas.openxmlformats.org/officeDocument/2006/relationships" id="268" r:id="R7a3d80321e994a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4b983fb09d4de4" Type="http://schemas.openxmlformats.org/officeDocument/2006/relationships/theme" Target="theme/theme1.xml"/><Relationship Id="R1395ccd9b47e4c5f" Type="http://schemas.openxmlformats.org/officeDocument/2006/relationships/slide" Target="slides/slide2.xml"/><Relationship Id="R27762bd219314af5" Type="http://schemas.openxmlformats.org/officeDocument/2006/relationships/notesMaster" Target="notesMasters/notesMaster1.xml"/><Relationship Id="R38008821b7c941bc" Type="http://schemas.openxmlformats.org/officeDocument/2006/relationships/slide" Target="slides/slide1.xml"/><Relationship Id="R3c5d9afac6264e3c" Type="http://schemas.openxmlformats.org/officeDocument/2006/relationships/slide" Target="slides/slide12.xml"/><Relationship Id="R3e87447790ca4f9a" Type="http://schemas.openxmlformats.org/officeDocument/2006/relationships/slide" Target="slides/slide3.xml"/><Relationship Id="R601f837090604dc2" Type="http://schemas.openxmlformats.org/officeDocument/2006/relationships/slide" Target="slides/slide4.xml"/><Relationship Id="R6eb64d79b0e94b79" Type="http://schemas.openxmlformats.org/officeDocument/2006/relationships/slide" Target="slides/slide9.xml"/><Relationship Id="R7813052c48ee414f" Type="http://schemas.openxmlformats.org/officeDocument/2006/relationships/slideMaster" Target="slideMasters/slideMaster1.xml"/><Relationship Id="R7a3d80321e994a24" Type="http://schemas.openxmlformats.org/officeDocument/2006/relationships/slide" Target="slides/slide13.xml"/><Relationship Id="Ra162255357284eaf" Type="http://schemas.openxmlformats.org/officeDocument/2006/relationships/slide" Target="slides/slide8.xml"/><Relationship Id="Rb3df470d17054586" Type="http://schemas.openxmlformats.org/officeDocument/2006/relationships/slide" Target="slides/slide11.xml"/><Relationship Id="Rba38a4414d5749e6" Type="http://schemas.openxmlformats.org/officeDocument/2006/relationships/presProps" Target="presProps.xml"/><Relationship Id="Rc7f4ea3b7c3f4dc9" Type="http://schemas.openxmlformats.org/officeDocument/2006/relationships/slide" Target="slides/slide7.xml"/><Relationship Id="Rc878a05252304c1b" Type="http://schemas.openxmlformats.org/officeDocument/2006/relationships/slide" Target="slides/slide6.xml"/><Relationship Id="Rcd2b887c575941aa" Type="http://schemas.openxmlformats.org/officeDocument/2006/relationships/slide" Target="slides/slide5.xml"/><Relationship Id="Rd0740930309e4514" Type="http://schemas.openxmlformats.org/officeDocument/2006/relationships/slide" Target="slides/slide10.xml"/><Relationship Id="Rf5457422a2d64f4a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a75dab211fce4b1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293db11b4fc4382" Type="http://schemas.openxmlformats.org/officeDocument/2006/relationships/notesMaster" Target="../notesMasters/notesMaster1.xml"/><Relationship Id="R5da2ec8b9c2a4a2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42129e388b74e6c" Type="http://schemas.openxmlformats.org/officeDocument/2006/relationships/notesMaster" Target="../notesMasters/notesMaster1.xml"/><Relationship Id="R8d7f52003005471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a4b2b3978a34089" Type="http://schemas.openxmlformats.org/officeDocument/2006/relationships/slide" Target="../slides/slide3.xml"/><Relationship Id="R7d8f57e69798467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6bb9cab42544583" Type="http://schemas.openxmlformats.org/officeDocument/2006/relationships/notesMaster" Target="../notesMasters/notesMaster1.xml"/><Relationship Id="Rc87eaf720d6641a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fe20f05b6e34c0a" Type="http://schemas.openxmlformats.org/officeDocument/2006/relationships/notesMaster" Target="../notesMasters/notesMaster1.xml"/><Relationship Id="R927e007594ab49f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6c1c7d4a9214bbf" Type="http://schemas.openxmlformats.org/officeDocument/2006/relationships/slide" Target="../slides/slide6.xml"/><Relationship Id="Rd8a3d090bdb5488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67dac2410814cfe" Type="http://schemas.openxmlformats.org/officeDocument/2006/relationships/notesMaster" Target="../notesMasters/notesMaster1.xml"/><Relationship Id="Rd898cb91f3ad404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c51037f80584d2e" Type="http://schemas.openxmlformats.org/officeDocument/2006/relationships/notesMaster" Target="../notesMasters/notesMaster1.xml"/><Relationship Id="R3d9a711858e04ae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bdc9ac9741b4afb" Type="http://schemas.openxmlformats.org/officeDocument/2006/relationships/slide" Target="../slides/slide9.xml"/><Relationship Id="R71209b17f3bc438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7f22a83ac6443b9" Type="http://schemas.openxmlformats.org/officeDocument/2006/relationships/slide" Target="../slides/slide10.xml"/><Relationship Id="R2f32e188f59448a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433a1d9fd154b22" Type="http://schemas.openxmlformats.org/officeDocument/2006/relationships/notesMaster" Target="../notesMasters/notesMaster1.xml"/><Relationship Id="Rf2849a9575f546e3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b778f9c5dbe4dd3" Type="http://schemas.openxmlformats.org/officeDocument/2006/relationships/slide" Target="../slides/slide12.xml"/><Relationship Id="R652ad6b409604e1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581d765ba41345f3" Type="http://schemas.openxmlformats.org/officeDocument/2006/relationships/slide" Target="../slides/slide13.xml"/><Relationship Id="Rd78404d58581486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1 • BLOCO 1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você já tenha vivido uma situação assim: depois que tudo passou, consegue compreender com bastante clareza o que aconteceu. Percebe o que sentiu, reconhece uma resposta conhecida e até imagina o que gostaria de ter feito.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Mas, quando algo parecido acontece outra vez, você se vê respondendo de uma maneira muito semelhante.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então aparece aquela pergunta: se eu já entendi, por que continuo repetindo?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 por essa pergunta que eu quero começar nosso primeiro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Compreender pode mudar muita coisa. Pode nos ajudar a reconhecer uma situação, encontrar palavras, procurar apoio e experimentar uma resposta. Ao mesmo tempo, uma compreensão não se torna disponível do mesmo modo em todas 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longo desta aula, eu vou convidar você a observar três aspectos: o que você compreende; o que consegue acessar quando uma situação acontece; e quais condições permitem participar dela de outra maneira.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começar com uma cena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M1.1 | Fabiano Deliberalli | Da compreensão acumulada à mudança vivida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2 • BLOCO 2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Imagine uma pessoa que está com a agenda cheia. Ela sabe que precisa de descanso e já percebeu que costuma assumir mais tarefas do que consegue realizar.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pessoa recebe uma mensagem: “Você consegue cuidar disso para mim?”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Ela lê, sente um aperto no peito e [CLIQUE] responde quase imediatamente: “Consigo, sim.”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Pouco depois, olha para a agenda e pensa: “Por que eu aceitei? Eu já sabia que não tinha espaço.”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situação fictícia, construída para a nossa investigação. Você pode acompanhá-la sem precisar encontrar uma história pessoal semelhante.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essa pessoa sabia? Que precisava de descanso, que sua agenda estava cheia e que assumir mais uma tarefa teria consequências.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apareceu naquela hora? Um pedido, uma sensação, talvez pensamentos ou expectativas, e uma resposta muito rápida.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ela conseguiu utilizar do que sabia? Essa é uma pergunta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compreensão estava presente na sua vida. Ainda precisamos investigar como ela participou daquela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Um pedido chega. | Um aperto é percebido. | O “sim” vem rapidamente. | A agenda já estava cheia. Esta tela tem 3 clique(s) interno(s), marcados como [CLIQUE] na fala.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3 • BLOCO 3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Quando eu digo “eu sei”, posso estar falando de coisas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Posso saber explicar depois. Posso reconhecer enquanto acontece. Posso lembrar uma possibilidade e ainda não conseguir colocá-la em prática. Posso até conseguir agir de outra maneira uma vez e ter dificuldade em outra ocasião.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cena da agenda, talvez a pessoa tenha se lembrado do próprio limite e mesmo assim tenha aceitado. Nesse caso, precisamos olhar além da lembrança.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tinha tempo para pensar? Podia negociar? Existia uma consequência concreta em recusar? Já havia experimentado outra forma de responder àquela pessoa?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Às vezes, uma capacidade já existe, mas fica pouco acessível. Em outras situações, ainda precisamos desenvolvê-la. Aprender a negociar um prazo, sustentar uma conversa ou pedir ajuda pode fazer parte desse desenvolvimento.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Também há condições que dependem das relações e da organização da vida. Uma pessoa pode precisar de uma divisão diferente de responsabilidades, de apoio ou de mudanças no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 isso, eu vou evitar transformar toda dificuldade em algo que você deveria resolver sozinho, dentro de 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Nossa participação acontece em condições concretas. Reconhecê-las ajuda a perceber onde há possibilidade de ação, onde há necessidade de apoio e o que ainda precisa ser construído.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O que compreendo? | O que fica disponível na situação? | Quais condições permitem outra participação?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4 • BLOCO 4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voltar à resposta rápida: “Consigo, sim.”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essa pessoa responda assim há muito tempo, especialmente quando recebe pedidos por mensagem. Uma resposta muito repetida pode se tornar familiar e aparecer com pouca deliberação.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exista receio de desagradar. Talvez ela associe disponibilidade a pertencimento ou a ser uma pessoa responsável.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esteja cansada e aceite para encerrar logo aquela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a relação tenha uma desigualdade de poder que torne a recusa difícil.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 haver mais de um desses aspectos participando. E pode haver algo que ainda não apareceu na nossa investigação.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Perguntar o que uma resposta tenta preservar pode ser útil. Em algumas situações, encontramos uma tentativa de proteger um vínculo, um valor ou a própria segurança. Mas essa é uma possibilidade a investigar, e não uma explicação pronta para toda repetição.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Também aprendemos maneiras de perceber, antecipar e responder que não aparecem para nós como uma lembrança consciente. A história pode participar do presente sem vir acompanhada de uma narrativa sobre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Isso não nos obriga a encontrar a origem de tudo antes de começar. Podemos observar como uma resposta acontece hoje e quais condições a mantêm.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Aprendizagens e respostas familiares | Estados corporais e expectativas | Relações e condições concretas | Mais de um aspecto pode participar.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5 • BLOCO 5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aperto no peito da nossa cena merece atenção. Ele faz parte da experiência daquela pessoa.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 a sensação, sozinha, não nos conta tudo sobre a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Quando ela diz “senti um aperto”, está procurando descrever algo vivido. Quando acrescenta “foi porque eu sabia que a pessoa ficaria decepcionada”, já está formulando uma leitura.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leitura pode fazer sentido. Podemos perguntar como ela chegou a essa compreensão e o que mais estava acontecendo.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reconheça receio. Talvez perceba também irritação por receber outro pedido. Talvez só consiga dizer: “Ainda não sei; foi tudo muito rápido.”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Eu quero que esse “ainda não sei” tenha lugar no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Podemos ter clareza de uma sensação e continuar investigando seu significado. Também podemos corrigir uma palavra que parecia adequada no primeiro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Diferenciar não exige um vocabulário sofisticado. Pode começar com uma pequena descoberta: “Não era apenas cansaço. Eu também estava contrariado.”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esse cuidado vale para experiências agradáveis. Tranquilidade, entusiasmo, alívio e curiosidade podem se apresentar de maneiras diferentes. Vamos cultivar sensibilidade também para reconhecer vitalidade e possibilidades que queremos desenvolver.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“Senti um aperto.” | “Imaginei que ele ficaria decepcionado.” | O que percebo? Que leitura estou fazendo? | “Ainda não sei” também tem lugar.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6 • BLOCO 6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uma relação de ida e volta aqui.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experiência pode mostrar algo que minha explicação ainda não incluía. E uma compreensão pode orientar minha atenção para algo que eu antes não percebia.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aprendo a reconhecer meus limites, talvez comece a observar momentos em que respondo depressa demais. Se observo esses momentos, posso descobrir que minha dificuldade muda conforme a pessoa, o horário ou o tipo de pedido.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 estudos da mente, você pode encontrar os termos bottom-up e top-down para discutir aspectos dessas relações entre informação sensorial, conhecimentos anteriores e expectativas.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 enquanto, quero guardar com você a ideia mais simples: o que sabemos participa do que percebemos, e o que percebemos pode transformar o que sabemos.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pensamento é um recurso importante nesse movimento. Ele permite comparar, imaginar, perguntar e planejar. Precisamos também dar espaço para que a experiência acrescente algo ao que já pensamos.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O vivido pode ampliar o que sei. | O que sei orienta minha atenção. | Perceber, comparar, perguntar e rever.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7 • BLOCO 7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minha pós-graduação em Psicologia Transpessoal, tive aulas com Yolanda Cintrão Forghieri sobre envolvimento existencial e distanciamento reflexivo. Essa elaboração passou a acompanhar minhas aulas e minha maneira de escutar e trabalhar na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Eu encontro nela um convite muito importante: aproximar-me do que está sendo vivido e cultivar a possibilidade de refletir sobre essa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Às vezes, preciso primeiro dar espaço ao que aparece. Em outro momento, consigo olhar, encontrar uma palavra, perceber uma relação. Posso então retornar à experiência e descobrir que aquela primeira compreensão precisa mudar.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Esses movimentos não precisam acontecer numa ordem rígida.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trabalho com mentalização, também encontramos uma atenção aos sentimentos, pensamentos, desejos e intenções que participam do que fazemos, incluindo o reconhecimento de que podemos nos enganar sobre nós mesmos e sobre os outros.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nossa cena, “imaginei que ele ficaria decepcionado” é diferente de “eu sei que ele ficaria decepcionado”.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diferença pode abrir uma pergunta, uma conversa ou uma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nem tudo precisa ser colocado em palavras naquele instante. Há formas sensíveis de acompanhar uma relação e ajustar uma resposta que acontecem antes de conseguirmos explicá-las.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Aproximar-se do vivido | Encontrar espaço para refletir | Retornar e rever a primeira compreensão | O envolvimento pede espaço.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8 • BLOCO 8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Daniel Siegel é outra referência importante no meu percurso. Em sua formulação sobre um aspecto da mente, ele trabalha com processos corporificados e relacionais e com fluxos de energia e informação dentro de nós e entre nós.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perspectiva encontra diálogo com minha formação e minha experiência nas práticas orientais.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um workshop com Siegel, voltado a profissionais que trabalham com trauma, vivenciei práticas de autorregulação baseadas em movimentos de Qi Gong e Tai Chi Chuan. Essa aproximação também faz parte da minha história de aprendizagem.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TSH, vamos trabalhar com a linguagem do Qi em sua própria tradição e colocá-la em diálogo com outros conhecimentos quando isso ajudar a compreender e acompanhar 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longo deste módulo, vamos construir uma base para uma exploração leve com as mãos no nosso encontro on-line. Vamos perceber, movimentar, procurar formas de expressão e retornar ao que foi vivido.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não precisa chegar sabendo nomear sensações ou usando um vocabulário energético. Pode começar com curiosidade.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mim, esse cultivo se insere numa perspectiva mais ampla: reconheço a Essência como fundamento primordial da vida, uma dimensão espiritual que antecede e transcende a existência corporal.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é a perspectiva espiritual e transpessoal que trago ao curso. Aqui, vamos investigar como possibilidades encontram expressão nas condições da vida, respeitando também a maneira como cada participante compreende sua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Sentir algo intensamente ou conseguir descrevê-lo não estabelece o valor de ninguém. O percurso inclui descobrir, desenvolver e encontrar formas próprias de expressão.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Corpo e relações participam da experiência. | Curiosidade, vitalidade e descoberta. | Qi em sua própria tradição e em diálogo. | Essência: perspectiva espiritual do autor.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9 • BLOCO 9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Quero apresentar um apoio que vamos retomar ao longo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primeiro movimento é aproximar-se: o que percebo agora, mesmo que ainda não saiba nomear?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Depois, diferenciar: onde percebo isso e que diferenças consigo reconhecer?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Expressar: que palavra, imagem ou gesto ajuda a apresentar o que vivi?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Aproximar-se • O que percebo agora? | Diferenciar • Onde e como percebo? | Expressar • Que palavra, imagem ou gesto ajuda? Esta tela tem 2 clique(s) interno(s), marcados como [CLIQUE] na fala.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10 • BLOCO 9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Traduzir: que leitura ajuda a compreender ou acompanhar essa experiência?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Rever: o que está claro e sobre o que ainda tenho dúvidas?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 participar: o que acontece quando ajusto minha maneira de me relacionar com isso?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Essas perguntas podem ser utilizadas separadamente. Você não precisa responder todas, nem transformar cada experiência numa análise.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prática de Qi Gong, por exemplo, vamos poder perguntar como a linguagem do Qi ajuda a acompanhar o vivido. Na cena da agenda, pode ser mais pertinente investigar expectativas, limites e condições para negociar.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envolvimento pede espaço. A reflexão pode acontecer depois e abrir um novo retorno à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Traduzir • Que leitura ajuda a acompanhar? | Rever • O que está claro? Onde há dúvidas? | Participar • O que muda quando me relaciono de outra maneira? Esta tela tem 2 clique(s) interno(s), marcados como [CLIQUE] na fala.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11 • BLOCO 10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Agora, se for possível, faça uma pequena pausa.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utilizar a cena fictícia da agenda, lembrar uma situação cotidiana leve ou apenas acompanhar a proposta. Não é necessário buscar uma experiência difícil.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material de registro, você encontrará quatro espaços.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primeiro, anote o que percebeu. Na cena da agenda, podemos registrar: “Recebi um pedido, percebi um aperto no peito e aceitei rapidamente.” Ao lembrar uma situação, podemos escrever “lembro de ter percebido”, porque também estamos trabalhando com uma recordação.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No segundo, registre como procurou expressar. Uma palavra, uma frase, um desenho ou uma descrição de gesto pode ajudar. Se não encontrar uma forma, pode deixar isso registrado também.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Depois, retorne por alguns instantes ao exemplo e observe: algo ficou diferente na sua maneira de percebê-lo? Apareceu uma pergunta? Uma palavra deixou de servir? Talvez nada tenha mudado.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Esse é o terceiro espaço: o que mudou ao retornar.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Por fim: o que quero continuar observando?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escolher uma pergunta pequena. “Será que respondo mais depressa quando estou cansado?” Ou: “Em quais relações consigo negociar melhor?”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Reserve um ou dois minutos, se desejar. Você pode pausar o vídeo. O registro é pessoal e não precisa ser entregue ou compartilhado.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O que percebi | Como procurei expressar | O que mudou ao retornar | O que quero continuar observando Esta tela tem 3 clique(s) interno(s), marcados como [CLIQUE] na fala.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12 • BLOCO 11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imaginar um preenchimento possível para a nossa 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pessoa registra o aperto e a resposta rápida. Ao procurar palavras, escreve “receio de desagradar”. Quando retorna, percebe também que não consultou a agenda e que recebeu o pedido no fim de um dia cansativo.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Sua pergunta passa a ser: “O que acontece se eu consultar minha disponibilidade antes de responder, quando houver espaço para isso?”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Isso ainda não resolve todas as condições da situação. Mas oferece uma direção de investigação mais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 ser necessário praticar uma frase, conversar sobre responsabilidades ou reconhecer que naquela relação a negociação exige apoio.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aprendizagem pode aparecer em momentos diferentes: perceber depois, reconhecer um pouco antes, conseguir perguntar, experimentar outra resposta ou reparar algo que aconteceu.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pode aparecer no reconhecimento de uma possibilidade agradável: notar que um movimento desperta curiosidade, que uma prática favorece disposição ou que uma relação permite expressar algo antes pouco reconhecido.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Nosso interesse é acompanhar o que se torna possível e em quais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Perceber depois. Reconhecer um pouco antes. | Perguntar. Experimentar. Reparar. | O que se torna possível? | Em quais condições?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13 • BLOCO 12 • v0.2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INTEGRAL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Volto à pergunta que abriu esta aula: por que entender um padrão não impede que ele se repita?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Porque a compreensão participa de uma vida que também envolve aprendizagens, estados corporais, relações, expectativas, recursos e condições concretas. Uma resposta diferente pode precisar de acesso ao que já sabemos, de novas aprendizagens e de apoios que ainda precisam ser construídos.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Podemos começar reconhecendo o que acontece, encontrando uma forma de expressão e mantendo a compreensão aberta ao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longo deste módulo, vamos ampliar esse movimento. Na próxima aula, vamos distinguir com mais cuidado saber, acessar e sustentar, incluindo o cultivo de capacidades que ainda estão se formando.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Até lá, se uma situação cotidiana chamar sua atenção, você pode guardar uma pergunta: o que eu compreendia, o que ficou disponível e o que essa situação estava pedindo de mim e das minhas condições de vida?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é preciso vigiar cada resposta. Uma observação que faça sentido já pode oferecer material para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Apoio visual: A compreensão participa de uma vida concreta. | Aprendizagens, relações, recursos e apoios. | Próxima aula: | Saber, acessar e sustentar não são a mesma coisa.</a:t>
            </a:r>
          </a:p>
          <a:p xmlns:a="http://schemas.openxmlformats.org/drawingml/2006/main">
            <a:r>
              <a:t>Prática com mãos/Qi Gong reservada ao encontro M0/M1. Fontes e estatuto das elaborações no caderno de produção v0.2.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1885d06f63b461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1d6bc3fde7894b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73483bbfeaf848b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d783bc64fb14ad9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c97870d47db4d8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ba73ffdcc37940a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13780-69DB-4D6E-A2C1-EDD20DC31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F7FA68-6F9A-47EA-AE32-63133ABECF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4FC01C-5F1F-45E5-A0C8-C5DF49952E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ED016-E6C6-4136-B4E5-D0D8EEC3D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A66F1B-94F4-4D47-873E-D9ABA28C26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4FC77E-A720-497C-8A66-39CC46014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5EE65-2F5F-4D18-9DD4-C269ECF52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13636C-8916-4A74-AABE-DBC99D8A71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B53A51-11AC-43D7-97A5-0AA51141A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5F348-9FA8-49BB-9ED5-CDA480B08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b453fb584444015" Type="http://schemas.openxmlformats.org/officeDocument/2006/relationships/slideLayout" Target="../slideLayouts/slideLayout1.xml"/><Relationship Id="R390ec9e44abc4aac" Type="http://schemas.openxmlformats.org/officeDocument/2006/relationships/slideLayout" Target="../slideLayouts/slideLayout5.xml"/><Relationship Id="R4116bec501e944ec" Type="http://schemas.openxmlformats.org/officeDocument/2006/relationships/slideLayout" Target="../slideLayouts/slideLayout2.xml"/><Relationship Id="R7606c25ae7ea460c" Type="http://schemas.openxmlformats.org/officeDocument/2006/relationships/slideLayout" Target="../slideLayouts/slideLayout6.xml"/><Relationship Id="R86bf6e1079a14adf" Type="http://schemas.openxmlformats.org/officeDocument/2006/relationships/theme" Target="theme/theme2.xml"/><Relationship Id="R9c5d5de3d6ba4055" Type="http://schemas.openxmlformats.org/officeDocument/2006/relationships/slideLayout" Target="../slideLayouts/slideLayout4.xml"/><Relationship Id="Rc3c7c0cfe3944790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53fb584444015"/>
    <p:sldLayoutId xmlns:r="http://schemas.openxmlformats.org/officeDocument/2006/relationships" id="2147483650" r:id="R4116bec501e944ec"/>
    <p:sldLayoutId xmlns:r="http://schemas.openxmlformats.org/officeDocument/2006/relationships" id="2147483651" r:id="Rc3c7c0cfe3944790"/>
    <p:sldLayoutId xmlns:r="http://schemas.openxmlformats.org/officeDocument/2006/relationships" id="2147483652" r:id="R9c5d5de3d6ba4055"/>
    <p:sldLayoutId xmlns:r="http://schemas.openxmlformats.org/officeDocument/2006/relationships" id="2147483653" r:id="R390ec9e44abc4aac"/>
    <p:sldLayoutId xmlns:r="http://schemas.openxmlformats.org/officeDocument/2006/relationships" id="2147483654" r:id="R7606c25ae7ea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EB Garamond"/>
        <a:ea typeface=""/>
        <a:cs typeface=""/>
      </a:majorFont>
      <a:minorFont>
        <a:latin typeface="Inte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936d2e3e8994c48" Type="http://schemas.openxmlformats.org/officeDocument/2006/relationships/notesSlide" Target="../notesSlides/notesSlide1.xml"/><Relationship Id="Rab3c07b149af4f05" Type="http://schemas.openxmlformats.org/officeDocument/2006/relationships/image" Target="../media/image.png"/><Relationship Id="Re46c528bd01742cd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154209d774cf4671" Type="http://schemas.openxmlformats.org/officeDocument/2006/relationships/notesSlide" Target="../notesSlides/notesSlide2.xml"/><Relationship Id="R8480e13f6d394d54" Type="http://schemas.openxmlformats.org/officeDocument/2006/relationships/slideLayout" Target="../slideLayouts/slideLayout6.xml"/><Relationship Id="Rc89ba2f19c68415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28760f5abb8b4bda" Type="http://schemas.openxmlformats.org/officeDocument/2006/relationships/slideLayout" Target="../slideLayouts/slideLayout6.xml"/><Relationship Id="R300b6aba0e2b4c1c" Type="http://schemas.openxmlformats.org/officeDocument/2006/relationships/image" Target="../media/image3.png"/><Relationship Id="R306aa086eed04f79" Type="http://schemas.openxmlformats.org/officeDocument/2006/relationships/notesSlide" Target="../notesSlides/notesSlide3.xml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c72423b8f1ec499f" Type="http://schemas.openxmlformats.org/officeDocument/2006/relationships/slideLayout" Target="../slideLayouts/slideLayout6.xml"/><Relationship Id="Rd01269f9d4b44980" Type="http://schemas.openxmlformats.org/officeDocument/2006/relationships/notesSlide" Target="../notesSlides/notesSlide4.xml"/><Relationship Id="Rd6ce94c711514617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8fe8e94466aa48a2" Type="http://schemas.openxmlformats.org/officeDocument/2006/relationships/notesSlide" Target="../notesSlides/notesSlide5.xml"/><Relationship Id="Rc94ba9b3e8cc45ee" Type="http://schemas.openxmlformats.org/officeDocument/2006/relationships/slideLayout" Target="../slideLayouts/slideLayout6.xml"/><Relationship Id="Rd1805fc236214920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11e4b394363447e0" Type="http://schemas.openxmlformats.org/officeDocument/2006/relationships/slideLayout" Target="../slideLayouts/slideLayout6.xml"/><Relationship Id="R51b5da2cf97c4448" Type="http://schemas.openxmlformats.org/officeDocument/2006/relationships/notesSlide" Target="../notesSlides/notesSlide6.xml"/><Relationship Id="R6a307efca119409f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4b1c02867ee24cc2" Type="http://schemas.openxmlformats.org/officeDocument/2006/relationships/slideLayout" Target="../slideLayouts/slideLayout6.xml"/><Relationship Id="R5645e0283f4a48b8" Type="http://schemas.openxmlformats.org/officeDocument/2006/relationships/image" Target="../media/image7.png"/><Relationship Id="Rc81444515b17436c" Type="http://schemas.openxmlformats.org/officeDocument/2006/relationships/notesSlide" Target="../notesSlides/notesSlide7.xml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13bef72836824b3e" Type="http://schemas.openxmlformats.org/officeDocument/2006/relationships/notesSlide" Target="../notesSlides/notesSlide8.xml"/><Relationship Id="R7706fd04da8e468f" Type="http://schemas.openxmlformats.org/officeDocument/2006/relationships/slideLayout" Target="../slideLayouts/slideLayout6.xml"/><Relationship Id="R873cda959fba408a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07f54be62b9645e0" Type="http://schemas.openxmlformats.org/officeDocument/2006/relationships/image" Target="../media/image9.png"/><Relationship Id="R0c01add16a464a95" Type="http://schemas.openxmlformats.org/officeDocument/2006/relationships/slideLayout" Target="../slideLayouts/slideLayout6.xml"/><Relationship Id="R48b945de49424229" Type="http://schemas.openxmlformats.org/officeDocument/2006/relationships/notesSlide" Target="../notesSlides/notesSlide9.xml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3bb286db521048c8" Type="http://schemas.openxmlformats.org/officeDocument/2006/relationships/slideLayout" Target="../slideLayouts/slideLayout6.xml"/><Relationship Id="R84f57aae93ca4e9b" Type="http://schemas.openxmlformats.org/officeDocument/2006/relationships/image" Target="../media/image10.png"/><Relationship Id="Rad532325d8474741" Type="http://schemas.openxmlformats.org/officeDocument/2006/relationships/notesSlide" Target="../notesSlides/notesSlide10.xml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828b0c8c779e453e" Type="http://schemas.openxmlformats.org/officeDocument/2006/relationships/slideLayout" Target="../slideLayouts/slideLayout6.xml"/><Relationship Id="Ra245841255df41cc" Type="http://schemas.openxmlformats.org/officeDocument/2006/relationships/notesSlide" Target="../notesSlides/notesSlide11.xml"/><Relationship Id="Rabe27bcaa971457b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0a0492d9594f4e88" Type="http://schemas.openxmlformats.org/officeDocument/2006/relationships/image" Target="../media/image12.png"/><Relationship Id="R523fad70ede8420c" Type="http://schemas.openxmlformats.org/officeDocument/2006/relationships/notesSlide" Target="../notesSlides/notesSlide12.xml"/><Relationship Id="Rc0b0936fc3854a45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421706a4b0c24149" Type="http://schemas.openxmlformats.org/officeDocument/2006/relationships/notesSlide" Target="../notesSlides/notesSlide13.xml"/><Relationship Id="R43cff13549bf4d31" Type="http://schemas.openxmlformats.org/officeDocument/2006/relationships/slideLayout" Target="../slideLayouts/slideLayout6.xml"/><Relationship Id="Rdf920258e3284bf4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>
  <p:cSld>
    <p:bg xmlns:a="http://schemas.openxmlformats.org/drawingml/2006/main">
      <p:bgPr>
        <a:gradFill rotWithShape="1">
          <a:gsLst>
            <a:gs pos="0">
              <a:srgbClr val="245E78"/>
            </a:gs>
            <a:gs pos="45000">
              <a:srgbClr val="173F52"/>
            </a:gs>
            <a:gs pos="100000">
              <a:srgbClr val="082A4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005840"/>
            <a:ext cx="3665726" cy="3794760"/>
          </a:xfrm>
          <a:prstGeom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D72F7-6743-4466-8CE7-00CB37F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pPr>
            <a:r>
              <a:rPr sz="1400" b="1" spc="250">
                <a:solidFill>
                  <a:srgbClr val="C99A64"/>
                </a:solidFill>
                <a:latin typeface="Inter"/>
                <a:cs typeface="Inter"/>
              </a:rPr>
              <a:t>TRADUZINDO O SER HUMANO</a:t>
            </a:r>
            <a:endParaRPr sz="14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37AAC-84BB-4237-8359-83EDE5A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34440"/>
            <a:ext cx="6858000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000" b="0">
                <a:solidFill>
                  <a:srgbClr val="FFFFFF"/>
                </a:solidFill>
                <a:latin typeface="EB Garamond"/>
                <a:cs typeface="EB Garamond"/>
              </a:rPr>
              <a:t>Por que entender um padrão não impede que ele se repita?</a:t>
            </a:r>
            <a:endParaRPr sz="5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729F7-1DFA-4B92-915B-E8AD729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2628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1" spc="150">
                <a:solidFill>
                  <a:srgbClr val="C99A64"/>
                </a:solidFill>
                <a:latin typeface="Inter"/>
                <a:cs typeface="Inter"/>
              </a:rPr>
              <a:t>M1.1</a:t>
            </a:r>
            <a:endParaRPr sz="16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2AB62-C22B-44C4-AF51-D78B6C0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E9E2D8"/>
                </a:solidFill>
                <a:latin typeface="Inter"/>
                <a:cs typeface="Inter"/>
              </a:rPr>
              <a:t>Fabiano Deliberalli</a:t>
            </a:r>
            <a:endParaRPr sz="16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08D20-1EFE-46C1-A376-85C490EF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49240"/>
            <a:ext cx="6583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00" b="0" i="1">
                <a:solidFill>
                  <a:srgbClr val="C99A64"/>
                </a:solidFill>
                <a:latin typeface="EB Garamond"/>
                <a:cs typeface="EB Garamond"/>
              </a:rPr>
              <a:t>Da compreensão acumulada à mudança vivida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451285656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286000"/>
            <a:ext cx="2436876" cy="24688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3534156" y="2286000"/>
            <a:ext cx="2436876" cy="24688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6227064" y="2286000"/>
            <a:ext cx="2436876" cy="24688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8919972" y="2286000"/>
            <a:ext cx="2436876" cy="24688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1115568" y="2514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01</a:t>
            </a:r>
            <a:endParaRPr sz="1300"/>
          </a:p>
        </p:txBody>
      </p:sp>
      <p:sp xmlns:a="http://schemas.openxmlformats.org/drawingml/2006/main">
        <p:nvSpPr>
          <p:cNvPr id="16" name="Chevron 15"/>
          <p:cNvSpPr/>
          <p:nvPr/>
        </p:nvSpPr>
        <p:spPr>
          <a:xfrm>
            <a:off x="3351276" y="3611880"/>
            <a:ext cx="109728" cy="237744"/>
          </a:xfrm>
          <a:prstGeom prst="chevron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3808476" y="2514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02</a:t>
            </a:r>
            <a:endParaRPr sz="1300"/>
          </a:p>
        </p:txBody>
      </p:sp>
      <p:sp xmlns:a="http://schemas.openxmlformats.org/drawingml/2006/main">
        <p:nvSpPr>
          <p:cNvPr id="18" name="Chevron 17"/>
          <p:cNvSpPr/>
          <p:nvPr/>
        </p:nvSpPr>
        <p:spPr>
          <a:xfrm>
            <a:off x="6044184" y="3611880"/>
            <a:ext cx="109728" cy="237744"/>
          </a:xfrm>
          <a:prstGeom prst="chevron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6501384" y="2514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03</a:t>
            </a:r>
            <a:endParaRPr sz="1300"/>
          </a:p>
        </p:txBody>
      </p:sp>
      <p:sp xmlns:a="http://schemas.openxmlformats.org/drawingml/2006/main">
        <p:nvSpPr>
          <p:cNvPr id="20" name="Chevron 19"/>
          <p:cNvSpPr/>
          <p:nvPr/>
        </p:nvSpPr>
        <p:spPr>
          <a:xfrm>
            <a:off x="8737092" y="3611880"/>
            <a:ext cx="109728" cy="237744"/>
          </a:xfrm>
          <a:prstGeom prst="chevron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9194292" y="2514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04</a:t>
            </a:r>
            <a:endParaRPr sz="1300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841248" y="5029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200">
                <a:solidFill>
                  <a:srgbClr val="5A6B74"/>
                </a:solidFill>
                <a:latin typeface="Inter"/>
                <a:cs typeface="Inter"/>
              </a:rPr>
              <a:t>SITUAÇÃO FICTÍCIA</a:t>
            </a:r>
            <a:endParaRPr sz="1200"/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0A61-31A9-46E2-BDDA-1445389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1360B-411F-4B85-AED2-4AB2CF48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A agenda cheia e mais um pedido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87853-761C-4163-9792-1593D787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926080"/>
            <a:ext cx="1933956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Um pedido chega.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17D4E-A8A9-4A0F-9E33-1AE228EE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476" y="2926080"/>
            <a:ext cx="1933956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Um aperto é percebido.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68F9F-0E03-4D49-9F48-6B342EEE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926080"/>
            <a:ext cx="1933956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O “sim” vem rapidamente.</a:t>
            </a:r>
            <a:endParaRPr sz="3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6547-9347-4596-8F8E-CC88E14F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292" y="2926080"/>
            <a:ext cx="1933956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A agenda já estava cheia.</a:t>
            </a:r>
            <a:endParaRPr sz="30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0B3D6-0111-4790-B4D7-227CDD1D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02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8687809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0" name="Rounded Rectangle 9"/>
          <p:cNvSpPr/>
          <p:nvPr/>
        </p:nvSpPr>
        <p:spPr>
          <a:xfrm>
            <a:off x="841248" y="2377440"/>
            <a:ext cx="3334512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4431792" y="2377440"/>
            <a:ext cx="3334512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022336" y="2377440"/>
            <a:ext cx="3334512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 xmlns:a="http://schemas.openxmlformats.org/drawingml/2006/main">
        <p:nvCxnSpPr>
          <p:cNvPr id="13" name="Connector 12"/>
          <p:cNvCxnSpPr/>
          <p:nvPr/>
        </p:nvCxnSpPr>
        <p:spPr>
          <a:xfrm>
            <a:off x="1252728" y="2377440"/>
            <a:ext cx="7181088" cy="0"/>
          </a:xfrm>
          <a:prstGeom prst="line">
            <a:avLst/>
          </a:prstGeom>
          <a:ln w="12700">
            <a:solidFill>
              <a:srgbClr val="C99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14" name="Oval 13"/>
          <p:cNvSpPr/>
          <p:nvPr/>
        </p:nvSpPr>
        <p:spPr>
          <a:xfrm>
            <a:off x="1179576" y="2304288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4770120" y="2304288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360663" y="2304288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E692C-933D-499F-A698-A8C61D1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D88F4-20CE-4CE1-9445-D9607D0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Compreender, acessar e encontrar condições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84FD8-04A0-482E-97CD-2D7395E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74320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compreendo?</a:t>
            </a:r>
            <a:endParaRPr sz="32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985EA-3A4A-4C59-828B-EECBFCE5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274320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fica disponível na situação?</a:t>
            </a:r>
            <a:endParaRPr sz="32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3978D-D2CB-4A20-B969-61A7B42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274320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Quais condições permitem outra participação?</a:t>
            </a:r>
            <a:endParaRPr sz="32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E2F74-D9F9-4B01-BF4F-4919E081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03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3995743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4431792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8022336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1193292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4783836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374380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896112" y="5422392"/>
            <a:ext cx="128016" cy="128016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B4A11-20D6-4F22-8A77-FB69A0E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F010F-D1F2-480E-B1BF-BA171F9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A repetição pode se manter por caminhos diferentes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AD44-E58C-4E92-A6A8-241D5700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Aprendizagens e respostas familiares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73F37-5086-403A-B0EC-D07A267F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Estados corporais e expectativas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A0D3B-A57A-4A32-93F7-DEA416B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Relações e condições concretas</a:t>
            </a:r>
            <a:endParaRPr sz="3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F4A60-C6DA-404A-9C78-DFFDCB9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2578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600" b="0" i="1">
                <a:solidFill>
                  <a:srgbClr val="245E78"/>
                </a:solidFill>
                <a:latin typeface="EB Garamond"/>
                <a:cs typeface="EB Garamond"/>
              </a:rPr>
              <a:t>Mais de um aspecto pode participar.</a:t>
            </a:r>
            <a:endParaRPr sz="26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C2FA9-BE7E-4A5A-92FC-EFBCC1C5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04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43848931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24028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6236208" y="224028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EC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69E45-78F2-4AE7-A9DB-3850DFF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FBBED-EA77-40F6-8EBD-44D2F972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O que percebo e o que compreendo disso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0F69-CF6C-48B1-851A-975D633B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77440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 i="1">
                <a:solidFill>
                  <a:srgbClr val="082A45"/>
                </a:solidFill>
                <a:latin typeface="EB Garamond"/>
                <a:cs typeface="EB Garamond"/>
              </a:rPr>
              <a:t>“Senti um aperto.”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C187-764D-4DCB-B724-4451F3D0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77440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 i="1">
                <a:solidFill>
                  <a:srgbClr val="5A6B74"/>
                </a:solidFill>
                <a:latin typeface="EB Garamond"/>
                <a:cs typeface="EB Garamond"/>
              </a:rPr>
              <a:t>“Imaginei que ele ficaria decepcionado.”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A55C8-B57C-42FD-BB3C-7EE7089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60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percebo? Que leitura estou fazendo?</a:t>
            </a:r>
            <a:endParaRPr sz="32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4C54D-1AF4-4D49-818A-5AA6498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2920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1">
                <a:solidFill>
                  <a:srgbClr val="245E78"/>
                </a:solidFill>
                <a:latin typeface="Inter"/>
                <a:cs typeface="Inter"/>
              </a:rPr>
              <a:t>“Ainda não sei” também tem lugar.</a:t>
            </a:r>
            <a:endParaRPr sz="20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66A2-E90E-4FF4-A589-F56BAE9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05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45513229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cxnSp xmlns:a="http://schemas.openxmlformats.org/drawingml/2006/main">
        <p:nvCxnSpPr>
          <p:cNvPr id="10" name="Connector 9"/>
          <p:cNvCxnSpPr/>
          <p:nvPr/>
        </p:nvCxnSpPr>
        <p:spPr>
          <a:xfrm>
            <a:off x="2011680" y="3246120"/>
            <a:ext cx="8138160" cy="0"/>
          </a:xfrm>
          <a:prstGeom prst="line">
            <a:avLst/>
          </a:prstGeom>
          <a:ln w="22225">
            <a:solidFill>
              <a:srgbClr val="C99A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1" name="Connector 10"/>
          <p:cNvCxnSpPr/>
          <p:nvPr/>
        </p:nvCxnSpPr>
        <p:spPr>
          <a:xfrm flipH="1">
            <a:off x="2011680" y="3886200"/>
            <a:ext cx="8138160" cy="0"/>
          </a:xfrm>
          <a:prstGeom prst="line">
            <a:avLst/>
          </a:prstGeom>
          <a:ln w="22225">
            <a:solidFill>
              <a:srgbClr val="C99A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A4100-839C-4E49-9A1D-FA25447E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1DD52-9FEA-46DC-99A6-BF218665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Uma relação de ida e volta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B9022-AAAB-41AF-A4D3-442ADCD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3160"/>
            <a:ext cx="9418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O vivido pode ampliar o que sei.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C241-991C-48EE-B1AF-80E88FA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9418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O que sei orienta minha atenção.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BD92-AD29-461E-B492-1AD1BC8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2064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1">
                <a:solidFill>
                  <a:srgbClr val="245E78"/>
                </a:solidFill>
                <a:latin typeface="Inter"/>
                <a:cs typeface="Inter"/>
              </a:rPr>
              <a:t>Perceber, comparar, perguntar e rever.</a:t>
            </a:r>
            <a:endParaRPr sz="20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81801-FAC0-434D-830F-455269A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06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49510739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4431792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8022336" y="2286000"/>
            <a:ext cx="3334512" cy="26517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1193292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4783836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374380" y="261061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896112" y="5422392"/>
            <a:ext cx="128016" cy="128016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2DF02-1047-4183-B404-59924D5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7298E-1D5E-40A1-A5D9-67B6E26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Envolver-se e retornar à experiência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7A4BD-FF25-4DA0-8250-531C4E6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Aproximar-se do vivido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83C78-1C53-4FA9-8433-60684A9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Encontrar espaço para refletir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61ED8-3CCC-4A87-81AA-8CA47F58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2926080"/>
            <a:ext cx="2785872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Retornar e rever a primeira compreensão</a:t>
            </a:r>
            <a:endParaRPr sz="3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F3CE4-65A3-4CDB-97FC-1950B4E8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2578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600" b="0" i="1">
                <a:solidFill>
                  <a:srgbClr val="245E78"/>
                </a:solidFill>
                <a:latin typeface="EB Garamond"/>
                <a:cs typeface="EB Garamond"/>
              </a:rPr>
              <a:t>O envolvimento pede espaço.</a:t>
            </a:r>
            <a:endParaRPr sz="26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BFA8F-71EE-40EF-8378-4C247BD1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07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92763101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Oval 13"/>
          <p:cNvSpPr/>
          <p:nvPr/>
        </p:nvSpPr>
        <p:spPr>
          <a:xfrm>
            <a:off x="5481828" y="5058918"/>
            <a:ext cx="100584" cy="10058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Oval 10"/>
          <p:cNvSpPr/>
          <p:nvPr/>
        </p:nvSpPr>
        <p:spPr>
          <a:xfrm>
            <a:off x="5463540" y="1680210"/>
            <a:ext cx="137160" cy="137160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5481828" y="2818638"/>
            <a:ext cx="100584" cy="10058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Oval 12"/>
          <p:cNvSpPr/>
          <p:nvPr/>
        </p:nvSpPr>
        <p:spPr>
          <a:xfrm>
            <a:off x="5481828" y="3938778"/>
            <a:ext cx="100584" cy="10058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 xmlns:a="http://schemas.openxmlformats.org/drawingml/2006/main">
        <p:nvCxnSpPr>
          <p:cNvPr id="15" name="Connector 14"/>
          <p:cNvCxnSpPr/>
          <p:nvPr/>
        </p:nvCxnSpPr>
        <p:spPr>
          <a:xfrm>
            <a:off x="5532120" y="1748790"/>
            <a:ext cx="0" cy="3360420"/>
          </a:xfrm>
          <a:prstGeom prst="line">
            <a:avLst/>
          </a:prstGeom>
          <a:ln w="12700">
            <a:solidFill>
              <a:srgbClr val="C99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9B9DA-9C36-40FE-9D9D-94304049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075E0-B476-4624-B4D1-4C57717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2960"/>
            <a:ext cx="434340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Corpo, relação e cultivo da sensibilidade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A7CF-F43F-406E-B937-89F841B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88720"/>
            <a:ext cx="539496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Corpo e relações participam da experiência.</a:t>
            </a:r>
            <a:endParaRPr sz="23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A934F-3289-412E-8992-902EBE70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8860"/>
            <a:ext cx="539496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Curiosidade, vitalidade e descoberta.</a:t>
            </a:r>
            <a:endParaRPr sz="23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DF4F4-E5EA-430A-B070-41AF9A2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539496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Qi em sua própria tradição e em diálogo.</a:t>
            </a:r>
            <a:endParaRPr sz="23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EA987-F66C-44AE-8DF8-2115065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49140"/>
            <a:ext cx="539496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1">
                <a:solidFill>
                  <a:srgbClr val="245E78"/>
                </a:solidFill>
                <a:latin typeface="Inter"/>
                <a:cs typeface="Inter"/>
              </a:rPr>
              <a:t>Essência: perspectiva espiritual do autor.</a:t>
            </a:r>
            <a:endParaRPr sz="23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7DCFC-0717-41BB-A52A-22B8399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08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3490397"/>
      </p:ext>
    </p:extLst>
  </p:cSld>
  <p:transition spd="med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0" name="Rounded Rectangle 9"/>
          <p:cNvSpPr/>
          <p:nvPr/>
        </p:nvSpPr>
        <p:spPr>
          <a:xfrm>
            <a:off x="841248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4431792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022336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1115568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01</a:t>
            </a:r>
            <a:endParaRPr sz="1300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4706112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02</a:t>
            </a:r>
            <a:endParaRPr sz="1300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8296656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03</a:t>
            </a:r>
            <a:endParaRPr sz="1300"/>
          </a:p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705088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9089136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9473184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9880092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0" name="Oval 19"/>
          <p:cNvSpPr/>
          <p:nvPr/>
        </p:nvSpPr>
        <p:spPr>
          <a:xfrm>
            <a:off x="10264140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10648188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8E4C9-4D2F-43F1-A11A-B2009E45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1420-970C-4BE7-96C9-EBA4703C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82A45"/>
                </a:solidFill>
                <a:latin typeface="EB Garamond"/>
                <a:cs typeface="EB Garamond"/>
              </a:rPr>
              <a:t>Seis movimentos • aproximar, diferenciar, expressar</a:t>
            </a:r>
            <a:endParaRPr sz="38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FE30A-261F-4AEC-AE9D-8BCBBEA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Aproximar-se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O que percebo agora?</a:t>
            </a:r>
            <a:endParaRPr sz="21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8E683-CE81-4398-8BBE-F98CEA4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Diferenciar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Onde e como percebo?</a:t>
            </a:r>
            <a:endParaRPr sz="21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91B6E-6DC7-444D-9B38-3CF2A00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Expressar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Que palavra, imagem ou gesto ajuda?</a:t>
            </a:r>
            <a:endParaRPr sz="2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60E5-EBDD-4768-8CFF-1EE38F5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09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58295552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0" name="Rounded Rectangle 9"/>
          <p:cNvSpPr/>
          <p:nvPr/>
        </p:nvSpPr>
        <p:spPr>
          <a:xfrm>
            <a:off x="841248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4431792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022336" y="2240280"/>
            <a:ext cx="3334512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1115568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04</a:t>
            </a:r>
            <a:endParaRPr sz="1300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4706112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05</a:t>
            </a:r>
            <a:endParaRPr sz="1300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8296656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06</a:t>
            </a:r>
            <a:endParaRPr sz="1300"/>
          </a:p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727948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9111996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9496044" y="6332220"/>
            <a:ext cx="100584" cy="100584"/>
          </a:xfrm>
          <a:prstGeom prst="ellipse">
            <a:avLst/>
          </a:prstGeom>
          <a:noFill/>
          <a:ln w="9525">
            <a:solidFill>
              <a:srgbClr val="5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9857232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0" name="Oval 19"/>
          <p:cNvSpPr/>
          <p:nvPr/>
        </p:nvSpPr>
        <p:spPr>
          <a:xfrm>
            <a:off x="10241280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10625328" y="6309360"/>
            <a:ext cx="146304" cy="146304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6DF95-2CB1-4D6B-A7C8-AF345F4E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857A7-E2B7-4CD2-B520-4147647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82A45"/>
                </a:solidFill>
                <a:latin typeface="EB Garamond"/>
                <a:cs typeface="EB Garamond"/>
              </a:rPr>
              <a:t>Seis movimentos • traduzir, rever, participar</a:t>
            </a:r>
            <a:endParaRPr sz="38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EA0C1-854F-4784-956E-6516341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Traduzir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Que leitura ajuda a acompanhar?</a:t>
            </a:r>
            <a:endParaRPr sz="21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8FB51-1237-45E6-B5D4-48954154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Rever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O que está claro? Onde há dúvidas?</a:t>
            </a:r>
            <a:endParaRPr sz="21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570F1-55C3-4B8C-B7AF-5E37B007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2834640"/>
            <a:ext cx="2785872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82A45"/>
                </a:solidFill>
                <a:latin typeface="EB Garamond"/>
                <a:cs typeface="EB Garamond"/>
              </a:rPr>
              <a:t>Participar</a:t>
            </a:r>
            <a:endParaRPr sz="2100"/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O que muda quando me relaciono de outra maneira?</a:t>
            </a:r>
            <a:endParaRPr sz="2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3759-3421-44E3-A698-7637FCC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10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1319119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057400"/>
            <a:ext cx="10515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234440" y="23682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spc="0">
                <a:solidFill>
                  <a:srgbClr val="C99A64"/>
                </a:solidFill>
                <a:latin typeface="EB Garamond"/>
                <a:cs typeface="EB Garamond"/>
              </a:rPr>
              <a:t>1</a:t>
            </a:r>
            <a:endParaRPr sz="2800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645920" y="3319272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645920" y="3703320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355080" y="23682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spc="0">
                <a:solidFill>
                  <a:srgbClr val="C99A64"/>
                </a:solidFill>
                <a:latin typeface="EB Garamond"/>
                <a:cs typeface="EB Garamond"/>
              </a:rPr>
              <a:t>2</a:t>
            </a:r>
            <a:endParaRPr sz="2800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766560" y="3319272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766560" y="3703320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234440" y="41056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spc="0">
                <a:solidFill>
                  <a:srgbClr val="C99A64"/>
                </a:solidFill>
                <a:latin typeface="EB Garamond"/>
                <a:cs typeface="EB Garamond"/>
              </a:rPr>
              <a:t>3</a:t>
            </a:r>
            <a:endParaRPr sz="2800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645920" y="5056632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645920" y="5440680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6355080" y="41056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spc="0">
                <a:solidFill>
                  <a:srgbClr val="C99A64"/>
                </a:solidFill>
                <a:latin typeface="EB Garamond"/>
                <a:cs typeface="EB Garamond"/>
              </a:rPr>
              <a:t>4</a:t>
            </a:r>
            <a:endParaRPr sz="2800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6766560" y="5056632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6766560" y="5440680"/>
            <a:ext cx="420624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8FEC-F212-4FE5-8113-06F7395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6D57-A7CE-4618-B6E5-23317C6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Um registro breve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372C2-3CB1-44B9-91F2-81BB5D23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33172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82A45"/>
                </a:solidFill>
                <a:latin typeface="EB Garamond"/>
                <a:cs typeface="EB Garamond"/>
              </a:rPr>
              <a:t>O que percebi</a:t>
            </a:r>
            <a:endParaRPr sz="27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97D52-03D1-4896-B707-D1784DED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82A45"/>
                </a:solidFill>
                <a:latin typeface="EB Garamond"/>
                <a:cs typeface="EB Garamond"/>
              </a:rPr>
              <a:t>Como procurei expressar</a:t>
            </a:r>
            <a:endParaRPr sz="27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A4D23-EBC0-427E-9684-6FF842B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06908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82A45"/>
                </a:solidFill>
                <a:latin typeface="EB Garamond"/>
                <a:cs typeface="EB Garamond"/>
              </a:rPr>
              <a:t>O que mudou ao retornar</a:t>
            </a:r>
            <a:endParaRPr sz="27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62FCD-FF64-40BF-B558-4E583FC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06908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82A45"/>
                </a:solidFill>
                <a:latin typeface="EB Garamond"/>
                <a:cs typeface="EB Garamond"/>
              </a:rPr>
              <a:t>O que quero continuar observando</a:t>
            </a:r>
            <a:endParaRPr sz="27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1985-7722-4626-AE6C-F1CE10B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11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25057570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14884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41248" y="4206240"/>
            <a:ext cx="10515600" cy="1691640"/>
          </a:xfrm>
          <a:prstGeom prst="roundRect">
            <a:avLst>
              <a:gd name="adj" fmla="val 4000"/>
            </a:avLst>
          </a:prstGeom>
          <a:solidFill>
            <a:srgbClr val="0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167AC-780F-4966-A84A-27771C8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245E78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CEEB8-21FA-42F5-B5B4-D910357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O que esse registro pode abrir</a:t>
            </a:r>
            <a:endParaRPr sz="40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C490D-221F-4EA6-A39E-6B444F2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96926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Perceber depois. Reconhecer um pouco antes.</a:t>
            </a:r>
            <a:endParaRPr sz="3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E29C-77CC-4BDE-A078-08A48AC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17520"/>
            <a:ext cx="96926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Perguntar. Experimentar. Reparar.</a:t>
            </a:r>
            <a:endParaRPr sz="30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1791D-6104-4406-A038-4915E3BF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43400"/>
            <a:ext cx="484632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 i="1">
                <a:solidFill>
                  <a:srgbClr val="F4EFEA"/>
                </a:solidFill>
                <a:latin typeface="EB Garamond"/>
                <a:cs typeface="EB Garamond"/>
              </a:rPr>
              <a:t>O que se torna possível?</a:t>
            </a:r>
            <a:endParaRPr sz="34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1BEE2-8B5D-43D7-9602-EC7EB89B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43400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 i="1">
                <a:solidFill>
                  <a:srgbClr val="C99A64"/>
                </a:solidFill>
                <a:latin typeface="EB Garamond"/>
                <a:cs typeface="EB Garamond"/>
              </a:rPr>
              <a:t>Em quais condições?</a:t>
            </a:r>
            <a:endParaRPr sz="34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68ABF-5871-42E2-BDCD-C43E62B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M1.1  •  12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00841153"/>
      </p:ext>
    </p:extLst>
  </p:cSld>
  <p:transition spd="med">
    <p:fade/>
  </p:transition>
</p:sld>
</file>

<file path=ppt/slides/slide13.xml><?xml version="1.0" encoding="utf-8"?>
<p:sld xmlns:p="http://schemas.openxmlformats.org/presentationml/2006/main">
  <p:cSld>
    <p:bg xmlns:a="http://schemas.openxmlformats.org/drawingml/2006/main">
      <p:bgPr>
        <a:gradFill rotWithShape="1">
          <a:gsLst>
            <a:gs pos="0">
              <a:srgbClr val="245E78"/>
            </a:gs>
            <a:gs pos="45000">
              <a:srgbClr val="173F52"/>
            </a:gs>
            <a:gs pos="100000">
              <a:srgbClr val="082A4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0" name="Picture 9" descr="sym_gol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7818120" y="777240"/>
            <a:ext cx="4832364" cy="5303520"/>
          </a:xfrm>
          <a:prstGeom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5A630-E2DA-4382-9705-2B5AD78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200" b="1" spc="220">
                <a:solidFill>
                  <a:srgbClr val="C99A64"/>
                </a:solidFill>
                <a:latin typeface="Inter"/>
                <a:cs typeface="Inter"/>
              </a:rPr>
              <a:t>TRADUZINDO O SER HUMANO</a:t>
            </a:r>
            <a:endParaRPr sz="1200"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833A1-AC89-4F7E-A989-90DBD14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77240"/>
            <a:ext cx="6949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 wrap="square">
            <a:noAutofit/>
          </a:bodyPr>
          <a:lstStyle xmlns:a="http://schemas.openxmlformats.org/drawingml/2006/main">
            <a:def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defRPr sz="2850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5200" b="0">
                <a:solidFill>
                  <a:srgbClr val="FFFFFF"/>
                </a:solidFill>
                <a:latin typeface="EB Garamond"/>
                <a:cs typeface="EB Garamond"/>
              </a:rPr>
              <a:t>Saber, acessar e sustentar</a:t>
            </a:r>
            <a:endParaRPr sz="5200"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100D-88A8-4A9F-82ED-9C6EEED2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67665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E9E2D8"/>
                </a:solidFill>
                <a:latin typeface="Inter"/>
                <a:cs typeface="Inter"/>
              </a:rPr>
              <a:t>A compreensão participa de uma vida concreta.</a:t>
            </a:r>
            <a:endParaRPr sz="21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755ED-D071-4203-9268-81BB463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80360"/>
            <a:ext cx="67665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E9E2D8"/>
                </a:solidFill>
                <a:latin typeface="Inter"/>
                <a:cs typeface="Inter"/>
              </a:rPr>
              <a:t>Aprendizagens, relações, recursos e apoios.</a:t>
            </a:r>
            <a:endParaRPr sz="2100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40B3-622F-4957-A312-DC3A8B5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400" b="1" spc="250">
                <a:solidFill>
                  <a:srgbClr val="C99A64"/>
                </a:solidFill>
                <a:latin typeface="Inter"/>
                <a:cs typeface="Inter"/>
              </a:rPr>
              <a:t>PRÓXIMA AULA:</a:t>
            </a:r>
            <a:endParaRPr sz="14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6D74A-DB01-444C-B31F-88458009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51960"/>
            <a:ext cx="6766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75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 i="1">
                <a:solidFill>
                  <a:srgbClr val="F4EFEA"/>
                </a:solidFill>
                <a:latin typeface="EB Garamond"/>
                <a:cs typeface="EB Garamond"/>
              </a:rPr>
              <a:t>Saber, acessar e sustentar não são a mesma coisa.</a:t>
            </a:r>
            <a:endParaRPr sz="3400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C6858-1F4B-4CC7-8982-073AC9B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>
            <a:noAutofit/>
          </a:bodyPr>
          <a:lstStyle xmlns:a="http://schemas.openxmlformats.org/drawingml/2006/main">
            <a:def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defPPr>
            <a:lvl1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1pPr>
            <a:lvl2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2pPr>
            <a:lvl3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3pPr>
            <a:lvl4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4pPr>
            <a:lvl5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5pPr>
            <a:lvl6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6pPr>
            <a:lvl7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7pPr>
            <a:lvl8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8pPr>
            <a:lvl9pPr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45E78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8FA0AC"/>
                </a:solidFill>
                <a:latin typeface="Inter"/>
                <a:cs typeface="Inter"/>
              </a:rPr>
              <a:t>M1.1  •  13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48190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2026-11-01T05:23:44.1460000Z</dcterms:created>
  <dcterms:modified xsi:type="dcterms:W3CDTF">2026-11-01T05:23:44.1470000Z</dcterms:modified>
</coreProperties>
</file>